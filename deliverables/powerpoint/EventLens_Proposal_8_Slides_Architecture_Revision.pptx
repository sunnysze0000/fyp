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cfc4f048e14860" /><Relationship Type="http://schemas.openxmlformats.org/officeDocument/2006/relationships/extended-properties" Target="/docProps/app.xml" Id="Rf3aed8b67d5640ad" /><Relationship Type="http://schemas.openxmlformats.org/officeDocument/2006/relationships/officeDocument" Target="/ppt/presentation.xml" Id="R03b932ce02e8463b" /></Relationships>
</file>

<file path=ppt/presentation.xml><?xml version="1.0" encoding="utf-8"?>
<p:presentation xmlns:p="http://schemas.openxmlformats.org/presentationml/2006/main">
  <p:sldMasterIdLst>
    <p:sldMasterId xmlns:r="http://schemas.openxmlformats.org/officeDocument/2006/relationships" id="2147483648" r:id="R863f02b6c0b64504"/>
  </p:sldMasterIdLst>
  <p:notesMasterIdLst>
    <p:notesMasterId xmlns:r="http://schemas.openxmlformats.org/officeDocument/2006/relationships" r:id="R59c028bdc13a4579"/>
  </p:notesMasterIdLst>
  <p:sldIdLst>
    <p:sldId xmlns:r="http://schemas.openxmlformats.org/officeDocument/2006/relationships" id="256" r:id="Rfd42ac6b13fb4707"/>
    <p:sldId xmlns:r="http://schemas.openxmlformats.org/officeDocument/2006/relationships" id="257" r:id="Ra598795b7cb14e77"/>
    <p:sldId xmlns:r="http://schemas.openxmlformats.org/officeDocument/2006/relationships" id="258" r:id="R64a5ddcfda144761"/>
    <p:sldId xmlns:r="http://schemas.openxmlformats.org/officeDocument/2006/relationships" id="259" r:id="R99b30253434443bf"/>
    <p:sldId xmlns:r="http://schemas.openxmlformats.org/officeDocument/2006/relationships" id="260" r:id="R3e8b9ed15a14467e"/>
    <p:sldId xmlns:r="http://schemas.openxmlformats.org/officeDocument/2006/relationships" id="261" r:id="R405f4d0155824125"/>
    <p:sldId xmlns:r="http://schemas.openxmlformats.org/officeDocument/2006/relationships" id="262" r:id="Rbb282fa4399d4c50"/>
    <p:sldId xmlns:r="http://schemas.openxmlformats.org/officeDocument/2006/relationships" id="263" r:id="Ra24e096e1e6f41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1d75192c77493c" /><Relationship Type="http://schemas.openxmlformats.org/officeDocument/2006/relationships/slideMaster" Target="/ppt/slideMasters/slideMaster1.xml" Id="R863f02b6c0b64504" /><Relationship Type="http://schemas.openxmlformats.org/officeDocument/2006/relationships/notesMaster" Target="/ppt/notesMasters/notesMaster1.xml" Id="R59c028bdc13a4579" /><Relationship Type="http://schemas.openxmlformats.org/officeDocument/2006/relationships/presProps" Target="/ppt/presProps.xml" Id="Rde4ae12edf6a4e17" /><Relationship Type="http://schemas.openxmlformats.org/officeDocument/2006/relationships/tableStyles" Target="/ppt/tableStyles.xml" Id="R745ffc67ca1646a6" /><Relationship Type="http://schemas.openxmlformats.org/officeDocument/2006/relationships/slide" Target="/ppt/slides/slide1.xml" Id="Rfd42ac6b13fb4707" /><Relationship Type="http://schemas.openxmlformats.org/officeDocument/2006/relationships/slide" Target="/ppt/slides/slide2.xml" Id="Ra598795b7cb14e77" /><Relationship Type="http://schemas.openxmlformats.org/officeDocument/2006/relationships/slide" Target="/ppt/slides/slide3.xml" Id="R64a5ddcfda144761" /><Relationship Type="http://schemas.openxmlformats.org/officeDocument/2006/relationships/slide" Target="/ppt/slides/slide4.xml" Id="R99b30253434443bf" /><Relationship Type="http://schemas.openxmlformats.org/officeDocument/2006/relationships/slide" Target="/ppt/slides/slide5.xml" Id="R3e8b9ed15a14467e" /><Relationship Type="http://schemas.openxmlformats.org/officeDocument/2006/relationships/slide" Target="/ppt/slides/slide6.xml" Id="R405f4d0155824125" /><Relationship Type="http://schemas.openxmlformats.org/officeDocument/2006/relationships/slide" Target="/ppt/slides/slide7.xml" Id="Rbb282fa4399d4c50" /><Relationship Type="http://schemas.openxmlformats.org/officeDocument/2006/relationships/slide" Target="/ppt/slides/slide8.xml" Id="Ra24e096e1e6f41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b52f4f1d4a40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74e6ad7f294036" /><Relationship Type="http://schemas.openxmlformats.org/officeDocument/2006/relationships/notesMaster" Target="/ppt/notesMasters/notesMaster1.xml" Id="R114384cfc4c64f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b05145fe724fa2" /><Relationship Type="http://schemas.openxmlformats.org/officeDocument/2006/relationships/notesMaster" Target="/ppt/notesMasters/notesMaster1.xml" Id="R11cd3a11638a48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95184b5bc74ab1" /><Relationship Type="http://schemas.openxmlformats.org/officeDocument/2006/relationships/notesMaster" Target="/ppt/notesMasters/notesMaster1.xml" Id="R306c8ca2ecc945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31d77a63414f5d" /><Relationship Type="http://schemas.openxmlformats.org/officeDocument/2006/relationships/notesMaster" Target="/ppt/notesMasters/notesMaster1.xml" Id="Rf519294258a84c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a3a34b52104fee" /><Relationship Type="http://schemas.openxmlformats.org/officeDocument/2006/relationships/notesMaster" Target="/ppt/notesMasters/notesMaster1.xml" Id="Rf46c83a57ec043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925789f744cf4" /><Relationship Type="http://schemas.openxmlformats.org/officeDocument/2006/relationships/notesMaster" Target="/ppt/notesMasters/notesMaster1.xml" Id="R5326d7d3cfb644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e51e61f44d4d61" /><Relationship Type="http://schemas.openxmlformats.org/officeDocument/2006/relationships/notesMaster" Target="/ppt/notesMasters/notesMaster1.xml" Id="Re63fb02cba2d48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7e8e94bd4d4fae" /><Relationship Type="http://schemas.openxmlformats.org/officeDocument/2006/relationships/notesMaster" Target="/ppt/notesMasters/notesMaster1.xml" Id="R5114bc3d3c8741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EventLens asks one focused research question: can prediction-market information improve the way we study risk around scheduled events? The project combines Polymarket prices, public wallet activity and conventional asset data. The goal is a reproducible research system, not a trading recommendation engine. Source: proposal abstract and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matters. Event risk often enters financial analysis indirectly. Prediction markets offer an explicit probability, while blockchain settlement records let us study whether some participants have persistent informational value. The cited concentration figures motivate the wallet analysis, but they do not prove predictability. EventLens must test that claim out of sample. Source: proposal Sections 1.1 and 1.3, citing Akey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End-to-end flow. Polymarket provides event definitions and market probabilities. Polygon and Goldsky provide wallet-level activity, while financial feeds provide ETF returns and the Federal Reserve provides announcement timing. The evidence layer normalises and freezes these records at each historical cut-off. Wallet scores feed the probability model. Reviewed event-to-asset mappings then connect those probabilities to volatility forecasts and portfolio scenarios. Source: proposal Sections 2.1 and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discipline. The MVP prioritises data feasibility and a valid experiment. It starts with Polymarket on Polygon, Federal Reserve decisions and index-tracking assets. The horizons match the proposal. Extensions only proceed if historical coverage and model stability support them. This prevents the team from broadening the sample informally after seeing early results. Source: proposal Section 1.2 and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Wallet method. A smart-wallet label remains provisional and dated. Repeated fills become one wallet-event decision. The first eligibility rule requires at least ten earlier resolved events across three announcement dates, with sensitivity checks at five and twenty. If history is insufficient, the wallet signal is unavailable. Raw and adjusted probabilities stay visible separately so we can measure the wallet contribution. Source: proposal Section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 test. The forecast target is realised variance from daily returns. The baseline uses recent variation only. The augmented model keeps the same regression and adds the raw probability plus the wallet adjustment. That design isolates whether prediction-market features add value. A separate scenario engine combines conditional YES and NO return distributions to calculate hypothetical portfolio risk. Source: proposal Section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AI. The architecture makes the numerical boundary explicit. Research services calculate probabilities and risk metrics. The assistant can retrieve evidence, request a validated run and explain saved outputs, but it cannot invent a number or alter model eligibility. Each answer refers back to run IDs and evidence IDs. Source: proposal Sections 2.1 and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journey. A user selects an asset or paper portfolio, chooses a horizon and reviews relevant events. The overview compares raw and adjusted probabilities and links to wallet evidence. The scenario view shows hypothetical risk metrics with assumptions. These are concept screens from the proposal, so every displayed value remains illustrative. Source: proposal Section 2.1 and Figures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cb75ddfb0642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3c05427a1b431e" /><Relationship Type="http://schemas.openxmlformats.org/officeDocument/2006/relationships/slideLayout" Target="/ppt/slideLayouts/slideLayout1.xml" Id="R638c03edc3d442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c03edc3d442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39e1dbe14d4a5a" /><Relationship Type="http://schemas.openxmlformats.org/officeDocument/2006/relationships/notesSlide" Target="/ppt/notesSlides/notesSlide1.xml" Id="R6792ee8d71e24f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7ccf011601406e" /><Relationship Type="http://schemas.openxmlformats.org/officeDocument/2006/relationships/notesSlide" Target="/ppt/notesSlides/notesSlide2.xml" Id="R3b66b7aad79144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edd554ced54ba2" /><Relationship Type="http://schemas.openxmlformats.org/officeDocument/2006/relationships/notesSlide" Target="/ppt/notesSlides/notesSlide3.xml" Id="R85b8ac97945f42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96c3f418a34503" /><Relationship Type="http://schemas.openxmlformats.org/officeDocument/2006/relationships/notesSlide" Target="/ppt/notesSlides/notesSlide4.xml" Id="R804e6e17ff2643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a47c4855db4d01" /><Relationship Type="http://schemas.openxmlformats.org/officeDocument/2006/relationships/notesSlide" Target="/ppt/notesSlides/notesSlide5.xml" Id="Rc20593adc8904f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efafc3ead14d82" /><Relationship Type="http://schemas.openxmlformats.org/officeDocument/2006/relationships/notesSlide" Target="/ppt/notesSlides/notesSlide6.xml" Id="Rff226755a54144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f18b6835c14a86" /><Relationship Type="http://schemas.openxmlformats.org/officeDocument/2006/relationships/notesSlide" Target="/ppt/notesSlides/notesSlide7.xml" Id="R364c90b2598345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6f89e9062842e0" /><Relationship Type="http://schemas.openxmlformats.org/officeDocument/2006/relationships/image" Target="/ppt/media/image.png" Id="R1b331ab7a7054999" /><Relationship Type="http://schemas.openxmlformats.org/officeDocument/2006/relationships/image" Target="/ppt/media/image2.png" Id="R161ed9377f8a43d1" /><Relationship Type="http://schemas.openxmlformats.org/officeDocument/2006/relationships/notesSlide" Target="/ppt/notesSlides/notesSlide8.xml" Id="Rd4be4d05994945b5" /></Relationships>
</file>

<file path=ppt/slides/slide1.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A55F53B-8B13-4422-AB80-837A6DD55236}"/>
              </a:ext>
            </a:extLst>
          </p:cNvPr>
          <p:cNvSpPr>
            <a:spLocks xmlns:a="http://schemas.openxmlformats.org/drawingml/2006/main" noGrp="1"/>
          </p:cNvSpPr>
          <p:nvPr/>
        </p:nvSpPr>
        <p:spPr>
          <a:xfrm xmlns:a="http://schemas.openxmlformats.org/drawingml/2006/main">
            <a:off x="60960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A33D2E"/>
                </a:solidFill>
                <a:latin typeface="Arial"/>
                <a:ea typeface="Arial"/>
                <a:cs typeface="Arial"/>
              </a:defRPr>
            </a:pPr>
            <a:r>
              <a:rPr sz="1050" b="1" i="0">
                <a:solidFill>
                  <a:srgbClr val="A33D2E"/>
                </a:solidFill>
                <a:latin typeface="Arial"/>
                <a:ea typeface="Arial"/>
                <a:cs typeface="Arial"/>
              </a:rPr>
              <a:t>HKUST COMP 4981</a:t>
            </a:r>
          </a:p>
        </p:txBody>
      </p:sp>
      <p:sp>
        <p:nvSpPr>
          <p:cNvPr id="2" name="">
            <a:extLst xmlns:a="http://schemas.openxmlformats.org/drawingml/2006/main">
              <a:ext uri="{FF2B5EF4-FFF2-40B4-BE49-F238E27FC236}">
                <a16:creationId xmlns:a16="http://schemas.microsoft.com/office/drawing/2014/main" id="{DA0411D4-FEFB-4C1A-A0BF-B6CCA1660BBB}"/>
              </a:ext>
            </a:extLst>
          </p:cNvPr>
          <p:cNvSpPr>
            <a:spLocks xmlns:a="http://schemas.openxmlformats.org/drawingml/2006/main" noGrp="1"/>
          </p:cNvSpPr>
          <p:nvPr/>
        </p:nvSpPr>
        <p:spPr>
          <a:xfrm xmlns:a="http://schemas.openxmlformats.org/drawingml/2006/main">
            <a:off x="609600" y="1047750"/>
            <a:ext cx="8096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148"/>
          </a:bodyPr>
          <a:lstStyle xmlns:a="http://schemas.openxmlformats.org/drawingml/2006/main"/>
          <a:p xmlns:a="http://schemas.openxmlformats.org/drawingml/2006/main">
            <a:pPr algn="l">
              <a:defRPr sz="6750" b="1" i="0">
                <a:solidFill>
                  <a:srgbClr val="1A1A1A"/>
                </a:solidFill>
                <a:latin typeface="Arial"/>
                <a:ea typeface="Arial"/>
                <a:cs typeface="Arial"/>
              </a:defRPr>
            </a:pPr>
            <a:r>
              <a:rPr sz="6750" b="1" i="0">
                <a:solidFill>
                  <a:srgbClr val="1A1A1A"/>
                </a:solidFill>
                <a:latin typeface="Arial"/>
                <a:ea typeface="Arial"/>
                <a:cs typeface="Arial"/>
              </a:rPr>
              <a:t>EventLens</a:t>
            </a:r>
          </a:p>
        </p:txBody>
      </p:sp>
      <p:sp>
        <p:nvSpPr>
          <p:cNvPr id="3" name="">
            <a:extLst xmlns:a="http://schemas.openxmlformats.org/drawingml/2006/main">
              <a:ext uri="{FF2B5EF4-FFF2-40B4-BE49-F238E27FC236}">
                <a16:creationId xmlns:a16="http://schemas.microsoft.com/office/drawing/2014/main" id="{F6AC73DA-02A4-4247-80FE-B8A157BB030F}"/>
              </a:ext>
            </a:extLst>
          </p:cNvPr>
          <p:cNvSpPr>
            <a:spLocks xmlns:a="http://schemas.openxmlformats.org/drawingml/2006/main" noGrp="1"/>
          </p:cNvSpPr>
          <p:nvPr/>
        </p:nvSpPr>
        <p:spPr>
          <a:xfrm xmlns:a="http://schemas.openxmlformats.org/drawingml/2006/main">
            <a:off x="647700" y="21050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i="0">
                <a:solidFill>
                  <a:srgbClr val="A33D2E"/>
                </a:solidFill>
                <a:latin typeface="Arial"/>
                <a:ea typeface="Arial"/>
                <a:cs typeface="Arial"/>
              </a:defRPr>
            </a:pPr>
            <a:r>
              <a:rPr sz="2775" b="1" i="0">
                <a:solidFill>
                  <a:srgbClr val="A33D2E"/>
                </a:solidFill>
                <a:latin typeface="Arial"/>
                <a:ea typeface="Arial"/>
                <a:cs typeface="Arial"/>
              </a:rPr>
              <a:t>Event risk research for indices and equities</a:t>
            </a:r>
          </a:p>
        </p:txBody>
      </p:sp>
      <p:sp>
        <p:nvSpPr>
          <p:cNvPr id="4" name="">
            <a:extLst xmlns:a="http://schemas.openxmlformats.org/drawingml/2006/main">
              <a:ext uri="{FF2B5EF4-FFF2-40B4-BE49-F238E27FC236}">
                <a16:creationId xmlns:a16="http://schemas.microsoft.com/office/drawing/2014/main" id="{57665771-508A-4794-83EE-36F973D4CB01}"/>
              </a:ext>
            </a:extLst>
          </p:cNvPr>
          <p:cNvSpPr>
            <a:spLocks xmlns:a="http://schemas.openxmlformats.org/drawingml/2006/main" noGrp="1"/>
          </p:cNvSpPr>
          <p:nvPr/>
        </p:nvSpPr>
        <p:spPr>
          <a:xfrm xmlns:a="http://schemas.openxmlformats.org/drawingml/2006/main">
            <a:off x="647700" y="2800350"/>
            <a:ext cx="733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i="0">
                <a:solidFill>
                  <a:srgbClr val="555555"/>
                </a:solidFill>
                <a:latin typeface="Arial"/>
                <a:ea typeface="Arial"/>
                <a:cs typeface="Arial"/>
              </a:defRPr>
            </a:pPr>
            <a:r>
              <a:rPr sz="1725" b="0" i="0">
                <a:solidFill>
                  <a:srgbClr val="555555"/>
                </a:solidFill>
                <a:latin typeface="Arial"/>
                <a:ea typeface="Arial"/>
                <a:cs typeface="Arial"/>
              </a:rPr>
              <a:t>Testing whether prediction-market activity can improve event-driven volatility analysis.</a:t>
            </a:r>
          </a:p>
        </p:txBody>
      </p:sp>
      <p:sp>
        <p:nvSpPr>
          <p:cNvPr id="5" name="">
            <a:extLst xmlns:a="http://schemas.openxmlformats.org/drawingml/2006/main">
              <a:ext uri="{FF2B5EF4-FFF2-40B4-BE49-F238E27FC236}">
                <a16:creationId xmlns:a16="http://schemas.microsoft.com/office/drawing/2014/main" id="{49C6170D-E71D-48A4-BE38-88CF345FB49A}"/>
              </a:ext>
            </a:extLst>
          </p:cNvPr>
          <p:cNvSpPr>
            <a:spLocks xmlns:a="http://schemas.openxmlformats.org/drawingml/2006/main" noGrp="1"/>
          </p:cNvSpPr>
          <p:nvPr/>
        </p:nvSpPr>
        <p:spPr>
          <a:xfrm xmlns:a="http://schemas.openxmlformats.org/drawingml/2006/main">
            <a:off x="8858250" y="609600"/>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Cheung Hau Yin Franklin</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Hou Anthony Tian Rui</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Liu Ngai Chiu</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Sze Wang Cheong</a:t>
            </a:r>
          </a:p>
        </p:txBody>
      </p:sp>
      <p:sp>
        <p:nvSpPr>
          <p:cNvPr id="6" name="">
            <a:extLst xmlns:a="http://schemas.openxmlformats.org/drawingml/2006/main">
              <a:ext uri="{FF2B5EF4-FFF2-40B4-BE49-F238E27FC236}">
                <a16:creationId xmlns:a16="http://schemas.microsoft.com/office/drawing/2014/main" id="{5B1C9616-7401-416F-84B2-B5B20CE71541}"/>
              </a:ext>
            </a:extLst>
          </p:cNvPr>
          <p:cNvSpPr>
            <a:spLocks xmlns:a="http://schemas.openxmlformats.org/drawingml/2006/main" noGrp="1"/>
          </p:cNvSpPr>
          <p:nvPr/>
        </p:nvSpPr>
        <p:spPr>
          <a:xfrm xmlns:a="http://schemas.openxmlformats.org/drawingml/2006/main">
            <a:off x="647700" y="4391025"/>
            <a:ext cx="314325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7" name="">
            <a:extLst xmlns:a="http://schemas.openxmlformats.org/drawingml/2006/main">
              <a:ext uri="{FF2B5EF4-FFF2-40B4-BE49-F238E27FC236}">
                <a16:creationId xmlns:a16="http://schemas.microsoft.com/office/drawing/2014/main" id="{A54FBFED-C1DC-42F8-A97A-204D9AC6F51E}"/>
              </a:ext>
            </a:extLst>
          </p:cNvPr>
          <p:cNvSpPr>
            <a:spLocks xmlns:a="http://schemas.openxmlformats.org/drawingml/2006/main" noGrp="1"/>
          </p:cNvSpPr>
          <p:nvPr/>
        </p:nvSpPr>
        <p:spPr>
          <a:xfrm xmlns:a="http://schemas.openxmlformats.org/drawingml/2006/main">
            <a:off x="6477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B41A236-A962-4010-A14B-286FE0723865}"/>
              </a:ext>
            </a:extLst>
          </p:cNvPr>
          <p:cNvSpPr>
            <a:spLocks xmlns:a="http://schemas.openxmlformats.org/drawingml/2006/main" noGrp="1"/>
          </p:cNvSpPr>
          <p:nvPr/>
        </p:nvSpPr>
        <p:spPr>
          <a:xfrm xmlns:a="http://schemas.openxmlformats.org/drawingml/2006/main">
            <a:off x="6477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Prediction-market probabilities</a:t>
            </a:r>
          </a:p>
        </p:txBody>
      </p:sp>
      <p:sp>
        <p:nvSpPr>
          <p:cNvPr id="9" name="">
            <a:extLst xmlns:a="http://schemas.openxmlformats.org/drawingml/2006/main">
              <a:ext uri="{FF2B5EF4-FFF2-40B4-BE49-F238E27FC236}">
                <a16:creationId xmlns:a16="http://schemas.microsoft.com/office/drawing/2014/main" id="{E9BA1EA4-F9CB-4E27-BBA2-88E4A9CD45B6}"/>
              </a:ext>
            </a:extLst>
          </p:cNvPr>
          <p:cNvSpPr>
            <a:spLocks xmlns:a="http://schemas.openxmlformats.org/drawingml/2006/main" noGrp="1"/>
          </p:cNvSpPr>
          <p:nvPr/>
        </p:nvSpPr>
        <p:spPr>
          <a:xfrm xmlns:a="http://schemas.openxmlformats.org/drawingml/2006/main">
            <a:off x="4191000" y="4391025"/>
            <a:ext cx="314325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10" name="">
            <a:extLst xmlns:a="http://schemas.openxmlformats.org/drawingml/2006/main">
              <a:ext uri="{FF2B5EF4-FFF2-40B4-BE49-F238E27FC236}">
                <a16:creationId xmlns:a16="http://schemas.microsoft.com/office/drawing/2014/main" id="{F5A409FC-481C-4336-B50A-B24775171E69}"/>
              </a:ext>
            </a:extLst>
          </p:cNvPr>
          <p:cNvSpPr>
            <a:spLocks xmlns:a="http://schemas.openxmlformats.org/drawingml/2006/main" noGrp="1"/>
          </p:cNvSpPr>
          <p:nvPr/>
        </p:nvSpPr>
        <p:spPr>
          <a:xfrm xmlns:a="http://schemas.openxmlformats.org/drawingml/2006/main">
            <a:off x="41910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199FD055-0EFA-4586-8B98-B44365174239}"/>
              </a:ext>
            </a:extLst>
          </p:cNvPr>
          <p:cNvSpPr>
            <a:spLocks xmlns:a="http://schemas.openxmlformats.org/drawingml/2006/main" noGrp="1"/>
          </p:cNvSpPr>
          <p:nvPr/>
        </p:nvSpPr>
        <p:spPr>
          <a:xfrm xmlns:a="http://schemas.openxmlformats.org/drawingml/2006/main">
            <a:off x="41910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Historically informative wallets</a:t>
            </a:r>
          </a:p>
        </p:txBody>
      </p:sp>
      <p:sp>
        <p:nvSpPr>
          <p:cNvPr id="12" name="">
            <a:extLst xmlns:a="http://schemas.openxmlformats.org/drawingml/2006/main">
              <a:ext uri="{FF2B5EF4-FFF2-40B4-BE49-F238E27FC236}">
                <a16:creationId xmlns:a16="http://schemas.microsoft.com/office/drawing/2014/main" id="{668BE2D9-564F-4234-B43B-2E0E826AF854}"/>
              </a:ext>
            </a:extLst>
          </p:cNvPr>
          <p:cNvSpPr>
            <a:spLocks xmlns:a="http://schemas.openxmlformats.org/drawingml/2006/main" noGrp="1"/>
          </p:cNvSpPr>
          <p:nvPr/>
        </p:nvSpPr>
        <p:spPr>
          <a:xfrm xmlns:a="http://schemas.openxmlformats.org/drawingml/2006/main">
            <a:off x="7734300" y="4391025"/>
            <a:ext cx="3143250" cy="0"/>
          </a:xfrm>
          <a:prstGeom xmlns:a="http://schemas.openxmlformats.org/drawingml/2006/main" prst="line">
            <a:avLst/>
          </a:prstGeom>
          <a:noFill xmlns:a="http://schemas.openxmlformats.org/drawingml/2006/main"/>
          <a:ln xmlns:a="http://schemas.openxmlformats.org/drawingml/2006/main" w="23813">
            <a:solidFill>
              <a:srgbClr val="A33D2E"/>
            </a:solidFill>
            <a:prstDash val="solid"/>
          </a:ln>
        </p:spPr>
      </p:sp>
      <p:sp>
        <p:nvSpPr>
          <p:cNvPr id="13" name="">
            <a:extLst xmlns:a="http://schemas.openxmlformats.org/drawingml/2006/main">
              <a:ext uri="{FF2B5EF4-FFF2-40B4-BE49-F238E27FC236}">
                <a16:creationId xmlns:a16="http://schemas.microsoft.com/office/drawing/2014/main" id="{1CE6F037-AA6C-4DB7-BE1D-A4522550C617}"/>
              </a:ext>
            </a:extLst>
          </p:cNvPr>
          <p:cNvSpPr>
            <a:spLocks xmlns:a="http://schemas.openxmlformats.org/drawingml/2006/main" noGrp="1"/>
          </p:cNvSpPr>
          <p:nvPr/>
        </p:nvSpPr>
        <p:spPr>
          <a:xfrm xmlns:a="http://schemas.openxmlformats.org/drawingml/2006/main">
            <a:off x="77343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87EA8207-83D6-402F-A184-5114EDFD8A8B}"/>
              </a:ext>
            </a:extLst>
          </p:cNvPr>
          <p:cNvSpPr>
            <a:spLocks xmlns:a="http://schemas.openxmlformats.org/drawingml/2006/main" noGrp="1"/>
          </p:cNvSpPr>
          <p:nvPr/>
        </p:nvSpPr>
        <p:spPr>
          <a:xfrm xmlns:a="http://schemas.openxmlformats.org/drawingml/2006/main">
            <a:off x="77343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A33D2E"/>
                </a:solidFill>
                <a:latin typeface="Arial"/>
                <a:ea typeface="Arial"/>
                <a:cs typeface="Arial"/>
              </a:defRPr>
            </a:pPr>
            <a:r>
              <a:rPr sz="1500" b="1" i="0">
                <a:solidFill>
                  <a:srgbClr val="A33D2E"/>
                </a:solidFill>
                <a:latin typeface="Arial"/>
                <a:ea typeface="Arial"/>
                <a:cs typeface="Arial"/>
              </a:rPr>
              <a:t>Volatility and portfolio risk</a:t>
            </a:r>
          </a:p>
        </p:txBody>
      </p:sp>
      <p:sp>
        <p:nvSpPr>
          <p:cNvPr id="15" name="">
            <a:extLst xmlns:a="http://schemas.openxmlformats.org/drawingml/2006/main">
              <a:ext uri="{FF2B5EF4-FFF2-40B4-BE49-F238E27FC236}">
                <a16:creationId xmlns:a16="http://schemas.microsoft.com/office/drawing/2014/main" id="{EEE1BD7E-8C10-4F4F-8082-8AC47D4F3042}"/>
              </a:ext>
            </a:extLst>
          </p:cNvPr>
          <p:cNvSpPr>
            <a:spLocks xmlns:a="http://schemas.openxmlformats.org/drawingml/2006/main" noGrp="1"/>
          </p:cNvSpPr>
          <p:nvPr/>
        </p:nvSpPr>
        <p:spPr>
          <a:xfrm xmlns:a="http://schemas.openxmlformats.org/drawingml/2006/main">
            <a:off x="647700" y="59531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Advised by Prof. Shuai Wang</a:t>
            </a:r>
          </a:p>
        </p:txBody>
      </p:sp>
      <p:sp>
        <p:nvSpPr>
          <p:cNvPr id="16" name="">
            <a:extLst xmlns:a="http://schemas.openxmlformats.org/drawingml/2006/main">
              <a:ext uri="{FF2B5EF4-FFF2-40B4-BE49-F238E27FC236}">
                <a16:creationId xmlns:a16="http://schemas.microsoft.com/office/drawing/2014/main" id="{2E000649-6967-4311-9168-56B8C9789B4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7" name="">
            <a:extLst xmlns:a="http://schemas.openxmlformats.org/drawingml/2006/main">
              <a:ext uri="{FF2B5EF4-FFF2-40B4-BE49-F238E27FC236}">
                <a16:creationId xmlns:a16="http://schemas.microsoft.com/office/drawing/2014/main" id="{0A77FEF1-1DB7-473B-9624-ACBAABA70DB2}"/>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18" name="">
            <a:extLst xmlns:a="http://schemas.openxmlformats.org/drawingml/2006/main">
              <a:ext uri="{FF2B5EF4-FFF2-40B4-BE49-F238E27FC236}">
                <a16:creationId xmlns:a16="http://schemas.microsoft.com/office/drawing/2014/main" id="{6E6A9557-1B94-4B1C-B555-F7FEFB2136CA}"/>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01 / 08</a:t>
            </a:r>
          </a:p>
        </p:txBody>
      </p:sp>
    </p:spTree>
    <p:extLst>
      <p:ext uri="{BB962C8B-B14F-4D97-AF65-F5344CB8AC3E}">
        <p14:creationId xmlns:p14="http://schemas.microsoft.com/office/powerpoint/2010/main" val="1733361827"/>
      </p:ext>
    </p:extLst>
  </p:cSld>
</p:sld>
</file>

<file path=ppt/slides/slide2.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B550B4-C015-409B-A055-39D30228B8DF}"/>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MOTIVATION AND RESEARCH GAP</a:t>
            </a:r>
          </a:p>
        </p:txBody>
      </p:sp>
      <p:sp>
        <p:nvSpPr>
          <p:cNvPr id="2" name="">
            <a:extLst xmlns:a="http://schemas.openxmlformats.org/drawingml/2006/main">
              <a:ext uri="{FF2B5EF4-FFF2-40B4-BE49-F238E27FC236}">
                <a16:creationId xmlns:a16="http://schemas.microsoft.com/office/drawing/2014/main" id="{B218F79A-A5BE-4329-A5CE-A16224395DA6}"/>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A probability signal for event risk</a:t>
            </a:r>
          </a:p>
        </p:txBody>
      </p:sp>
      <p:sp>
        <p:nvSpPr>
          <p:cNvPr id="3" name="">
            <a:extLst xmlns:a="http://schemas.openxmlformats.org/drawingml/2006/main">
              <a:ext uri="{FF2B5EF4-FFF2-40B4-BE49-F238E27FC236}">
                <a16:creationId xmlns:a16="http://schemas.microsoft.com/office/drawing/2014/main" id="{1871BF7E-B3C7-4CDC-9005-BCC24B853B08}"/>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CC3D5421-FD34-44A0-85AC-C4DFB41D5D7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FA04D556-8C2E-46CA-BE14-C2AFF87ED164}"/>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3077E3C2-DE8E-4DF5-ACAF-4E956019E0C0}"/>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02 / 08</a:t>
            </a:r>
          </a:p>
        </p:txBody>
      </p:sp>
      <p:sp>
        <p:nvSpPr>
          <p:cNvPr id="7" name="">
            <a:extLst xmlns:a="http://schemas.openxmlformats.org/drawingml/2006/main">
              <a:ext uri="{FF2B5EF4-FFF2-40B4-BE49-F238E27FC236}">
                <a16:creationId xmlns:a16="http://schemas.microsoft.com/office/drawing/2014/main" id="{C6E6314A-8620-4EB6-BCF8-3DE5319FD976}"/>
              </a:ext>
            </a:extLst>
          </p:cNvPr>
          <p:cNvSpPr>
            <a:spLocks xmlns:a="http://schemas.openxmlformats.org/drawingml/2006/main" noGrp="1"/>
          </p:cNvSpPr>
          <p:nvPr/>
        </p:nvSpPr>
        <p:spPr>
          <a:xfrm xmlns:a="http://schemas.openxmlformats.org/drawingml/2006/main">
            <a:off x="609600" y="1752600"/>
            <a:ext cx="5219700" cy="207645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8" name="">
            <a:extLst xmlns:a="http://schemas.openxmlformats.org/drawingml/2006/main">
              <a:ext uri="{FF2B5EF4-FFF2-40B4-BE49-F238E27FC236}">
                <a16:creationId xmlns:a16="http://schemas.microsoft.com/office/drawing/2014/main" id="{FB9975CA-FC83-4169-9AE5-1A4E18FF6A4F}"/>
              </a:ext>
            </a:extLst>
          </p:cNvPr>
          <p:cNvSpPr>
            <a:spLocks xmlns:a="http://schemas.openxmlformats.org/drawingml/2006/main" noGrp="1"/>
          </p:cNvSpPr>
          <p:nvPr/>
        </p:nvSpPr>
        <p:spPr>
          <a:xfrm xmlns:a="http://schemas.openxmlformats.org/drawingml/2006/main">
            <a:off x="838200" y="19526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OBSERVED GAP</a:t>
            </a:r>
          </a:p>
        </p:txBody>
      </p:sp>
      <p:sp>
        <p:nvSpPr>
          <p:cNvPr id="9" name="">
            <a:extLst xmlns:a="http://schemas.openxmlformats.org/drawingml/2006/main">
              <a:ext uri="{FF2B5EF4-FFF2-40B4-BE49-F238E27FC236}">
                <a16:creationId xmlns:a16="http://schemas.microsoft.com/office/drawing/2014/main" id="{5A8837DF-4944-4473-8663-DBC670BAB470}"/>
              </a:ext>
            </a:extLst>
          </p:cNvPr>
          <p:cNvSpPr>
            <a:spLocks xmlns:a="http://schemas.openxmlformats.org/drawingml/2006/main" noGrp="1"/>
          </p:cNvSpPr>
          <p:nvPr/>
        </p:nvSpPr>
        <p:spPr>
          <a:xfrm xmlns:a="http://schemas.openxmlformats.org/drawingml/2006/main">
            <a:off x="838200" y="2266950"/>
            <a:ext cx="468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Asset markets show repricing, not the event probability itself</a:t>
            </a:r>
          </a:p>
        </p:txBody>
      </p:sp>
      <p:sp>
        <p:nvSpPr>
          <p:cNvPr id="10" name="">
            <a:extLst xmlns:a="http://schemas.openxmlformats.org/drawingml/2006/main">
              <a:ext uri="{FF2B5EF4-FFF2-40B4-BE49-F238E27FC236}">
                <a16:creationId xmlns:a16="http://schemas.microsoft.com/office/drawing/2014/main" id="{58C202BD-F5CD-4DDC-ABFF-8B02BCD5C8F0}"/>
              </a:ext>
            </a:extLst>
          </p:cNvPr>
          <p:cNvSpPr>
            <a:spLocks xmlns:a="http://schemas.openxmlformats.org/drawingml/2006/main" noGrp="1"/>
          </p:cNvSpPr>
          <p:nvPr/>
        </p:nvSpPr>
        <p:spPr>
          <a:xfrm xmlns:a="http://schemas.openxmlformats.org/drawingml/2006/main">
            <a:off x="838200" y="300990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News, prices and volatility indicators reveal market reaction. They do not directly show a continuously updated probability for the underlying event.</a:t>
            </a:r>
          </a:p>
        </p:txBody>
      </p:sp>
      <p:sp>
        <p:nvSpPr>
          <p:cNvPr id="11" name="">
            <a:extLst xmlns:a="http://schemas.openxmlformats.org/drawingml/2006/main">
              <a:ext uri="{FF2B5EF4-FFF2-40B4-BE49-F238E27FC236}">
                <a16:creationId xmlns:a16="http://schemas.microsoft.com/office/drawing/2014/main" id="{47DB75E9-3B11-4EB2-8AA2-82F4477DADA3}"/>
              </a:ext>
            </a:extLst>
          </p:cNvPr>
          <p:cNvSpPr>
            <a:spLocks xmlns:a="http://schemas.openxmlformats.org/drawingml/2006/main" noGrp="1"/>
          </p:cNvSpPr>
          <p:nvPr/>
        </p:nvSpPr>
        <p:spPr>
          <a:xfrm xmlns:a="http://schemas.openxmlformats.org/drawingml/2006/main">
            <a:off x="6019800" y="1752600"/>
            <a:ext cx="5562600" cy="2076450"/>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2" name="">
            <a:extLst xmlns:a="http://schemas.openxmlformats.org/drawingml/2006/main">
              <a:ext uri="{FF2B5EF4-FFF2-40B4-BE49-F238E27FC236}">
                <a16:creationId xmlns:a16="http://schemas.microsoft.com/office/drawing/2014/main" id="{B1410F83-572C-4F46-B1B5-232E3149EA74}"/>
              </a:ext>
            </a:extLst>
          </p:cNvPr>
          <p:cNvSpPr>
            <a:spLocks xmlns:a="http://schemas.openxmlformats.org/drawingml/2006/main" noGrp="1"/>
          </p:cNvSpPr>
          <p:nvPr/>
        </p:nvSpPr>
        <p:spPr>
          <a:xfrm xmlns:a="http://schemas.openxmlformats.org/drawingml/2006/main">
            <a:off x="6248400" y="19526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RESEARCH OPPORTUNITY</a:t>
            </a:r>
          </a:p>
        </p:txBody>
      </p:sp>
      <p:sp>
        <p:nvSpPr>
          <p:cNvPr id="13" name="">
            <a:extLst xmlns:a="http://schemas.openxmlformats.org/drawingml/2006/main">
              <a:ext uri="{FF2B5EF4-FFF2-40B4-BE49-F238E27FC236}">
                <a16:creationId xmlns:a16="http://schemas.microsoft.com/office/drawing/2014/main" id="{20130C0B-5B0A-4CF8-828D-65A5EC482D2D}"/>
              </a:ext>
            </a:extLst>
          </p:cNvPr>
          <p:cNvSpPr>
            <a:spLocks xmlns:a="http://schemas.openxmlformats.org/drawingml/2006/main" noGrp="1"/>
          </p:cNvSpPr>
          <p:nvPr/>
        </p:nvSpPr>
        <p:spPr>
          <a:xfrm xmlns:a="http://schemas.openxmlformats.org/drawingml/2006/main">
            <a:off x="6248400" y="22669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Prediction markets expose prices and participant histories</a:t>
            </a:r>
          </a:p>
        </p:txBody>
      </p:sp>
      <p:sp>
        <p:nvSpPr>
          <p:cNvPr id="14" name="">
            <a:extLst xmlns:a="http://schemas.openxmlformats.org/drawingml/2006/main">
              <a:ext uri="{FF2B5EF4-FFF2-40B4-BE49-F238E27FC236}">
                <a16:creationId xmlns:a16="http://schemas.microsoft.com/office/drawing/2014/main" id="{F54B95CD-1ED1-4A9F-9381-D95D9A398046}"/>
              </a:ext>
            </a:extLst>
          </p:cNvPr>
          <p:cNvSpPr>
            <a:spLocks xmlns:a="http://schemas.openxmlformats.org/drawingml/2006/main" noGrp="1"/>
          </p:cNvSpPr>
          <p:nvPr/>
        </p:nvSpPr>
        <p:spPr>
          <a:xfrm xmlns:a="http://schemas.openxmlformats.org/drawingml/2006/main">
            <a:off x="6248400" y="30099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Contract prices provide market-implied probabilities. Public settlement records make dated wallet behaviour observable for research.</a:t>
            </a:r>
          </a:p>
        </p:txBody>
      </p:sp>
      <p:sp>
        <p:nvSpPr>
          <p:cNvPr id="15" name="">
            <a:extLst xmlns:a="http://schemas.openxmlformats.org/drawingml/2006/main">
              <a:ext uri="{FF2B5EF4-FFF2-40B4-BE49-F238E27FC236}">
                <a16:creationId xmlns:a16="http://schemas.microsoft.com/office/drawing/2014/main" id="{E49A7C90-D12E-41AD-BA7C-17B83F79350A}"/>
              </a:ext>
            </a:extLst>
          </p:cNvPr>
          <p:cNvSpPr>
            <a:spLocks xmlns:a="http://schemas.openxmlformats.org/drawingml/2006/main" noGrp="1"/>
          </p:cNvSpPr>
          <p:nvPr/>
        </p:nvSpPr>
        <p:spPr>
          <a:xfrm xmlns:a="http://schemas.openxmlformats.org/drawingml/2006/main">
            <a:off x="609600" y="4200525"/>
            <a:ext cx="1466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A33D2E"/>
                </a:solidFill>
                <a:latin typeface="Arial"/>
                <a:ea typeface="Arial"/>
                <a:cs typeface="Arial"/>
              </a:defRPr>
            </a:pPr>
            <a:r>
              <a:rPr sz="3300" b="1" i="0">
                <a:solidFill>
                  <a:srgbClr val="A33D2E"/>
                </a:solidFill>
                <a:latin typeface="Arial"/>
                <a:ea typeface="Arial"/>
                <a:cs typeface="Arial"/>
              </a:rPr>
              <a:t>69%</a:t>
            </a:r>
          </a:p>
        </p:txBody>
      </p:sp>
      <p:sp>
        <p:nvSpPr>
          <p:cNvPr id="16" name="">
            <a:extLst xmlns:a="http://schemas.openxmlformats.org/drawingml/2006/main">
              <a:ext uri="{FF2B5EF4-FFF2-40B4-BE49-F238E27FC236}">
                <a16:creationId xmlns:a16="http://schemas.microsoft.com/office/drawing/2014/main" id="{FF0768DB-D30B-471F-A4A5-BECD5B0E508A}"/>
              </a:ext>
            </a:extLst>
          </p:cNvPr>
          <p:cNvSpPr>
            <a:spLocks xmlns:a="http://schemas.openxmlformats.org/drawingml/2006/main" noGrp="1"/>
          </p:cNvSpPr>
          <p:nvPr/>
        </p:nvSpPr>
        <p:spPr>
          <a:xfrm xmlns:a="http://schemas.openxmlformats.org/drawingml/2006/main">
            <a:off x="609600" y="47720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of users lost money in one recent Polymarket study</a:t>
            </a:r>
          </a:p>
        </p:txBody>
      </p:sp>
      <p:sp>
        <p:nvSpPr>
          <p:cNvPr id="17" name="">
            <a:extLst xmlns:a="http://schemas.openxmlformats.org/drawingml/2006/main">
              <a:ext uri="{FF2B5EF4-FFF2-40B4-BE49-F238E27FC236}">
                <a16:creationId xmlns:a16="http://schemas.microsoft.com/office/drawing/2014/main" id="{266DBECA-51B6-459A-85FA-E4086262E514}"/>
              </a:ext>
            </a:extLst>
          </p:cNvPr>
          <p:cNvSpPr>
            <a:spLocks xmlns:a="http://schemas.openxmlformats.org/drawingml/2006/main" noGrp="1"/>
          </p:cNvSpPr>
          <p:nvPr/>
        </p:nvSpPr>
        <p:spPr>
          <a:xfrm xmlns:a="http://schemas.openxmlformats.org/drawingml/2006/main">
            <a:off x="3381375" y="4200525"/>
            <a:ext cx="1466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A33D2E"/>
                </a:solidFill>
                <a:latin typeface="Arial"/>
                <a:ea typeface="Arial"/>
                <a:cs typeface="Arial"/>
              </a:defRPr>
            </a:pPr>
            <a:r>
              <a:rPr sz="3300" b="1" i="0">
                <a:solidFill>
                  <a:srgbClr val="A33D2E"/>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B2831C8E-6DC6-4F77-96CB-06A6DF408E39}"/>
              </a:ext>
            </a:extLst>
          </p:cNvPr>
          <p:cNvSpPr>
            <a:spLocks xmlns:a="http://schemas.openxmlformats.org/drawingml/2006/main" noGrp="1"/>
          </p:cNvSpPr>
          <p:nvPr/>
        </p:nvSpPr>
        <p:spPr>
          <a:xfrm xmlns:a="http://schemas.openxmlformats.org/drawingml/2006/main">
            <a:off x="3381375" y="47720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of users captured more than half of aggregate gains</a:t>
            </a:r>
          </a:p>
        </p:txBody>
      </p:sp>
      <p:sp>
        <p:nvSpPr>
          <p:cNvPr id="19" name="">
            <a:extLst xmlns:a="http://schemas.openxmlformats.org/drawingml/2006/main">
              <a:ext uri="{FF2B5EF4-FFF2-40B4-BE49-F238E27FC236}">
                <a16:creationId xmlns:a16="http://schemas.microsoft.com/office/drawing/2014/main" id="{018F0899-04D9-4077-AEBF-0B38669385C7}"/>
              </a:ext>
            </a:extLst>
          </p:cNvPr>
          <p:cNvSpPr>
            <a:spLocks xmlns:a="http://schemas.openxmlformats.org/drawingml/2006/main" noGrp="1"/>
          </p:cNvSpPr>
          <p:nvPr/>
        </p:nvSpPr>
        <p:spPr>
          <a:xfrm xmlns:a="http://schemas.openxmlformats.org/drawingml/2006/main">
            <a:off x="6438900" y="4152900"/>
            <a:ext cx="5143500" cy="1314450"/>
          </a:xfrm>
          <a:prstGeom xmlns:a="http://schemas.openxmlformats.org/drawingml/2006/main" prst="rect">
            <a:avLst/>
          </a:prstGeom>
          <a:solidFill xmlns:a="http://schemas.openxmlformats.org/drawingml/2006/main">
            <a:srgbClr val="FFFFFF"/>
          </a:solidFill>
          <a:ln xmlns:a="http://schemas.openxmlformats.org/drawingml/2006/main" w="19050">
            <a:solidFill>
              <a:srgbClr val="1A1A1A"/>
            </a:solidFill>
            <a:prstDash val="solid"/>
          </a:ln>
        </p:spPr>
      </p:sp>
      <p:sp>
        <p:nvSpPr>
          <p:cNvPr id="20" name="">
            <a:extLst xmlns:a="http://schemas.openxmlformats.org/drawingml/2006/main">
              <a:ext uri="{FF2B5EF4-FFF2-40B4-BE49-F238E27FC236}">
                <a16:creationId xmlns:a16="http://schemas.microsoft.com/office/drawing/2014/main" id="{55FD9C4D-0668-423D-85CA-2BDA0FBDD9EC}"/>
              </a:ext>
            </a:extLst>
          </p:cNvPr>
          <p:cNvSpPr>
            <a:spLocks xmlns:a="http://schemas.openxmlformats.org/drawingml/2006/main" noGrp="1"/>
          </p:cNvSpPr>
          <p:nvPr/>
        </p:nvSpPr>
        <p:spPr>
          <a:xfrm xmlns:a="http://schemas.openxmlformats.org/drawingml/2006/main">
            <a:off x="6667500" y="43338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CORE QUESTION</a:t>
            </a:r>
          </a:p>
        </p:txBody>
      </p:sp>
      <p:sp>
        <p:nvSpPr>
          <p:cNvPr id="21" name="">
            <a:extLst xmlns:a="http://schemas.openxmlformats.org/drawingml/2006/main">
              <a:ext uri="{FF2B5EF4-FFF2-40B4-BE49-F238E27FC236}">
                <a16:creationId xmlns:a16="http://schemas.microsoft.com/office/drawing/2014/main" id="{F6AEFB51-BDB0-467C-B881-96D61C932CA0}"/>
              </a:ext>
            </a:extLst>
          </p:cNvPr>
          <p:cNvSpPr>
            <a:spLocks xmlns:a="http://schemas.openxmlformats.org/drawingml/2006/main" noGrp="1"/>
          </p:cNvSpPr>
          <p:nvPr/>
        </p:nvSpPr>
        <p:spPr>
          <a:xfrm xmlns:a="http://schemas.openxmlformats.org/drawingml/2006/main">
            <a:off x="6667500" y="4648200"/>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Do wallet and event features improve out-of-sample volatility forecasts?</a:t>
            </a:r>
          </a:p>
        </p:txBody>
      </p:sp>
    </p:spTree>
    <p:extLst>
      <p:ext uri="{BB962C8B-B14F-4D97-AF65-F5344CB8AC3E}">
        <p14:creationId xmlns:p14="http://schemas.microsoft.com/office/powerpoint/2010/main" val="307684213"/>
      </p:ext>
    </p:extLst>
  </p:cSld>
</p:sld>
</file>

<file path=ppt/slides/slide3.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313177E-A49F-478A-8F95-9A39CBD29E82}"/>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LOGICAL SYSTEM ARCHITECTURE</a:t>
            </a:r>
          </a:p>
        </p:txBody>
      </p:sp>
      <p:sp>
        <p:nvSpPr>
          <p:cNvPr id="2" name="">
            <a:extLst xmlns:a="http://schemas.openxmlformats.org/drawingml/2006/main">
              <a:ext uri="{FF2B5EF4-FFF2-40B4-BE49-F238E27FC236}">
                <a16:creationId xmlns:a16="http://schemas.microsoft.com/office/drawing/2014/main" id="{5606AF79-85D0-49E7-A2B1-BFFB019C5495}"/>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From on-chain activity to asset volatility research</a:t>
            </a:r>
          </a:p>
        </p:txBody>
      </p:sp>
      <p:sp>
        <p:nvSpPr>
          <p:cNvPr id="3" name="">
            <a:extLst xmlns:a="http://schemas.openxmlformats.org/drawingml/2006/main">
              <a:ext uri="{FF2B5EF4-FFF2-40B4-BE49-F238E27FC236}">
                <a16:creationId xmlns:a16="http://schemas.microsoft.com/office/drawing/2014/main" id="{EBD1B475-488A-4A37-82FA-D72A58A9A243}"/>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31BF5EFF-F08F-408C-938E-3E456A5947C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E7A2F21A-E91A-4772-88D1-CB3568A6596E}"/>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DBCDC4EB-6E4F-4C8E-9860-FA7822542545}"/>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03 / 08</a:t>
            </a:r>
          </a:p>
        </p:txBody>
      </p:sp>
      <p:sp>
        <p:nvSpPr>
          <p:cNvPr id="7" name="">
            <a:extLst xmlns:a="http://schemas.openxmlformats.org/drawingml/2006/main">
              <a:ext uri="{FF2B5EF4-FFF2-40B4-BE49-F238E27FC236}">
                <a16:creationId xmlns:a16="http://schemas.microsoft.com/office/drawing/2014/main" id="{24523394-23A0-48D4-AB13-498FA8D0AAAE}"/>
              </a:ext>
            </a:extLst>
          </p:cNvPr>
          <p:cNvSpPr>
            <a:spLocks xmlns:a="http://schemas.openxmlformats.org/drawingml/2006/main" noGrp="1"/>
          </p:cNvSpPr>
          <p:nvPr/>
        </p:nvSpPr>
        <p:spPr>
          <a:xfrm xmlns:a="http://schemas.openxmlformats.org/drawingml/2006/main">
            <a:off x="609600" y="1628775"/>
            <a:ext cx="33528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8" name="">
            <a:extLst xmlns:a="http://schemas.openxmlformats.org/drawingml/2006/main">
              <a:ext uri="{FF2B5EF4-FFF2-40B4-BE49-F238E27FC236}">
                <a16:creationId xmlns:a16="http://schemas.microsoft.com/office/drawing/2014/main" id="{AFFFA092-BD74-4B2B-83AD-2C0A44EBDFD7}"/>
              </a:ext>
            </a:extLst>
          </p:cNvPr>
          <p:cNvSpPr>
            <a:spLocks xmlns:a="http://schemas.openxmlformats.org/drawingml/2006/main" noGrp="1"/>
          </p:cNvSpPr>
          <p:nvPr/>
        </p:nvSpPr>
        <p:spPr>
          <a:xfrm xmlns:a="http://schemas.openxmlformats.org/drawingml/2006/main">
            <a:off x="781050" y="17716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MARKET STATE</a:t>
            </a:r>
          </a:p>
        </p:txBody>
      </p:sp>
      <p:sp>
        <p:nvSpPr>
          <p:cNvPr id="9" name="">
            <a:extLst xmlns:a="http://schemas.openxmlformats.org/drawingml/2006/main">
              <a:ext uri="{FF2B5EF4-FFF2-40B4-BE49-F238E27FC236}">
                <a16:creationId xmlns:a16="http://schemas.microsoft.com/office/drawing/2014/main" id="{74EA9A68-1931-4751-8E77-B19C3DB003CE}"/>
              </a:ext>
            </a:extLst>
          </p:cNvPr>
          <p:cNvSpPr>
            <a:spLocks xmlns:a="http://schemas.openxmlformats.org/drawingml/2006/main" noGrp="1"/>
          </p:cNvSpPr>
          <p:nvPr/>
        </p:nvSpPr>
        <p:spPr>
          <a:xfrm xmlns:a="http://schemas.openxmlformats.org/drawingml/2006/main">
            <a:off x="781050" y="200977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Polymarket APIs</a:t>
            </a:r>
          </a:p>
        </p:txBody>
      </p:sp>
      <p:sp>
        <p:nvSpPr>
          <p:cNvPr id="10" name="">
            <a:extLst xmlns:a="http://schemas.openxmlformats.org/drawingml/2006/main">
              <a:ext uri="{FF2B5EF4-FFF2-40B4-BE49-F238E27FC236}">
                <a16:creationId xmlns:a16="http://schemas.microsoft.com/office/drawing/2014/main" id="{68249352-8AB6-438C-9754-88CA5C698971}"/>
              </a:ext>
            </a:extLst>
          </p:cNvPr>
          <p:cNvSpPr>
            <a:spLocks xmlns:a="http://schemas.openxmlformats.org/drawingml/2006/main" noGrp="1"/>
          </p:cNvSpPr>
          <p:nvPr/>
        </p:nvSpPr>
        <p:spPr>
          <a:xfrm xmlns:a="http://schemas.openxmlformats.org/drawingml/2006/main">
            <a:off x="781050" y="2343150"/>
            <a:ext cx="3009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262"/>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Event rules, contract prices, order books and resolution status</a:t>
            </a:r>
          </a:p>
        </p:txBody>
      </p:sp>
      <p:sp>
        <p:nvSpPr>
          <p:cNvPr id="11" name="">
            <a:extLst xmlns:a="http://schemas.openxmlformats.org/drawingml/2006/main">
              <a:ext uri="{FF2B5EF4-FFF2-40B4-BE49-F238E27FC236}">
                <a16:creationId xmlns:a16="http://schemas.microsoft.com/office/drawing/2014/main" id="{FF32DC87-C481-4991-8529-31CB03EBCCD5}"/>
              </a:ext>
            </a:extLst>
          </p:cNvPr>
          <p:cNvSpPr>
            <a:spLocks xmlns:a="http://schemas.openxmlformats.org/drawingml/2006/main" noGrp="1"/>
          </p:cNvSpPr>
          <p:nvPr/>
        </p:nvSpPr>
        <p:spPr>
          <a:xfrm xmlns:a="http://schemas.openxmlformats.org/drawingml/2006/main">
            <a:off x="2000250" y="27432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12136E1-0B36-4F57-B3AD-4913482B33DE}"/>
              </a:ext>
            </a:extLst>
          </p:cNvPr>
          <p:cNvSpPr>
            <a:spLocks xmlns:a="http://schemas.openxmlformats.org/drawingml/2006/main" noGrp="1"/>
          </p:cNvSpPr>
          <p:nvPr/>
        </p:nvSpPr>
        <p:spPr>
          <a:xfrm xmlns:a="http://schemas.openxmlformats.org/drawingml/2006/main">
            <a:off x="4267200" y="1628775"/>
            <a:ext cx="33528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13" name="">
            <a:extLst xmlns:a="http://schemas.openxmlformats.org/drawingml/2006/main">
              <a:ext uri="{FF2B5EF4-FFF2-40B4-BE49-F238E27FC236}">
                <a16:creationId xmlns:a16="http://schemas.microsoft.com/office/drawing/2014/main" id="{910DC15F-B578-472D-BE95-90CAC32AF957}"/>
              </a:ext>
            </a:extLst>
          </p:cNvPr>
          <p:cNvSpPr>
            <a:spLocks xmlns:a="http://schemas.openxmlformats.org/drawingml/2006/main" noGrp="1"/>
          </p:cNvSpPr>
          <p:nvPr/>
        </p:nvSpPr>
        <p:spPr>
          <a:xfrm xmlns:a="http://schemas.openxmlformats.org/drawingml/2006/main">
            <a:off x="4438650" y="17716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WALLET ACTIVITY</a:t>
            </a:r>
          </a:p>
        </p:txBody>
      </p:sp>
      <p:sp>
        <p:nvSpPr>
          <p:cNvPr id="14" name="">
            <a:extLst xmlns:a="http://schemas.openxmlformats.org/drawingml/2006/main">
              <a:ext uri="{FF2B5EF4-FFF2-40B4-BE49-F238E27FC236}">
                <a16:creationId xmlns:a16="http://schemas.microsoft.com/office/drawing/2014/main" id="{6B7C3AC4-137C-48CB-917F-1099873D0246}"/>
              </a:ext>
            </a:extLst>
          </p:cNvPr>
          <p:cNvSpPr>
            <a:spLocks xmlns:a="http://schemas.openxmlformats.org/drawingml/2006/main" noGrp="1"/>
          </p:cNvSpPr>
          <p:nvPr/>
        </p:nvSpPr>
        <p:spPr>
          <a:xfrm xmlns:a="http://schemas.openxmlformats.org/drawingml/2006/main">
            <a:off x="4438650" y="200977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Polygon and Goldsky</a:t>
            </a:r>
          </a:p>
        </p:txBody>
      </p:sp>
      <p:sp>
        <p:nvSpPr>
          <p:cNvPr id="15" name="">
            <a:extLst xmlns:a="http://schemas.openxmlformats.org/drawingml/2006/main">
              <a:ext uri="{FF2B5EF4-FFF2-40B4-BE49-F238E27FC236}">
                <a16:creationId xmlns:a16="http://schemas.microsoft.com/office/drawing/2014/main" id="{A6B4E3F0-CF45-4F72-A88A-77F81DF0DAEB}"/>
              </a:ext>
            </a:extLst>
          </p:cNvPr>
          <p:cNvSpPr>
            <a:spLocks xmlns:a="http://schemas.openxmlformats.org/drawingml/2006/main" noGrp="1"/>
          </p:cNvSpPr>
          <p:nvPr/>
        </p:nvSpPr>
        <p:spPr>
          <a:xfrm xmlns:a="http://schemas.openxmlformats.org/drawingml/2006/main">
            <a:off x="4438650" y="2343150"/>
            <a:ext cx="3009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262"/>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Fills, positions, transfers, redemptions and receipt checks</a:t>
            </a:r>
          </a:p>
        </p:txBody>
      </p:sp>
      <p:sp>
        <p:nvSpPr>
          <p:cNvPr id="16" name="">
            <a:extLst xmlns:a="http://schemas.openxmlformats.org/drawingml/2006/main">
              <a:ext uri="{FF2B5EF4-FFF2-40B4-BE49-F238E27FC236}">
                <a16:creationId xmlns:a16="http://schemas.microsoft.com/office/drawing/2014/main" id="{9B2E5890-D8A9-4C6B-9242-06013451ED22}"/>
              </a:ext>
            </a:extLst>
          </p:cNvPr>
          <p:cNvSpPr>
            <a:spLocks xmlns:a="http://schemas.openxmlformats.org/drawingml/2006/main" noGrp="1"/>
          </p:cNvSpPr>
          <p:nvPr/>
        </p:nvSpPr>
        <p:spPr>
          <a:xfrm xmlns:a="http://schemas.openxmlformats.org/drawingml/2006/main">
            <a:off x="5657850" y="27432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C1B2F2E-7788-4233-851D-B22E99E0F3E8}"/>
              </a:ext>
            </a:extLst>
          </p:cNvPr>
          <p:cNvSpPr>
            <a:spLocks xmlns:a="http://schemas.openxmlformats.org/drawingml/2006/main" noGrp="1"/>
          </p:cNvSpPr>
          <p:nvPr/>
        </p:nvSpPr>
        <p:spPr>
          <a:xfrm xmlns:a="http://schemas.openxmlformats.org/drawingml/2006/main">
            <a:off x="7924800" y="1628775"/>
            <a:ext cx="33528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18" name="">
            <a:extLst xmlns:a="http://schemas.openxmlformats.org/drawingml/2006/main">
              <a:ext uri="{FF2B5EF4-FFF2-40B4-BE49-F238E27FC236}">
                <a16:creationId xmlns:a16="http://schemas.microsoft.com/office/drawing/2014/main" id="{D2D3DE35-981A-44C4-AF6D-2C247BF97390}"/>
              </a:ext>
            </a:extLst>
          </p:cNvPr>
          <p:cNvSpPr>
            <a:spLocks xmlns:a="http://schemas.openxmlformats.org/drawingml/2006/main" noGrp="1"/>
          </p:cNvSpPr>
          <p:nvPr/>
        </p:nvSpPr>
        <p:spPr>
          <a:xfrm xmlns:a="http://schemas.openxmlformats.org/drawingml/2006/main">
            <a:off x="8096250" y="17716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FINANCIAL CONTEXT</a:t>
            </a:r>
          </a:p>
        </p:txBody>
      </p:sp>
      <p:sp>
        <p:nvSpPr>
          <p:cNvPr id="19" name="">
            <a:extLst xmlns:a="http://schemas.openxmlformats.org/drawingml/2006/main">
              <a:ext uri="{FF2B5EF4-FFF2-40B4-BE49-F238E27FC236}">
                <a16:creationId xmlns:a16="http://schemas.microsoft.com/office/drawing/2014/main" id="{885D8444-E4E1-448A-8F52-998F40CC07C5}"/>
              </a:ext>
            </a:extLst>
          </p:cNvPr>
          <p:cNvSpPr>
            <a:spLocks xmlns:a="http://schemas.openxmlformats.org/drawingml/2006/main" noGrp="1"/>
          </p:cNvSpPr>
          <p:nvPr/>
        </p:nvSpPr>
        <p:spPr>
          <a:xfrm xmlns:a="http://schemas.openxmlformats.org/drawingml/2006/main">
            <a:off x="8096250" y="200977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ETF and event data</a:t>
            </a:r>
          </a:p>
        </p:txBody>
      </p:sp>
      <p:sp>
        <p:nvSpPr>
          <p:cNvPr id="20" name="">
            <a:extLst xmlns:a="http://schemas.openxmlformats.org/drawingml/2006/main">
              <a:ext uri="{FF2B5EF4-FFF2-40B4-BE49-F238E27FC236}">
                <a16:creationId xmlns:a16="http://schemas.microsoft.com/office/drawing/2014/main" id="{BA87E9BB-B231-4A8F-8D38-74FBAA190DCB}"/>
              </a:ext>
            </a:extLst>
          </p:cNvPr>
          <p:cNvSpPr>
            <a:spLocks xmlns:a="http://schemas.openxmlformats.org/drawingml/2006/main" noGrp="1"/>
          </p:cNvSpPr>
          <p:nvPr/>
        </p:nvSpPr>
        <p:spPr>
          <a:xfrm xmlns:a="http://schemas.openxmlformats.org/drawingml/2006/main">
            <a:off x="8096250" y="2343150"/>
            <a:ext cx="3009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262"/>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Adjusted returns, supported assets and Federal Reserve timing</a:t>
            </a:r>
          </a:p>
        </p:txBody>
      </p:sp>
      <p:sp>
        <p:nvSpPr>
          <p:cNvPr id="21" name="">
            <a:extLst xmlns:a="http://schemas.openxmlformats.org/drawingml/2006/main">
              <a:ext uri="{FF2B5EF4-FFF2-40B4-BE49-F238E27FC236}">
                <a16:creationId xmlns:a16="http://schemas.microsoft.com/office/drawing/2014/main" id="{F9299CCD-DD3D-4DD9-AF5F-E978F508E8F1}"/>
              </a:ext>
            </a:extLst>
          </p:cNvPr>
          <p:cNvSpPr>
            <a:spLocks xmlns:a="http://schemas.openxmlformats.org/drawingml/2006/main" noGrp="1"/>
          </p:cNvSpPr>
          <p:nvPr/>
        </p:nvSpPr>
        <p:spPr>
          <a:xfrm xmlns:a="http://schemas.openxmlformats.org/drawingml/2006/main">
            <a:off x="9315450" y="27432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i="0">
                <a:solidFill>
                  <a:srgbClr val="A33D2E"/>
                </a:solidFill>
                <a:latin typeface="Arial"/>
                <a:ea typeface="Arial"/>
                <a:cs typeface="Arial"/>
              </a:defRPr>
            </a:pPr>
            <a:r>
              <a:rPr sz="1875" b="1" i="0">
                <a:solidFill>
                  <a:srgbClr val="A33D2E"/>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F84C5C42-4080-45ED-9D4D-17F9E45D7556}"/>
              </a:ext>
            </a:extLst>
          </p:cNvPr>
          <p:cNvSpPr>
            <a:spLocks xmlns:a="http://schemas.openxmlformats.org/drawingml/2006/main" noGrp="1"/>
          </p:cNvSpPr>
          <p:nvPr/>
        </p:nvSpPr>
        <p:spPr>
          <a:xfrm xmlns:a="http://schemas.openxmlformats.org/drawingml/2006/main">
            <a:off x="609600" y="3105150"/>
            <a:ext cx="10972800" cy="63817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23" name="">
            <a:extLst xmlns:a="http://schemas.openxmlformats.org/drawingml/2006/main">
              <a:ext uri="{FF2B5EF4-FFF2-40B4-BE49-F238E27FC236}">
                <a16:creationId xmlns:a16="http://schemas.microsoft.com/office/drawing/2014/main" id="{2AC3AF2B-A2CF-4C62-8DB9-5E94B0D14E16}"/>
              </a:ext>
            </a:extLst>
          </p:cNvPr>
          <p:cNvSpPr>
            <a:spLocks xmlns:a="http://schemas.openxmlformats.org/drawingml/2006/main" noGrp="1"/>
          </p:cNvSpPr>
          <p:nvPr/>
        </p:nvSpPr>
        <p:spPr>
          <a:xfrm xmlns:a="http://schemas.openxmlformats.org/drawingml/2006/main">
            <a:off x="800100" y="3257550"/>
            <a:ext cx="2333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VERSIONED EVIDENCE LAYER</a:t>
            </a:r>
          </a:p>
        </p:txBody>
      </p:sp>
      <p:sp>
        <p:nvSpPr>
          <p:cNvPr id="24" name="">
            <a:extLst xmlns:a="http://schemas.openxmlformats.org/drawingml/2006/main">
              <a:ext uri="{FF2B5EF4-FFF2-40B4-BE49-F238E27FC236}">
                <a16:creationId xmlns:a16="http://schemas.microsoft.com/office/drawing/2014/main" id="{3E667070-B28E-41EE-A01A-22DDBAE5ACDD}"/>
              </a:ext>
            </a:extLst>
          </p:cNvPr>
          <p:cNvSpPr>
            <a:spLocks xmlns:a="http://schemas.openxmlformats.org/drawingml/2006/main" noGrp="1"/>
          </p:cNvSpPr>
          <p:nvPr/>
        </p:nvSpPr>
        <p:spPr>
          <a:xfrm xmlns:a="http://schemas.openxmlformats.org/drawingml/2006/main">
            <a:off x="3143250" y="3228975"/>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73A5E"/>
                </a:solidFill>
                <a:latin typeface="Arial"/>
                <a:ea typeface="Arial"/>
                <a:cs typeface="Arial"/>
              </a:defRPr>
            </a:pPr>
            <a:r>
              <a:rPr sz="1425" b="1" i="0">
                <a:solidFill>
                  <a:srgbClr val="173A5E"/>
                </a:solidFill>
                <a:latin typeface="Arial"/>
                <a:ea typeface="Arial"/>
                <a:cs typeface="Arial"/>
              </a:rPr>
              <a:t>Normalise identifiers and timestamps, apply historical cut-offs, preserve provenance</a:t>
            </a:r>
          </a:p>
        </p:txBody>
      </p:sp>
      <p:sp>
        <p:nvSpPr>
          <p:cNvPr id="25" name="">
            <a:extLst xmlns:a="http://schemas.openxmlformats.org/drawingml/2006/main">
              <a:ext uri="{FF2B5EF4-FFF2-40B4-BE49-F238E27FC236}">
                <a16:creationId xmlns:a16="http://schemas.microsoft.com/office/drawing/2014/main" id="{1B3776F8-EA6F-4096-8C7F-5FEE6EF74DD9}"/>
              </a:ext>
            </a:extLst>
          </p:cNvPr>
          <p:cNvSpPr>
            <a:spLocks xmlns:a="http://schemas.openxmlformats.org/drawingml/2006/main" noGrp="1"/>
          </p:cNvSpPr>
          <p:nvPr/>
        </p:nvSpPr>
        <p:spPr>
          <a:xfrm xmlns:a="http://schemas.openxmlformats.org/drawingml/2006/main">
            <a:off x="5810250" y="376237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i="0">
                <a:solidFill>
                  <a:srgbClr val="A33D2E"/>
                </a:solidFill>
                <a:latin typeface="Arial"/>
                <a:ea typeface="Arial"/>
                <a:cs typeface="Arial"/>
              </a:defRPr>
            </a:pPr>
            <a:r>
              <a:rPr sz="1725" b="1" i="0">
                <a:solidFill>
                  <a:srgbClr val="A33D2E"/>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9D233B0B-D358-4486-9A9C-DE900CC2A916}"/>
              </a:ext>
            </a:extLst>
          </p:cNvPr>
          <p:cNvSpPr>
            <a:spLocks xmlns:a="http://schemas.openxmlformats.org/drawingml/2006/main" noGrp="1"/>
          </p:cNvSpPr>
          <p:nvPr/>
        </p:nvSpPr>
        <p:spPr>
          <a:xfrm xmlns:a="http://schemas.openxmlformats.org/drawingml/2006/main">
            <a:off x="609600" y="4076700"/>
            <a:ext cx="2400300" cy="1304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27" name="">
            <a:extLst xmlns:a="http://schemas.openxmlformats.org/drawingml/2006/main">
              <a:ext uri="{FF2B5EF4-FFF2-40B4-BE49-F238E27FC236}">
                <a16:creationId xmlns:a16="http://schemas.microsoft.com/office/drawing/2014/main" id="{6C4E78FE-F2BC-43D0-833E-143F9CC5BAD9}"/>
              </a:ext>
            </a:extLst>
          </p:cNvPr>
          <p:cNvSpPr>
            <a:spLocks xmlns:a="http://schemas.openxmlformats.org/drawingml/2006/main" noGrp="1"/>
          </p:cNvSpPr>
          <p:nvPr/>
        </p:nvSpPr>
        <p:spPr>
          <a:xfrm xmlns:a="http://schemas.openxmlformats.org/drawingml/2006/main">
            <a:off x="762000" y="4210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28" name="">
            <a:extLst xmlns:a="http://schemas.openxmlformats.org/drawingml/2006/main">
              <a:ext uri="{FF2B5EF4-FFF2-40B4-BE49-F238E27FC236}">
                <a16:creationId xmlns:a16="http://schemas.microsoft.com/office/drawing/2014/main" id="{66C9A69B-3C52-44E3-BAC8-E9787C8624F5}"/>
              </a:ext>
            </a:extLst>
          </p:cNvPr>
          <p:cNvSpPr>
            <a:spLocks xmlns:a="http://schemas.openxmlformats.org/drawingml/2006/main" noGrp="1"/>
          </p:cNvSpPr>
          <p:nvPr/>
        </p:nvSpPr>
        <p:spPr>
          <a:xfrm xmlns:a="http://schemas.openxmlformats.org/drawingml/2006/main">
            <a:off x="762000" y="44577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Wallet intelligence</a:t>
            </a:r>
          </a:p>
        </p:txBody>
      </p:sp>
      <p:sp>
        <p:nvSpPr>
          <p:cNvPr id="29" name="">
            <a:extLst xmlns:a="http://schemas.openxmlformats.org/drawingml/2006/main">
              <a:ext uri="{FF2B5EF4-FFF2-40B4-BE49-F238E27FC236}">
                <a16:creationId xmlns:a16="http://schemas.microsoft.com/office/drawing/2014/main" id="{968C1204-2A2D-4AC4-A053-D03A3360B3A8}"/>
              </a:ext>
            </a:extLst>
          </p:cNvPr>
          <p:cNvSpPr>
            <a:spLocks xmlns:a="http://schemas.openxmlformats.org/drawingml/2006/main" noGrp="1"/>
          </p:cNvSpPr>
          <p:nvPr/>
        </p:nvSpPr>
        <p:spPr>
          <a:xfrm xmlns:a="http://schemas.openxmlformats.org/drawingml/2006/main">
            <a:off x="762000" y="48482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Dated eligibility and informativeness scores</a:t>
            </a:r>
          </a:p>
        </p:txBody>
      </p:sp>
      <p:sp>
        <p:nvSpPr>
          <p:cNvPr id="30" name="">
            <a:extLst xmlns:a="http://schemas.openxmlformats.org/drawingml/2006/main">
              <a:ext uri="{FF2B5EF4-FFF2-40B4-BE49-F238E27FC236}">
                <a16:creationId xmlns:a16="http://schemas.microsoft.com/office/drawing/2014/main" id="{8201BE54-11AE-403B-82FD-2453660A3AEB}"/>
              </a:ext>
            </a:extLst>
          </p:cNvPr>
          <p:cNvSpPr>
            <a:spLocks xmlns:a="http://schemas.openxmlformats.org/drawingml/2006/main" noGrp="1"/>
          </p:cNvSpPr>
          <p:nvPr/>
        </p:nvSpPr>
        <p:spPr>
          <a:xfrm xmlns:a="http://schemas.openxmlformats.org/drawingml/2006/main">
            <a:off x="3028950" y="445770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A77C9709-952D-4A9D-A7B5-0DCD4A2E12F0}"/>
              </a:ext>
            </a:extLst>
          </p:cNvPr>
          <p:cNvSpPr>
            <a:spLocks xmlns:a="http://schemas.openxmlformats.org/drawingml/2006/main" noGrp="1"/>
          </p:cNvSpPr>
          <p:nvPr/>
        </p:nvSpPr>
        <p:spPr>
          <a:xfrm xmlns:a="http://schemas.openxmlformats.org/drawingml/2006/main">
            <a:off x="3352800" y="4076700"/>
            <a:ext cx="2400300" cy="1304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32" name="">
            <a:extLst xmlns:a="http://schemas.openxmlformats.org/drawingml/2006/main">
              <a:ext uri="{FF2B5EF4-FFF2-40B4-BE49-F238E27FC236}">
                <a16:creationId xmlns:a16="http://schemas.microsoft.com/office/drawing/2014/main" id="{D2F26961-C27E-48A3-92D0-EC1D8CDA09B8}"/>
              </a:ext>
            </a:extLst>
          </p:cNvPr>
          <p:cNvSpPr>
            <a:spLocks xmlns:a="http://schemas.openxmlformats.org/drawingml/2006/main" noGrp="1"/>
          </p:cNvSpPr>
          <p:nvPr/>
        </p:nvSpPr>
        <p:spPr>
          <a:xfrm xmlns:a="http://schemas.openxmlformats.org/drawingml/2006/main">
            <a:off x="3505200" y="4210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33" name="">
            <a:extLst xmlns:a="http://schemas.openxmlformats.org/drawingml/2006/main">
              <a:ext uri="{FF2B5EF4-FFF2-40B4-BE49-F238E27FC236}">
                <a16:creationId xmlns:a16="http://schemas.microsoft.com/office/drawing/2014/main" id="{DA6AB249-D1C3-4901-8D8E-8D1AEAE76F6B}"/>
              </a:ext>
            </a:extLst>
          </p:cNvPr>
          <p:cNvSpPr>
            <a:spLocks xmlns:a="http://schemas.openxmlformats.org/drawingml/2006/main" noGrp="1"/>
          </p:cNvSpPr>
          <p:nvPr/>
        </p:nvSpPr>
        <p:spPr>
          <a:xfrm xmlns:a="http://schemas.openxmlformats.org/drawingml/2006/main">
            <a:off x="3505200" y="44577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Probability research</a:t>
            </a:r>
          </a:p>
        </p:txBody>
      </p:sp>
      <p:sp>
        <p:nvSpPr>
          <p:cNvPr id="34" name="">
            <a:extLst xmlns:a="http://schemas.openxmlformats.org/drawingml/2006/main">
              <a:ext uri="{FF2B5EF4-FFF2-40B4-BE49-F238E27FC236}">
                <a16:creationId xmlns:a16="http://schemas.microsoft.com/office/drawing/2014/main" id="{93810786-3BDE-45AA-A4F9-3F58705687E1}"/>
              </a:ext>
            </a:extLst>
          </p:cNvPr>
          <p:cNvSpPr>
            <a:spLocks xmlns:a="http://schemas.openxmlformats.org/drawingml/2006/main" noGrp="1"/>
          </p:cNvSpPr>
          <p:nvPr/>
        </p:nvSpPr>
        <p:spPr>
          <a:xfrm xmlns:a="http://schemas.openxmlformats.org/drawingml/2006/main">
            <a:off x="3505200" y="48482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Raw and wallet-informed event probabilities</a:t>
            </a:r>
          </a:p>
        </p:txBody>
      </p:sp>
      <p:sp>
        <p:nvSpPr>
          <p:cNvPr id="35" name="">
            <a:extLst xmlns:a="http://schemas.openxmlformats.org/drawingml/2006/main">
              <a:ext uri="{FF2B5EF4-FFF2-40B4-BE49-F238E27FC236}">
                <a16:creationId xmlns:a16="http://schemas.microsoft.com/office/drawing/2014/main" id="{02784CE3-52CC-4172-BE0D-2F7D2C85FAE5}"/>
              </a:ext>
            </a:extLst>
          </p:cNvPr>
          <p:cNvSpPr>
            <a:spLocks xmlns:a="http://schemas.openxmlformats.org/drawingml/2006/main" noGrp="1"/>
          </p:cNvSpPr>
          <p:nvPr/>
        </p:nvSpPr>
        <p:spPr>
          <a:xfrm xmlns:a="http://schemas.openxmlformats.org/drawingml/2006/main">
            <a:off x="5772150" y="445770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9B05F590-7C69-4888-A23A-5A618D43119D}"/>
              </a:ext>
            </a:extLst>
          </p:cNvPr>
          <p:cNvSpPr>
            <a:spLocks xmlns:a="http://schemas.openxmlformats.org/drawingml/2006/main" noGrp="1"/>
          </p:cNvSpPr>
          <p:nvPr/>
        </p:nvSpPr>
        <p:spPr>
          <a:xfrm xmlns:a="http://schemas.openxmlformats.org/drawingml/2006/main">
            <a:off x="6096000" y="4076700"/>
            <a:ext cx="2400300" cy="1304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37" name="">
            <a:extLst xmlns:a="http://schemas.openxmlformats.org/drawingml/2006/main">
              <a:ext uri="{FF2B5EF4-FFF2-40B4-BE49-F238E27FC236}">
                <a16:creationId xmlns:a16="http://schemas.microsoft.com/office/drawing/2014/main" id="{222E6175-67CA-4173-A658-6288D0B85B05}"/>
              </a:ext>
            </a:extLst>
          </p:cNvPr>
          <p:cNvSpPr>
            <a:spLocks xmlns:a="http://schemas.openxmlformats.org/drawingml/2006/main" noGrp="1"/>
          </p:cNvSpPr>
          <p:nvPr/>
        </p:nvSpPr>
        <p:spPr>
          <a:xfrm xmlns:a="http://schemas.openxmlformats.org/drawingml/2006/main">
            <a:off x="6248400" y="4210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38" name="">
            <a:extLst xmlns:a="http://schemas.openxmlformats.org/drawingml/2006/main">
              <a:ext uri="{FF2B5EF4-FFF2-40B4-BE49-F238E27FC236}">
                <a16:creationId xmlns:a16="http://schemas.microsoft.com/office/drawing/2014/main" id="{57F6C90E-79A7-40B6-A36A-883B188FDA36}"/>
              </a:ext>
            </a:extLst>
          </p:cNvPr>
          <p:cNvSpPr>
            <a:spLocks xmlns:a="http://schemas.openxmlformats.org/drawingml/2006/main" noGrp="1"/>
          </p:cNvSpPr>
          <p:nvPr/>
        </p:nvSpPr>
        <p:spPr>
          <a:xfrm xmlns:a="http://schemas.openxmlformats.org/drawingml/2006/main">
            <a:off x="6248400" y="44577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Event-to-asset mapping</a:t>
            </a:r>
          </a:p>
        </p:txBody>
      </p:sp>
      <p:sp>
        <p:nvSpPr>
          <p:cNvPr id="39" name="">
            <a:extLst xmlns:a="http://schemas.openxmlformats.org/drawingml/2006/main">
              <a:ext uri="{FF2B5EF4-FFF2-40B4-BE49-F238E27FC236}">
                <a16:creationId xmlns:a16="http://schemas.microsoft.com/office/drawing/2014/main" id="{6D37C27D-E963-48D9-9581-0E35DD2C647C}"/>
              </a:ext>
            </a:extLst>
          </p:cNvPr>
          <p:cNvSpPr>
            <a:spLocks xmlns:a="http://schemas.openxmlformats.org/drawingml/2006/main" noGrp="1"/>
          </p:cNvSpPr>
          <p:nvPr/>
        </p:nvSpPr>
        <p:spPr>
          <a:xfrm xmlns:a="http://schemas.openxmlformats.org/drawingml/2006/main">
            <a:off x="6248400" y="48482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i="0">
                <a:solidFill>
                  <a:srgbClr val="555555"/>
                </a:solidFill>
                <a:latin typeface="Arial"/>
                <a:ea typeface="Arial"/>
                <a:cs typeface="Arial"/>
              </a:defRPr>
            </a:pPr>
            <a:r>
              <a:rPr sz="1050" b="0" i="0">
                <a:solidFill>
                  <a:srgbClr val="555555"/>
                </a:solidFill>
                <a:latin typeface="Arial"/>
                <a:ea typeface="Arial"/>
                <a:cs typeface="Arial"/>
              </a:rPr>
              <a:t>Reviewed links and matched historical windows</a:t>
            </a:r>
          </a:p>
        </p:txBody>
      </p:sp>
      <p:sp>
        <p:nvSpPr>
          <p:cNvPr id="40" name="">
            <a:extLst xmlns:a="http://schemas.openxmlformats.org/drawingml/2006/main">
              <a:ext uri="{FF2B5EF4-FFF2-40B4-BE49-F238E27FC236}">
                <a16:creationId xmlns:a16="http://schemas.microsoft.com/office/drawing/2014/main" id="{04A4C2D3-6C38-45B8-A680-BA868938EB7F}"/>
              </a:ext>
            </a:extLst>
          </p:cNvPr>
          <p:cNvSpPr>
            <a:spLocks xmlns:a="http://schemas.openxmlformats.org/drawingml/2006/main" noGrp="1"/>
          </p:cNvSpPr>
          <p:nvPr/>
        </p:nvSpPr>
        <p:spPr>
          <a:xfrm xmlns:a="http://schemas.openxmlformats.org/drawingml/2006/main">
            <a:off x="8515350" y="4457700"/>
            <a:ext cx="28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i="0">
                <a:solidFill>
                  <a:srgbClr val="A33D2E"/>
                </a:solidFill>
                <a:latin typeface="Arial"/>
                <a:ea typeface="Arial"/>
                <a:cs typeface="Arial"/>
              </a:defRPr>
            </a:pPr>
            <a:r>
              <a:rPr sz="2700" b="1" i="0">
                <a:solidFill>
                  <a:srgbClr val="A33D2E"/>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D14FB1DE-C05E-4180-8682-93AA881FA1C1}"/>
              </a:ext>
            </a:extLst>
          </p:cNvPr>
          <p:cNvSpPr>
            <a:spLocks xmlns:a="http://schemas.openxmlformats.org/drawingml/2006/main" noGrp="1"/>
          </p:cNvSpPr>
          <p:nvPr/>
        </p:nvSpPr>
        <p:spPr>
          <a:xfrm xmlns:a="http://schemas.openxmlformats.org/drawingml/2006/main">
            <a:off x="8839200" y="4076700"/>
            <a:ext cx="2400300" cy="1304925"/>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42" name="">
            <a:extLst xmlns:a="http://schemas.openxmlformats.org/drawingml/2006/main">
              <a:ext uri="{FF2B5EF4-FFF2-40B4-BE49-F238E27FC236}">
                <a16:creationId xmlns:a16="http://schemas.microsoft.com/office/drawing/2014/main" id="{C21CC75F-4E16-4143-844F-20AEE19371E4}"/>
              </a:ext>
            </a:extLst>
          </p:cNvPr>
          <p:cNvSpPr>
            <a:spLocks xmlns:a="http://schemas.openxmlformats.org/drawingml/2006/main" noGrp="1"/>
          </p:cNvSpPr>
          <p:nvPr/>
        </p:nvSpPr>
        <p:spPr>
          <a:xfrm xmlns:a="http://schemas.openxmlformats.org/drawingml/2006/main">
            <a:off x="8991600" y="4210050"/>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04</a:t>
            </a:r>
          </a:p>
        </p:txBody>
      </p:sp>
      <p:sp>
        <p:nvSpPr>
          <p:cNvPr id="43" name="">
            <a:extLst xmlns:a="http://schemas.openxmlformats.org/drawingml/2006/main">
              <a:ext uri="{FF2B5EF4-FFF2-40B4-BE49-F238E27FC236}">
                <a16:creationId xmlns:a16="http://schemas.microsoft.com/office/drawing/2014/main" id="{6E34CCF7-9E35-4B76-A42A-27D2E46A1C3B}"/>
              </a:ext>
            </a:extLst>
          </p:cNvPr>
          <p:cNvSpPr>
            <a:spLocks xmlns:a="http://schemas.openxmlformats.org/drawingml/2006/main" noGrp="1"/>
          </p:cNvSpPr>
          <p:nvPr/>
        </p:nvSpPr>
        <p:spPr>
          <a:xfrm xmlns:a="http://schemas.openxmlformats.org/drawingml/2006/main">
            <a:off x="8991600" y="44577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FFFFFF"/>
                </a:solidFill>
                <a:latin typeface="Arial"/>
                <a:ea typeface="Arial"/>
                <a:cs typeface="Arial"/>
              </a:defRPr>
            </a:pPr>
            <a:r>
              <a:rPr sz="1425" b="1" i="0">
                <a:solidFill>
                  <a:srgbClr val="FFFFFF"/>
                </a:solidFill>
                <a:latin typeface="Arial"/>
                <a:ea typeface="Arial"/>
                <a:cs typeface="Arial"/>
              </a:rPr>
              <a:t>Financial risk engine</a:t>
            </a:r>
          </a:p>
        </p:txBody>
      </p:sp>
      <p:sp>
        <p:nvSpPr>
          <p:cNvPr id="44" name="">
            <a:extLst xmlns:a="http://schemas.openxmlformats.org/drawingml/2006/main">
              <a:ext uri="{FF2B5EF4-FFF2-40B4-BE49-F238E27FC236}">
                <a16:creationId xmlns:a16="http://schemas.microsoft.com/office/drawing/2014/main" id="{62672419-B5C6-4334-9010-F7BD7E357A2B}"/>
              </a:ext>
            </a:extLst>
          </p:cNvPr>
          <p:cNvSpPr>
            <a:spLocks xmlns:a="http://schemas.openxmlformats.org/drawingml/2006/main" noGrp="1"/>
          </p:cNvSpPr>
          <p:nvPr/>
        </p:nvSpPr>
        <p:spPr>
          <a:xfrm xmlns:a="http://schemas.openxmlformats.org/drawingml/2006/main">
            <a:off x="8991600" y="48482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i="0">
                <a:solidFill>
                  <a:srgbClr val="F7EAE7"/>
                </a:solidFill>
                <a:latin typeface="Arial"/>
                <a:ea typeface="Arial"/>
                <a:cs typeface="Arial"/>
              </a:defRPr>
            </a:pPr>
            <a:r>
              <a:rPr sz="1050" b="0" i="0">
                <a:solidFill>
                  <a:srgbClr val="F7EAE7"/>
                </a:solidFill>
                <a:latin typeface="Arial"/>
                <a:ea typeface="Arial"/>
                <a:cs typeface="Arial"/>
              </a:rPr>
              <a:t>Volatility forecasts, scenarios, VaR and expected shortfall</a:t>
            </a:r>
          </a:p>
        </p:txBody>
      </p:sp>
      <p:sp>
        <p:nvSpPr>
          <p:cNvPr id="45" name="">
            <a:extLst xmlns:a="http://schemas.openxmlformats.org/drawingml/2006/main">
              <a:ext uri="{FF2B5EF4-FFF2-40B4-BE49-F238E27FC236}">
                <a16:creationId xmlns:a16="http://schemas.microsoft.com/office/drawing/2014/main" id="{07B33F9C-D609-40C8-B6A2-A6E1906B5A42}"/>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46" name="">
            <a:extLst xmlns:a="http://schemas.openxmlformats.org/drawingml/2006/main">
              <a:ext uri="{FF2B5EF4-FFF2-40B4-BE49-F238E27FC236}">
                <a16:creationId xmlns:a16="http://schemas.microsoft.com/office/drawing/2014/main" id="{EFA1C85F-C0F0-439D-A1E1-1726D5F3F997}"/>
              </a:ext>
            </a:extLst>
          </p:cNvPr>
          <p:cNvSpPr>
            <a:spLocks xmlns:a="http://schemas.openxmlformats.org/drawingml/2006/main" noGrp="1"/>
          </p:cNvSpPr>
          <p:nvPr/>
        </p:nvSpPr>
        <p:spPr>
          <a:xfrm xmlns:a="http://schemas.openxmlformats.org/drawingml/2006/main">
            <a:off x="609600" y="58293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RESEARCH OUTPUT</a:t>
            </a:r>
          </a:p>
        </p:txBody>
      </p:sp>
      <p:sp>
        <p:nvSpPr>
          <p:cNvPr id="47" name="">
            <a:extLst xmlns:a="http://schemas.openxmlformats.org/drawingml/2006/main">
              <a:ext uri="{FF2B5EF4-FFF2-40B4-BE49-F238E27FC236}">
                <a16:creationId xmlns:a16="http://schemas.microsoft.com/office/drawing/2014/main" id="{FB6C1D00-620C-4483-BF14-BBBAEE3E57E7}"/>
              </a:ext>
            </a:extLst>
          </p:cNvPr>
          <p:cNvSpPr>
            <a:spLocks xmlns:a="http://schemas.openxmlformats.org/drawingml/2006/main" noGrp="1"/>
          </p:cNvSpPr>
          <p:nvPr/>
        </p:nvSpPr>
        <p:spPr>
          <a:xfrm xmlns:a="http://schemas.openxmlformats.org/drawingml/2006/main">
            <a:off x="2266950" y="5781675"/>
            <a:ext cx="931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A1A1A"/>
                </a:solidFill>
                <a:latin typeface="Arial"/>
                <a:ea typeface="Arial"/>
                <a:cs typeface="Arial"/>
              </a:defRPr>
            </a:pPr>
            <a:r>
              <a:rPr sz="1575" b="1" i="0">
                <a:solidFill>
                  <a:srgbClr val="1A1A1A"/>
                </a:solidFill>
                <a:latin typeface="Arial"/>
                <a:ea typeface="Arial"/>
                <a:cs typeface="Arial"/>
              </a:rPr>
              <a:t>Does prediction-market information improve out-of-sample asset volatility forecasts?</a:t>
            </a:r>
          </a:p>
        </p:txBody>
      </p:sp>
    </p:spTree>
    <p:extLst>
      <p:ext uri="{BB962C8B-B14F-4D97-AF65-F5344CB8AC3E}">
        <p14:creationId xmlns:p14="http://schemas.microsoft.com/office/powerpoint/2010/main" val="1242860157"/>
      </p:ext>
    </p:extLst>
  </p:cSld>
</p:sld>
</file>

<file path=ppt/slides/slide4.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3BE47E2-6993-4132-BE64-B7A1CF257CA7}"/>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RESEARCH BOUNDARY</a:t>
            </a:r>
          </a:p>
        </p:txBody>
      </p:sp>
      <p:sp>
        <p:nvSpPr>
          <p:cNvPr id="2" name="">
            <a:extLst xmlns:a="http://schemas.openxmlformats.org/drawingml/2006/main">
              <a:ext uri="{FF2B5EF4-FFF2-40B4-BE49-F238E27FC236}">
                <a16:creationId xmlns:a16="http://schemas.microsoft.com/office/drawing/2014/main" id="{779C0405-368D-420E-B039-BE7A9C037B2B}"/>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A narrow MVP keeps the test credible</a:t>
            </a:r>
          </a:p>
        </p:txBody>
      </p:sp>
      <p:sp>
        <p:nvSpPr>
          <p:cNvPr id="3" name="">
            <a:extLst xmlns:a="http://schemas.openxmlformats.org/drawingml/2006/main">
              <a:ext uri="{FF2B5EF4-FFF2-40B4-BE49-F238E27FC236}">
                <a16:creationId xmlns:a16="http://schemas.microsoft.com/office/drawing/2014/main" id="{77CAD464-60AB-455B-97C4-B2F9EA34F064}"/>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A112D688-0618-4383-B41D-6EEFF1A6A07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4AA73086-0E21-4E87-B64A-2BF129E7FDD8}"/>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96981CB8-DD51-4A27-86B2-A18A32D95FA1}"/>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04 / 08</a:t>
            </a:r>
          </a:p>
        </p:txBody>
      </p:sp>
      <p:sp>
        <p:nvSpPr>
          <p:cNvPr id="7" name="">
            <a:extLst xmlns:a="http://schemas.openxmlformats.org/drawingml/2006/main">
              <a:ext uri="{FF2B5EF4-FFF2-40B4-BE49-F238E27FC236}">
                <a16:creationId xmlns:a16="http://schemas.microsoft.com/office/drawing/2014/main" id="{A56051C2-B98B-442A-8D2A-92F510A51EF2}"/>
              </a:ext>
            </a:extLst>
          </p:cNvPr>
          <p:cNvSpPr>
            <a:spLocks xmlns:a="http://schemas.openxmlformats.org/drawingml/2006/main" noGrp="1"/>
          </p:cNvSpPr>
          <p:nvPr/>
        </p:nvSpPr>
        <p:spPr>
          <a:xfrm xmlns:a="http://schemas.openxmlformats.org/drawingml/2006/main">
            <a:off x="609600" y="1790700"/>
            <a:ext cx="670560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8" name="">
            <a:extLst xmlns:a="http://schemas.openxmlformats.org/drawingml/2006/main">
              <a:ext uri="{FF2B5EF4-FFF2-40B4-BE49-F238E27FC236}">
                <a16:creationId xmlns:a16="http://schemas.microsoft.com/office/drawing/2014/main" id="{750D3969-3AE8-48F3-9DE5-2B6C4C5FEE17}"/>
              </a:ext>
            </a:extLst>
          </p:cNvPr>
          <p:cNvSpPr>
            <a:spLocks xmlns:a="http://schemas.openxmlformats.org/drawingml/2006/main" noGrp="1"/>
          </p:cNvSpPr>
          <p:nvPr/>
        </p:nvSpPr>
        <p:spPr>
          <a:xfrm xmlns:a="http://schemas.openxmlformats.org/drawingml/2006/main">
            <a:off x="647700" y="19716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VENUE</a:t>
            </a:r>
          </a:p>
        </p:txBody>
      </p:sp>
      <p:sp>
        <p:nvSpPr>
          <p:cNvPr id="9" name="">
            <a:extLst xmlns:a="http://schemas.openxmlformats.org/drawingml/2006/main">
              <a:ext uri="{FF2B5EF4-FFF2-40B4-BE49-F238E27FC236}">
                <a16:creationId xmlns:a16="http://schemas.microsoft.com/office/drawing/2014/main" id="{D24A8E26-A250-4D99-A536-3A9B91609AED}"/>
              </a:ext>
            </a:extLst>
          </p:cNvPr>
          <p:cNvSpPr>
            <a:spLocks xmlns:a="http://schemas.openxmlformats.org/drawingml/2006/main" noGrp="1"/>
          </p:cNvSpPr>
          <p:nvPr/>
        </p:nvSpPr>
        <p:spPr>
          <a:xfrm xmlns:a="http://schemas.openxmlformats.org/drawingml/2006/main">
            <a:off x="2324100" y="19050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Polymarket on Polygon</a:t>
            </a:r>
          </a:p>
        </p:txBody>
      </p:sp>
      <p:sp>
        <p:nvSpPr>
          <p:cNvPr id="10" name="">
            <a:extLst xmlns:a="http://schemas.openxmlformats.org/drawingml/2006/main">
              <a:ext uri="{FF2B5EF4-FFF2-40B4-BE49-F238E27FC236}">
                <a16:creationId xmlns:a16="http://schemas.microsoft.com/office/drawing/2014/main" id="{91B182CF-3231-4937-B342-B7215D355367}"/>
              </a:ext>
            </a:extLst>
          </p:cNvPr>
          <p:cNvSpPr>
            <a:spLocks xmlns:a="http://schemas.openxmlformats.org/drawingml/2006/main" noGrp="1"/>
          </p:cNvSpPr>
          <p:nvPr/>
        </p:nvSpPr>
        <p:spPr>
          <a:xfrm xmlns:a="http://schemas.openxmlformats.org/drawingml/2006/main">
            <a:off x="609600" y="24955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1" name="">
            <a:extLst xmlns:a="http://schemas.openxmlformats.org/drawingml/2006/main">
              <a:ext uri="{FF2B5EF4-FFF2-40B4-BE49-F238E27FC236}">
                <a16:creationId xmlns:a16="http://schemas.microsoft.com/office/drawing/2014/main" id="{57B0FD69-958E-49A2-BEB8-ECF709251E0C}"/>
              </a:ext>
            </a:extLst>
          </p:cNvPr>
          <p:cNvSpPr>
            <a:spLocks xmlns:a="http://schemas.openxmlformats.org/drawingml/2006/main" noGrp="1"/>
          </p:cNvSpPr>
          <p:nvPr/>
        </p:nvSpPr>
        <p:spPr>
          <a:xfrm xmlns:a="http://schemas.openxmlformats.org/drawingml/2006/main">
            <a:off x="647700" y="267652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EVENTS</a:t>
            </a:r>
          </a:p>
        </p:txBody>
      </p:sp>
      <p:sp>
        <p:nvSpPr>
          <p:cNvPr id="12" name="">
            <a:extLst xmlns:a="http://schemas.openxmlformats.org/drawingml/2006/main">
              <a:ext uri="{FF2B5EF4-FFF2-40B4-BE49-F238E27FC236}">
                <a16:creationId xmlns:a16="http://schemas.microsoft.com/office/drawing/2014/main" id="{90BAEDA9-4430-4EDD-A68E-E90B41BE8FE7}"/>
              </a:ext>
            </a:extLst>
          </p:cNvPr>
          <p:cNvSpPr>
            <a:spLocks xmlns:a="http://schemas.openxmlformats.org/drawingml/2006/main" noGrp="1"/>
          </p:cNvSpPr>
          <p:nvPr/>
        </p:nvSpPr>
        <p:spPr>
          <a:xfrm xmlns:a="http://schemas.openxmlformats.org/drawingml/2006/main">
            <a:off x="2324100" y="26098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Federal Reserve rate decisions</a:t>
            </a:r>
          </a:p>
        </p:txBody>
      </p:sp>
      <p:sp>
        <p:nvSpPr>
          <p:cNvPr id="13" name="">
            <a:extLst xmlns:a="http://schemas.openxmlformats.org/drawingml/2006/main">
              <a:ext uri="{FF2B5EF4-FFF2-40B4-BE49-F238E27FC236}">
                <a16:creationId xmlns:a16="http://schemas.microsoft.com/office/drawing/2014/main" id="{0053D89F-1E4C-4F31-9026-F9C8A2FFD9F4}"/>
              </a:ext>
            </a:extLst>
          </p:cNvPr>
          <p:cNvSpPr>
            <a:spLocks xmlns:a="http://schemas.openxmlformats.org/drawingml/2006/main" noGrp="1"/>
          </p:cNvSpPr>
          <p:nvPr/>
        </p:nvSpPr>
        <p:spPr>
          <a:xfrm xmlns:a="http://schemas.openxmlformats.org/drawingml/2006/main">
            <a:off x="609600" y="320040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4" name="">
            <a:extLst xmlns:a="http://schemas.openxmlformats.org/drawingml/2006/main">
              <a:ext uri="{FF2B5EF4-FFF2-40B4-BE49-F238E27FC236}">
                <a16:creationId xmlns:a16="http://schemas.microsoft.com/office/drawing/2014/main" id="{D453D9C4-2215-4317-A934-EFB7F0D4469B}"/>
              </a:ext>
            </a:extLst>
          </p:cNvPr>
          <p:cNvSpPr>
            <a:spLocks xmlns:a="http://schemas.openxmlformats.org/drawingml/2006/main" noGrp="1"/>
          </p:cNvSpPr>
          <p:nvPr/>
        </p:nvSpPr>
        <p:spPr>
          <a:xfrm xmlns:a="http://schemas.openxmlformats.org/drawingml/2006/main">
            <a:off x="647700" y="33813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ASSETS</a:t>
            </a:r>
          </a:p>
        </p:txBody>
      </p:sp>
      <p:sp>
        <p:nvSpPr>
          <p:cNvPr id="15" name="">
            <a:extLst xmlns:a="http://schemas.openxmlformats.org/drawingml/2006/main">
              <a:ext uri="{FF2B5EF4-FFF2-40B4-BE49-F238E27FC236}">
                <a16:creationId xmlns:a16="http://schemas.microsoft.com/office/drawing/2014/main" id="{3E37EC34-E014-4EE4-A2ED-FD052C785828}"/>
              </a:ext>
            </a:extLst>
          </p:cNvPr>
          <p:cNvSpPr>
            <a:spLocks xmlns:a="http://schemas.openxmlformats.org/drawingml/2006/main" noGrp="1"/>
          </p:cNvSpPr>
          <p:nvPr/>
        </p:nvSpPr>
        <p:spPr>
          <a:xfrm xmlns:a="http://schemas.openxmlformats.org/drawingml/2006/main">
            <a:off x="2324100" y="33147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Major indices and ETFs</a:t>
            </a:r>
          </a:p>
        </p:txBody>
      </p:sp>
      <p:sp>
        <p:nvSpPr>
          <p:cNvPr id="16" name="">
            <a:extLst xmlns:a="http://schemas.openxmlformats.org/drawingml/2006/main">
              <a:ext uri="{FF2B5EF4-FFF2-40B4-BE49-F238E27FC236}">
                <a16:creationId xmlns:a16="http://schemas.microsoft.com/office/drawing/2014/main" id="{70C8F9FC-96A5-47B6-95A2-31EC8E9CFB5F}"/>
              </a:ext>
            </a:extLst>
          </p:cNvPr>
          <p:cNvSpPr>
            <a:spLocks xmlns:a="http://schemas.openxmlformats.org/drawingml/2006/main" noGrp="1"/>
          </p:cNvSpPr>
          <p:nvPr/>
        </p:nvSpPr>
        <p:spPr>
          <a:xfrm xmlns:a="http://schemas.openxmlformats.org/drawingml/2006/main">
            <a:off x="609600" y="39052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7" name="">
            <a:extLst xmlns:a="http://schemas.openxmlformats.org/drawingml/2006/main">
              <a:ext uri="{FF2B5EF4-FFF2-40B4-BE49-F238E27FC236}">
                <a16:creationId xmlns:a16="http://schemas.microsoft.com/office/drawing/2014/main" id="{44ADCFA4-1905-40E7-904F-EDE2663BF9D3}"/>
              </a:ext>
            </a:extLst>
          </p:cNvPr>
          <p:cNvSpPr>
            <a:spLocks xmlns:a="http://schemas.openxmlformats.org/drawingml/2006/main" noGrp="1"/>
          </p:cNvSpPr>
          <p:nvPr/>
        </p:nvSpPr>
        <p:spPr>
          <a:xfrm xmlns:a="http://schemas.openxmlformats.org/drawingml/2006/main">
            <a:off x="647700" y="408622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HORIZONS</a:t>
            </a:r>
          </a:p>
        </p:txBody>
      </p:sp>
      <p:sp>
        <p:nvSpPr>
          <p:cNvPr id="18" name="">
            <a:extLst xmlns:a="http://schemas.openxmlformats.org/drawingml/2006/main">
              <a:ext uri="{FF2B5EF4-FFF2-40B4-BE49-F238E27FC236}">
                <a16:creationId xmlns:a16="http://schemas.microsoft.com/office/drawing/2014/main" id="{D5E42479-A146-4C8C-A0D1-6E4099BB6257}"/>
              </a:ext>
            </a:extLst>
          </p:cNvPr>
          <p:cNvSpPr>
            <a:spLocks xmlns:a="http://schemas.openxmlformats.org/drawingml/2006/main" noGrp="1"/>
          </p:cNvSpPr>
          <p:nvPr/>
        </p:nvSpPr>
        <p:spPr>
          <a:xfrm xmlns:a="http://schemas.openxmlformats.org/drawingml/2006/main">
            <a:off x="2324100" y="40195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1, 5 and 20 trading days</a:t>
            </a:r>
          </a:p>
        </p:txBody>
      </p:sp>
      <p:sp>
        <p:nvSpPr>
          <p:cNvPr id="19" name="">
            <a:extLst xmlns:a="http://schemas.openxmlformats.org/drawingml/2006/main">
              <a:ext uri="{FF2B5EF4-FFF2-40B4-BE49-F238E27FC236}">
                <a16:creationId xmlns:a16="http://schemas.microsoft.com/office/drawing/2014/main" id="{E48F188B-1F5C-4683-93F0-F80F8A9286FA}"/>
              </a:ext>
            </a:extLst>
          </p:cNvPr>
          <p:cNvSpPr>
            <a:spLocks xmlns:a="http://schemas.openxmlformats.org/drawingml/2006/main" noGrp="1"/>
          </p:cNvSpPr>
          <p:nvPr/>
        </p:nvSpPr>
        <p:spPr>
          <a:xfrm xmlns:a="http://schemas.openxmlformats.org/drawingml/2006/main">
            <a:off x="609600" y="461010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20" name="">
            <a:extLst xmlns:a="http://schemas.openxmlformats.org/drawingml/2006/main">
              <a:ext uri="{FF2B5EF4-FFF2-40B4-BE49-F238E27FC236}">
                <a16:creationId xmlns:a16="http://schemas.microsoft.com/office/drawing/2014/main" id="{C3A58937-CD5E-4380-A8B3-A249EE91A1A8}"/>
              </a:ext>
            </a:extLst>
          </p:cNvPr>
          <p:cNvSpPr>
            <a:spLocks xmlns:a="http://schemas.openxmlformats.org/drawingml/2006/main" noGrp="1"/>
          </p:cNvSpPr>
          <p:nvPr/>
        </p:nvSpPr>
        <p:spPr>
          <a:xfrm xmlns:a="http://schemas.openxmlformats.org/drawingml/2006/main">
            <a:off x="647700" y="47910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WALLET MODEL</a:t>
            </a:r>
          </a:p>
        </p:txBody>
      </p:sp>
      <p:sp>
        <p:nvSpPr>
          <p:cNvPr id="21" name="">
            <a:extLst xmlns:a="http://schemas.openxmlformats.org/drawingml/2006/main">
              <a:ext uri="{FF2B5EF4-FFF2-40B4-BE49-F238E27FC236}">
                <a16:creationId xmlns:a16="http://schemas.microsoft.com/office/drawing/2014/main" id="{DA1771CC-5FAC-424A-BA58-491F07C1B5AE}"/>
              </a:ext>
            </a:extLst>
          </p:cNvPr>
          <p:cNvSpPr>
            <a:spLocks xmlns:a="http://schemas.openxmlformats.org/drawingml/2006/main" noGrp="1"/>
          </p:cNvSpPr>
          <p:nvPr/>
        </p:nvSpPr>
        <p:spPr>
          <a:xfrm xmlns:a="http://schemas.openxmlformats.org/drawingml/2006/main">
            <a:off x="2324100" y="47244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Address-level, past-only scoring</a:t>
            </a:r>
          </a:p>
        </p:txBody>
      </p:sp>
      <p:sp>
        <p:nvSpPr>
          <p:cNvPr id="22" name="">
            <a:extLst xmlns:a="http://schemas.openxmlformats.org/drawingml/2006/main">
              <a:ext uri="{FF2B5EF4-FFF2-40B4-BE49-F238E27FC236}">
                <a16:creationId xmlns:a16="http://schemas.microsoft.com/office/drawing/2014/main" id="{434CE279-6F6D-4422-B5CA-799C0F623929}"/>
              </a:ext>
            </a:extLst>
          </p:cNvPr>
          <p:cNvSpPr>
            <a:spLocks xmlns:a="http://schemas.openxmlformats.org/drawingml/2006/main" noGrp="1"/>
          </p:cNvSpPr>
          <p:nvPr/>
        </p:nvSpPr>
        <p:spPr>
          <a:xfrm xmlns:a="http://schemas.openxmlformats.org/drawingml/2006/main">
            <a:off x="609600" y="53149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23" name="">
            <a:extLst xmlns:a="http://schemas.openxmlformats.org/drawingml/2006/main">
              <a:ext uri="{FF2B5EF4-FFF2-40B4-BE49-F238E27FC236}">
                <a16:creationId xmlns:a16="http://schemas.microsoft.com/office/drawing/2014/main" id="{8BB10E61-78F0-4FF1-AC0E-D767AEFA7FED}"/>
              </a:ext>
            </a:extLst>
          </p:cNvPr>
          <p:cNvSpPr>
            <a:spLocks xmlns:a="http://schemas.openxmlformats.org/drawingml/2006/main" noGrp="1"/>
          </p:cNvSpPr>
          <p:nvPr/>
        </p:nvSpPr>
        <p:spPr>
          <a:xfrm xmlns:a="http://schemas.openxmlformats.org/drawingml/2006/main">
            <a:off x="7791450" y="1809750"/>
            <a:ext cx="3790950" cy="1552575"/>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24" name="">
            <a:extLst xmlns:a="http://schemas.openxmlformats.org/drawingml/2006/main">
              <a:ext uri="{FF2B5EF4-FFF2-40B4-BE49-F238E27FC236}">
                <a16:creationId xmlns:a16="http://schemas.microsoft.com/office/drawing/2014/main" id="{FF7989B6-52A8-411B-BF7C-A9EE4EA1BB74}"/>
              </a:ext>
            </a:extLst>
          </p:cNvPr>
          <p:cNvSpPr>
            <a:spLocks xmlns:a="http://schemas.openxmlformats.org/drawingml/2006/main" noGrp="1"/>
          </p:cNvSpPr>
          <p:nvPr/>
        </p:nvSpPr>
        <p:spPr>
          <a:xfrm xmlns:a="http://schemas.openxmlformats.org/drawingml/2006/main">
            <a:off x="8039100" y="20383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SUCCESS CRITERION</a:t>
            </a:r>
          </a:p>
        </p:txBody>
      </p:sp>
      <p:sp>
        <p:nvSpPr>
          <p:cNvPr id="25" name="">
            <a:extLst xmlns:a="http://schemas.openxmlformats.org/drawingml/2006/main">
              <a:ext uri="{FF2B5EF4-FFF2-40B4-BE49-F238E27FC236}">
                <a16:creationId xmlns:a16="http://schemas.microsoft.com/office/drawing/2014/main" id="{2249D008-F16A-4E05-A915-328543E12E25}"/>
              </a:ext>
            </a:extLst>
          </p:cNvPr>
          <p:cNvSpPr>
            <a:spLocks xmlns:a="http://schemas.openxmlformats.org/drawingml/2006/main" noGrp="1"/>
          </p:cNvSpPr>
          <p:nvPr/>
        </p:nvSpPr>
        <p:spPr>
          <a:xfrm xmlns:a="http://schemas.openxmlformats.org/drawingml/2006/main">
            <a:off x="8039100" y="2409825"/>
            <a:ext cx="3295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644"/>
          </a:bodyPr>
          <a:lstStyle xmlns:a="http://schemas.openxmlformats.org/drawingml/2006/main"/>
          <a:p xmlns:a="http://schemas.openxmlformats.org/drawingml/2006/main">
            <a:pPr algn="l">
              <a:defRPr sz="1950" b="1" i="0">
                <a:solidFill>
                  <a:srgbClr val="FFFFFF"/>
                </a:solidFill>
                <a:latin typeface="Arial"/>
                <a:ea typeface="Arial"/>
                <a:cs typeface="Arial"/>
              </a:defRPr>
            </a:pPr>
            <a:r>
              <a:rPr sz="1950" b="1" i="0">
                <a:solidFill>
                  <a:srgbClr val="FFFFFF"/>
                </a:solidFill>
                <a:latin typeface="Arial"/>
                <a:ea typeface="Arial"/>
                <a:cs typeface="Arial"/>
              </a:rPr>
              <a:t>Incremental predictive value against a fixed volatility baseline</a:t>
            </a:r>
          </a:p>
        </p:txBody>
      </p:sp>
      <p:sp>
        <p:nvSpPr>
          <p:cNvPr id="26" name="">
            <a:extLst xmlns:a="http://schemas.openxmlformats.org/drawingml/2006/main">
              <a:ext uri="{FF2B5EF4-FFF2-40B4-BE49-F238E27FC236}">
                <a16:creationId xmlns:a16="http://schemas.microsoft.com/office/drawing/2014/main" id="{AA64C43F-084E-49AD-AAFE-E3643F8C3F01}"/>
              </a:ext>
            </a:extLst>
          </p:cNvPr>
          <p:cNvSpPr>
            <a:spLocks xmlns:a="http://schemas.openxmlformats.org/drawingml/2006/main" noGrp="1"/>
          </p:cNvSpPr>
          <p:nvPr/>
        </p:nvSpPr>
        <p:spPr>
          <a:xfrm xmlns:a="http://schemas.openxmlformats.org/drawingml/2006/main">
            <a:off x="7791450" y="3724275"/>
            <a:ext cx="379095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27" name="">
            <a:extLst xmlns:a="http://schemas.openxmlformats.org/drawingml/2006/main">
              <a:ext uri="{FF2B5EF4-FFF2-40B4-BE49-F238E27FC236}">
                <a16:creationId xmlns:a16="http://schemas.microsoft.com/office/drawing/2014/main" id="{A890039A-C29B-4BC2-9995-46B64D1A9043}"/>
              </a:ext>
            </a:extLst>
          </p:cNvPr>
          <p:cNvSpPr>
            <a:spLocks xmlns:a="http://schemas.openxmlformats.org/drawingml/2006/main" noGrp="1"/>
          </p:cNvSpPr>
          <p:nvPr/>
        </p:nvSpPr>
        <p:spPr>
          <a:xfrm xmlns:a="http://schemas.openxmlformats.org/drawingml/2006/main">
            <a:off x="7791450" y="3914775"/>
            <a:ext cx="3790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Extensions wait for evidence</a:t>
            </a:r>
          </a:p>
        </p:txBody>
      </p:sp>
      <p:sp>
        <p:nvSpPr>
          <p:cNvPr id="28" name="">
            <a:extLst xmlns:a="http://schemas.openxmlformats.org/drawingml/2006/main">
              <a:ext uri="{FF2B5EF4-FFF2-40B4-BE49-F238E27FC236}">
                <a16:creationId xmlns:a16="http://schemas.microsoft.com/office/drawing/2014/main" id="{9FB6F71F-3010-4096-A10E-15AAB56DDA3E}"/>
              </a:ext>
            </a:extLst>
          </p:cNvPr>
          <p:cNvSpPr>
            <a:spLocks xmlns:a="http://schemas.openxmlformats.org/drawingml/2006/main" noGrp="1"/>
          </p:cNvSpPr>
          <p:nvPr/>
        </p:nvSpPr>
        <p:spPr>
          <a:xfrm xmlns:a="http://schemas.openxmlformats.org/drawingml/2006/main">
            <a:off x="7791450" y="4400550"/>
            <a:ext cx="379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55555"/>
                </a:solidFill>
                <a:latin typeface="Arial"/>
                <a:ea typeface="Arial"/>
                <a:cs typeface="Arial"/>
              </a:defRPr>
            </a:pPr>
            <a:r>
              <a:rPr sz="1350" b="0" i="0">
                <a:solidFill>
                  <a:srgbClr val="555555"/>
                </a:solidFill>
                <a:latin typeface="Arial"/>
                <a:ea typeface="Arial"/>
                <a:cs typeface="Arial"/>
              </a:rPr>
              <a:t>Other event classes, individual equities, cross-platform data and entity clustering remain outside the first validation cycle.</a:t>
            </a:r>
          </a:p>
        </p:txBody>
      </p:sp>
    </p:spTree>
    <p:extLst>
      <p:ext uri="{BB962C8B-B14F-4D97-AF65-F5344CB8AC3E}">
        <p14:creationId xmlns:p14="http://schemas.microsoft.com/office/powerpoint/2010/main" val="740183784"/>
      </p:ext>
    </p:extLst>
  </p:cSld>
</p:sld>
</file>

<file path=ppt/slides/slide5.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46B13B0-82B2-427F-B303-BC8D889E246A}"/>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PROBABILITY RESEARCH</a:t>
            </a:r>
          </a:p>
        </p:txBody>
      </p:sp>
      <p:sp>
        <p:nvSpPr>
          <p:cNvPr id="2" name="">
            <a:extLst xmlns:a="http://schemas.openxmlformats.org/drawingml/2006/main">
              <a:ext uri="{FF2B5EF4-FFF2-40B4-BE49-F238E27FC236}">
                <a16:creationId xmlns:a16="http://schemas.microsoft.com/office/drawing/2014/main" id="{3BBA3C50-F838-4119-8C56-224FC92CD900}"/>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Wallet evidence must earn its weight</a:t>
            </a:r>
          </a:p>
        </p:txBody>
      </p:sp>
      <p:sp>
        <p:nvSpPr>
          <p:cNvPr id="3" name="">
            <a:extLst xmlns:a="http://schemas.openxmlformats.org/drawingml/2006/main">
              <a:ext uri="{FF2B5EF4-FFF2-40B4-BE49-F238E27FC236}">
                <a16:creationId xmlns:a16="http://schemas.microsoft.com/office/drawing/2014/main" id="{981A6177-C67D-407C-B9DF-766CB7472313}"/>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A0F1527B-E32D-424F-82AC-849EEE15C59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8DFEF161-F000-485F-8C4D-8D684ECE99A0}"/>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652E945E-0626-4E1B-BF7C-48C014CB834A}"/>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05 / 08</a:t>
            </a:r>
          </a:p>
        </p:txBody>
      </p:sp>
      <p:sp>
        <p:nvSpPr>
          <p:cNvPr id="7" name="">
            <a:extLst xmlns:a="http://schemas.openxmlformats.org/drawingml/2006/main">
              <a:ext uri="{FF2B5EF4-FFF2-40B4-BE49-F238E27FC236}">
                <a16:creationId xmlns:a16="http://schemas.microsoft.com/office/drawing/2014/main" id="{143E8EFD-4DBB-4EFD-BB0D-F4C36DC5062B}"/>
              </a:ext>
            </a:extLst>
          </p:cNvPr>
          <p:cNvSpPr>
            <a:spLocks xmlns:a="http://schemas.openxmlformats.org/drawingml/2006/main" noGrp="1"/>
          </p:cNvSpPr>
          <p:nvPr/>
        </p:nvSpPr>
        <p:spPr>
          <a:xfrm xmlns:a="http://schemas.openxmlformats.org/drawingml/2006/main">
            <a:off x="6096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8" name="">
            <a:extLst xmlns:a="http://schemas.openxmlformats.org/drawingml/2006/main">
              <a:ext uri="{FF2B5EF4-FFF2-40B4-BE49-F238E27FC236}">
                <a16:creationId xmlns:a16="http://schemas.microsoft.com/office/drawing/2014/main" id="{B9AF4C69-CF6B-4B19-80E0-1A2317C3C7F4}"/>
              </a:ext>
            </a:extLst>
          </p:cNvPr>
          <p:cNvSpPr>
            <a:spLocks xmlns:a="http://schemas.openxmlformats.org/drawingml/2006/main" noGrp="1"/>
          </p:cNvSpPr>
          <p:nvPr/>
        </p:nvSpPr>
        <p:spPr>
          <a:xfrm xmlns:a="http://schemas.openxmlformats.org/drawingml/2006/main">
            <a:off x="6096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AFC1C28D-3AEB-418C-83F5-D3A1EEF9B5AB}"/>
              </a:ext>
            </a:extLst>
          </p:cNvPr>
          <p:cNvSpPr>
            <a:spLocks xmlns:a="http://schemas.openxmlformats.org/drawingml/2006/main" noGrp="1"/>
          </p:cNvSpPr>
          <p:nvPr/>
        </p:nvSpPr>
        <p:spPr>
          <a:xfrm xmlns:a="http://schemas.openxmlformats.org/drawingml/2006/main">
            <a:off x="6096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Consolidate decisions</a:t>
            </a:r>
          </a:p>
        </p:txBody>
      </p:sp>
      <p:sp>
        <p:nvSpPr>
          <p:cNvPr id="10" name="">
            <a:extLst xmlns:a="http://schemas.openxmlformats.org/drawingml/2006/main">
              <a:ext uri="{FF2B5EF4-FFF2-40B4-BE49-F238E27FC236}">
                <a16:creationId xmlns:a16="http://schemas.microsoft.com/office/drawing/2014/main" id="{51A696F7-6E30-46C3-ACE5-35EDE1ED13AB}"/>
              </a:ext>
            </a:extLst>
          </p:cNvPr>
          <p:cNvSpPr>
            <a:spLocks xmlns:a="http://schemas.openxmlformats.org/drawingml/2006/main" noGrp="1"/>
          </p:cNvSpPr>
          <p:nvPr/>
        </p:nvSpPr>
        <p:spPr>
          <a:xfrm xmlns:a="http://schemas.openxmlformats.org/drawingml/2006/main">
            <a:off x="6096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Separate directional exposure from balanced YES and NO holdings.</a:t>
            </a:r>
          </a:p>
        </p:txBody>
      </p:sp>
      <p:sp>
        <p:nvSpPr>
          <p:cNvPr id="11" name="">
            <a:extLst xmlns:a="http://schemas.openxmlformats.org/drawingml/2006/main">
              <a:ext uri="{FF2B5EF4-FFF2-40B4-BE49-F238E27FC236}">
                <a16:creationId xmlns:a16="http://schemas.microsoft.com/office/drawing/2014/main" id="{1B16E806-8FDC-46A7-A889-6C916FC7F27C}"/>
              </a:ext>
            </a:extLst>
          </p:cNvPr>
          <p:cNvSpPr>
            <a:spLocks xmlns:a="http://schemas.openxmlformats.org/drawingml/2006/main" noGrp="1"/>
          </p:cNvSpPr>
          <p:nvPr/>
        </p:nvSpPr>
        <p:spPr>
          <a:xfrm xmlns:a="http://schemas.openxmlformats.org/drawingml/2006/main">
            <a:off x="3352800" y="1838325"/>
            <a:ext cx="2476500" cy="0"/>
          </a:xfrm>
          <a:prstGeom xmlns:a="http://schemas.openxmlformats.org/drawingml/2006/main" prst="line">
            <a:avLst/>
          </a:prstGeom>
          <a:noFill xmlns:a="http://schemas.openxmlformats.org/drawingml/2006/main"/>
          <a:ln xmlns:a="http://schemas.openxmlformats.org/drawingml/2006/main" w="23813">
            <a:solidFill>
              <a:srgbClr val="A33D2E"/>
            </a:solidFill>
            <a:prstDash val="solid"/>
          </a:ln>
        </p:spPr>
      </p:sp>
      <p:sp>
        <p:nvSpPr>
          <p:cNvPr id="12" name="">
            <a:extLst xmlns:a="http://schemas.openxmlformats.org/drawingml/2006/main">
              <a:ext uri="{FF2B5EF4-FFF2-40B4-BE49-F238E27FC236}">
                <a16:creationId xmlns:a16="http://schemas.microsoft.com/office/drawing/2014/main" id="{F89D44C1-E8C7-42D6-9013-73822269CFC4}"/>
              </a:ext>
            </a:extLst>
          </p:cNvPr>
          <p:cNvSpPr>
            <a:spLocks xmlns:a="http://schemas.openxmlformats.org/drawingml/2006/main" noGrp="1"/>
          </p:cNvSpPr>
          <p:nvPr/>
        </p:nvSpPr>
        <p:spPr>
          <a:xfrm xmlns:a="http://schemas.openxmlformats.org/drawingml/2006/main">
            <a:off x="33528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0C4D8B48-132E-4A21-839F-329DCA1449CB}"/>
              </a:ext>
            </a:extLst>
          </p:cNvPr>
          <p:cNvSpPr>
            <a:spLocks xmlns:a="http://schemas.openxmlformats.org/drawingml/2006/main" noGrp="1"/>
          </p:cNvSpPr>
          <p:nvPr/>
        </p:nvSpPr>
        <p:spPr>
          <a:xfrm xmlns:a="http://schemas.openxmlformats.org/drawingml/2006/main">
            <a:off x="33528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Score past informativeness</a:t>
            </a:r>
          </a:p>
        </p:txBody>
      </p:sp>
      <p:sp>
        <p:nvSpPr>
          <p:cNvPr id="14" name="">
            <a:extLst xmlns:a="http://schemas.openxmlformats.org/drawingml/2006/main">
              <a:ext uri="{FF2B5EF4-FFF2-40B4-BE49-F238E27FC236}">
                <a16:creationId xmlns:a16="http://schemas.microsoft.com/office/drawing/2014/main" id="{EE30D3F6-4B80-4CDD-8E9F-6E6E9804E231}"/>
              </a:ext>
            </a:extLst>
          </p:cNvPr>
          <p:cNvSpPr>
            <a:spLocks xmlns:a="http://schemas.openxmlformats.org/drawingml/2006/main" noGrp="1"/>
          </p:cNvSpPr>
          <p:nvPr/>
        </p:nvSpPr>
        <p:spPr>
          <a:xfrm xmlns:a="http://schemas.openxmlformats.org/drawingml/2006/main">
            <a:off x="33528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Use eventual outcomes, later price movement and breadth of history.</a:t>
            </a:r>
          </a:p>
        </p:txBody>
      </p:sp>
      <p:sp>
        <p:nvSpPr>
          <p:cNvPr id="15" name="">
            <a:extLst xmlns:a="http://schemas.openxmlformats.org/drawingml/2006/main">
              <a:ext uri="{FF2B5EF4-FFF2-40B4-BE49-F238E27FC236}">
                <a16:creationId xmlns:a16="http://schemas.microsoft.com/office/drawing/2014/main" id="{198636A0-7EB5-413C-9942-92E13E42DD2D}"/>
              </a:ext>
            </a:extLst>
          </p:cNvPr>
          <p:cNvSpPr>
            <a:spLocks xmlns:a="http://schemas.openxmlformats.org/drawingml/2006/main" noGrp="1"/>
          </p:cNvSpPr>
          <p:nvPr/>
        </p:nvSpPr>
        <p:spPr>
          <a:xfrm xmlns:a="http://schemas.openxmlformats.org/drawingml/2006/main">
            <a:off x="60960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16" name="">
            <a:extLst xmlns:a="http://schemas.openxmlformats.org/drawingml/2006/main">
              <a:ext uri="{FF2B5EF4-FFF2-40B4-BE49-F238E27FC236}">
                <a16:creationId xmlns:a16="http://schemas.microsoft.com/office/drawing/2014/main" id="{E65E85FE-783B-4EE2-B314-788FC9EE3A92}"/>
              </a:ext>
            </a:extLst>
          </p:cNvPr>
          <p:cNvSpPr>
            <a:spLocks xmlns:a="http://schemas.openxmlformats.org/drawingml/2006/main" noGrp="1"/>
          </p:cNvSpPr>
          <p:nvPr/>
        </p:nvSpPr>
        <p:spPr>
          <a:xfrm xmlns:a="http://schemas.openxmlformats.org/drawingml/2006/main">
            <a:off x="60960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EAAC8D2-7CE9-46FE-B7E0-9CD1EC940953}"/>
              </a:ext>
            </a:extLst>
          </p:cNvPr>
          <p:cNvSpPr>
            <a:spLocks xmlns:a="http://schemas.openxmlformats.org/drawingml/2006/main" noGrp="1"/>
          </p:cNvSpPr>
          <p:nvPr/>
        </p:nvSpPr>
        <p:spPr>
          <a:xfrm xmlns:a="http://schemas.openxmlformats.org/drawingml/2006/main">
            <a:off x="60960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Shrink uncertain scores</a:t>
            </a:r>
          </a:p>
        </p:txBody>
      </p:sp>
      <p:sp>
        <p:nvSpPr>
          <p:cNvPr id="18" name="">
            <a:extLst xmlns:a="http://schemas.openxmlformats.org/drawingml/2006/main">
              <a:ext uri="{FF2B5EF4-FFF2-40B4-BE49-F238E27FC236}">
                <a16:creationId xmlns:a16="http://schemas.microsoft.com/office/drawing/2014/main" id="{F035F99C-FA24-4AD5-875F-12F0E4B8A9EF}"/>
              </a:ext>
            </a:extLst>
          </p:cNvPr>
          <p:cNvSpPr>
            <a:spLocks xmlns:a="http://schemas.openxmlformats.org/drawingml/2006/main" noGrp="1"/>
          </p:cNvSpPr>
          <p:nvPr/>
        </p:nvSpPr>
        <p:spPr>
          <a:xfrm xmlns:a="http://schemas.openxmlformats.org/drawingml/2006/main">
            <a:off x="60960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Pull sparse histories toward the population average.</a:t>
            </a:r>
          </a:p>
        </p:txBody>
      </p:sp>
      <p:sp>
        <p:nvSpPr>
          <p:cNvPr id="19" name="">
            <a:extLst xmlns:a="http://schemas.openxmlformats.org/drawingml/2006/main">
              <a:ext uri="{FF2B5EF4-FFF2-40B4-BE49-F238E27FC236}">
                <a16:creationId xmlns:a16="http://schemas.microsoft.com/office/drawing/2014/main" id="{DEB1F540-3066-4D8E-B226-3C7546326EE4}"/>
              </a:ext>
            </a:extLst>
          </p:cNvPr>
          <p:cNvSpPr>
            <a:spLocks xmlns:a="http://schemas.openxmlformats.org/drawingml/2006/main" noGrp="1"/>
          </p:cNvSpPr>
          <p:nvPr/>
        </p:nvSpPr>
        <p:spPr>
          <a:xfrm xmlns:a="http://schemas.openxmlformats.org/drawingml/2006/main">
            <a:off x="88392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20" name="">
            <a:extLst xmlns:a="http://schemas.openxmlformats.org/drawingml/2006/main">
              <a:ext uri="{FF2B5EF4-FFF2-40B4-BE49-F238E27FC236}">
                <a16:creationId xmlns:a16="http://schemas.microsoft.com/office/drawing/2014/main" id="{DBFF546F-83E5-44FE-992C-3E697C8490B8}"/>
              </a:ext>
            </a:extLst>
          </p:cNvPr>
          <p:cNvSpPr>
            <a:spLocks xmlns:a="http://schemas.openxmlformats.org/drawingml/2006/main" noGrp="1"/>
          </p:cNvSpPr>
          <p:nvPr/>
        </p:nvSpPr>
        <p:spPr>
          <a:xfrm xmlns:a="http://schemas.openxmlformats.org/drawingml/2006/main">
            <a:off x="88392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E6C18C04-A486-45BA-9381-2543D33B71A8}"/>
              </a:ext>
            </a:extLst>
          </p:cNvPr>
          <p:cNvSpPr>
            <a:spLocks xmlns:a="http://schemas.openxmlformats.org/drawingml/2006/main" noGrp="1"/>
          </p:cNvSpPr>
          <p:nvPr/>
        </p:nvSpPr>
        <p:spPr>
          <a:xfrm xmlns:a="http://schemas.openxmlformats.org/drawingml/2006/main">
            <a:off x="88392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Calibrate probability</a:t>
            </a:r>
          </a:p>
        </p:txBody>
      </p:sp>
      <p:sp>
        <p:nvSpPr>
          <p:cNvPr id="22" name="">
            <a:extLst xmlns:a="http://schemas.openxmlformats.org/drawingml/2006/main">
              <a:ext uri="{FF2B5EF4-FFF2-40B4-BE49-F238E27FC236}">
                <a16:creationId xmlns:a16="http://schemas.microsoft.com/office/drawing/2014/main" id="{1047FDA1-B2C5-4C8A-8885-06FDA8648117}"/>
              </a:ext>
            </a:extLst>
          </p:cNvPr>
          <p:cNvSpPr>
            <a:spLocks xmlns:a="http://schemas.openxmlformats.org/drawingml/2006/main" noGrp="1"/>
          </p:cNvSpPr>
          <p:nvPr/>
        </p:nvSpPr>
        <p:spPr>
          <a:xfrm xmlns:a="http://schemas.openxmlformats.org/drawingml/2006/main">
            <a:off x="88392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Add wallet flow and market-quality controls to a regularised logistic model.</a:t>
            </a:r>
          </a:p>
        </p:txBody>
      </p:sp>
      <p:sp>
        <p:nvSpPr>
          <p:cNvPr id="23" name="">
            <a:extLst xmlns:a="http://schemas.openxmlformats.org/drawingml/2006/main">
              <a:ext uri="{FF2B5EF4-FFF2-40B4-BE49-F238E27FC236}">
                <a16:creationId xmlns:a16="http://schemas.microsoft.com/office/drawing/2014/main" id="{085C4C65-ECEF-4C29-89C8-FCFA14006936}"/>
              </a:ext>
            </a:extLst>
          </p:cNvPr>
          <p:cNvSpPr>
            <a:spLocks xmlns:a="http://schemas.openxmlformats.org/drawingml/2006/main" noGrp="1"/>
          </p:cNvSpPr>
          <p:nvPr/>
        </p:nvSpPr>
        <p:spPr>
          <a:xfrm xmlns:a="http://schemas.openxmlformats.org/drawingml/2006/main">
            <a:off x="609600" y="4171950"/>
            <a:ext cx="2914650" cy="14573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24" name="">
            <a:extLst xmlns:a="http://schemas.openxmlformats.org/drawingml/2006/main">
              <a:ext uri="{FF2B5EF4-FFF2-40B4-BE49-F238E27FC236}">
                <a16:creationId xmlns:a16="http://schemas.microsoft.com/office/drawing/2014/main" id="{3993C012-48F5-491A-A41F-5C8508A367A5}"/>
              </a:ext>
            </a:extLst>
          </p:cNvPr>
          <p:cNvSpPr>
            <a:spLocks xmlns:a="http://schemas.openxmlformats.org/drawingml/2006/main" noGrp="1"/>
          </p:cNvSpPr>
          <p:nvPr/>
        </p:nvSpPr>
        <p:spPr>
          <a:xfrm xmlns:a="http://schemas.openxmlformats.org/drawingml/2006/main">
            <a:off x="800100" y="4362450"/>
            <a:ext cx="190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MARKET ESTIMATE</a:t>
            </a:r>
          </a:p>
        </p:txBody>
      </p:sp>
      <p:sp>
        <p:nvSpPr>
          <p:cNvPr id="25" name="">
            <a:extLst xmlns:a="http://schemas.openxmlformats.org/drawingml/2006/main">
              <a:ext uri="{FF2B5EF4-FFF2-40B4-BE49-F238E27FC236}">
                <a16:creationId xmlns:a16="http://schemas.microsoft.com/office/drawing/2014/main" id="{DA6B1552-7278-4DCA-8CD1-D0CE1D652347}"/>
              </a:ext>
            </a:extLst>
          </p:cNvPr>
          <p:cNvSpPr>
            <a:spLocks xmlns:a="http://schemas.openxmlformats.org/drawingml/2006/main" noGrp="1"/>
          </p:cNvSpPr>
          <p:nvPr/>
        </p:nvSpPr>
        <p:spPr>
          <a:xfrm xmlns:a="http://schemas.openxmlformats.org/drawingml/2006/main">
            <a:off x="800100" y="4629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A33D2E"/>
                </a:solidFill>
                <a:latin typeface="Arial"/>
                <a:ea typeface="Arial"/>
                <a:cs typeface="Arial"/>
              </a:defRPr>
            </a:pPr>
            <a:r>
              <a:rPr sz="2850" b="1" i="0">
                <a:solidFill>
                  <a:srgbClr val="A33D2E"/>
                </a:solidFill>
                <a:latin typeface="Arial"/>
                <a:ea typeface="Arial"/>
                <a:cs typeface="Arial"/>
              </a:rPr>
              <a:t>p raw</a:t>
            </a:r>
          </a:p>
        </p:txBody>
      </p:sp>
      <p:sp>
        <p:nvSpPr>
          <p:cNvPr id="26" name="">
            <a:extLst xmlns:a="http://schemas.openxmlformats.org/drawingml/2006/main">
              <a:ext uri="{FF2B5EF4-FFF2-40B4-BE49-F238E27FC236}">
                <a16:creationId xmlns:a16="http://schemas.microsoft.com/office/drawing/2014/main" id="{B46ADD09-FE31-4A72-8FE1-DD924ABEB3AD}"/>
              </a:ext>
            </a:extLst>
          </p:cNvPr>
          <p:cNvSpPr>
            <a:spLocks xmlns:a="http://schemas.openxmlformats.org/drawingml/2006/main" noGrp="1"/>
          </p:cNvSpPr>
          <p:nvPr/>
        </p:nvSpPr>
        <p:spPr>
          <a:xfrm xmlns:a="http://schemas.openxmlformats.org/drawingml/2006/main">
            <a:off x="800100" y="5143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YES bid/ask midpoint with spread, depth and timestamp.</a:t>
            </a:r>
          </a:p>
        </p:txBody>
      </p:sp>
      <p:sp>
        <p:nvSpPr>
          <p:cNvPr id="27" name="">
            <a:extLst xmlns:a="http://schemas.openxmlformats.org/drawingml/2006/main">
              <a:ext uri="{FF2B5EF4-FFF2-40B4-BE49-F238E27FC236}">
                <a16:creationId xmlns:a16="http://schemas.microsoft.com/office/drawing/2014/main" id="{E624D440-37C7-4DD6-BA06-380D5D443034}"/>
              </a:ext>
            </a:extLst>
          </p:cNvPr>
          <p:cNvSpPr>
            <a:spLocks xmlns:a="http://schemas.openxmlformats.org/drawingml/2006/main" noGrp="1"/>
          </p:cNvSpPr>
          <p:nvPr/>
        </p:nvSpPr>
        <p:spPr>
          <a:xfrm xmlns:a="http://schemas.openxmlformats.org/drawingml/2006/main">
            <a:off x="3695700" y="4171950"/>
            <a:ext cx="2914650" cy="14573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28" name="">
            <a:extLst xmlns:a="http://schemas.openxmlformats.org/drawingml/2006/main">
              <a:ext uri="{FF2B5EF4-FFF2-40B4-BE49-F238E27FC236}">
                <a16:creationId xmlns:a16="http://schemas.microsoft.com/office/drawing/2014/main" id="{4E1320F4-C417-402E-980F-B8F092735214}"/>
              </a:ext>
            </a:extLst>
          </p:cNvPr>
          <p:cNvSpPr>
            <a:spLocks xmlns:a="http://schemas.openxmlformats.org/drawingml/2006/main" noGrp="1"/>
          </p:cNvSpPr>
          <p:nvPr/>
        </p:nvSpPr>
        <p:spPr>
          <a:xfrm xmlns:a="http://schemas.openxmlformats.org/drawingml/2006/main">
            <a:off x="3886200" y="43624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EXPERIMENTAL ESTIMATE</a:t>
            </a:r>
          </a:p>
        </p:txBody>
      </p:sp>
      <p:sp>
        <p:nvSpPr>
          <p:cNvPr id="29" name="">
            <a:extLst xmlns:a="http://schemas.openxmlformats.org/drawingml/2006/main">
              <a:ext uri="{FF2B5EF4-FFF2-40B4-BE49-F238E27FC236}">
                <a16:creationId xmlns:a16="http://schemas.microsoft.com/office/drawing/2014/main" id="{C26011D2-C4FE-478E-8517-6C99D0209F67}"/>
              </a:ext>
            </a:extLst>
          </p:cNvPr>
          <p:cNvSpPr>
            <a:spLocks xmlns:a="http://schemas.openxmlformats.org/drawingml/2006/main" noGrp="1"/>
          </p:cNvSpPr>
          <p:nvPr/>
        </p:nvSpPr>
        <p:spPr>
          <a:xfrm xmlns:a="http://schemas.openxmlformats.org/drawingml/2006/main">
            <a:off x="3886200" y="46291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A33D2E"/>
                </a:solidFill>
                <a:latin typeface="Arial"/>
                <a:ea typeface="Arial"/>
                <a:cs typeface="Arial"/>
              </a:defRPr>
            </a:pPr>
            <a:r>
              <a:rPr sz="2850" b="1" i="0">
                <a:solidFill>
                  <a:srgbClr val="A33D2E"/>
                </a:solidFill>
                <a:latin typeface="Arial"/>
                <a:ea typeface="Arial"/>
                <a:cs typeface="Arial"/>
              </a:rPr>
              <a:t>p adjusted</a:t>
            </a:r>
          </a:p>
        </p:txBody>
      </p:sp>
      <p:sp>
        <p:nvSpPr>
          <p:cNvPr id="30" name="">
            <a:extLst xmlns:a="http://schemas.openxmlformats.org/drawingml/2006/main">
              <a:ext uri="{FF2B5EF4-FFF2-40B4-BE49-F238E27FC236}">
                <a16:creationId xmlns:a16="http://schemas.microsoft.com/office/drawing/2014/main" id="{B32467FF-8179-497C-BEA6-EEBEE5A4885E}"/>
              </a:ext>
            </a:extLst>
          </p:cNvPr>
          <p:cNvSpPr>
            <a:spLocks xmlns:a="http://schemas.openxmlformats.org/drawingml/2006/main" noGrp="1"/>
          </p:cNvSpPr>
          <p:nvPr/>
        </p:nvSpPr>
        <p:spPr>
          <a:xfrm xmlns:a="http://schemas.openxmlformats.org/drawingml/2006/main">
            <a:off x="3886200" y="5143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Calibrated model with eligible-wallet flow.</a:t>
            </a:r>
          </a:p>
        </p:txBody>
      </p:sp>
      <p:sp>
        <p:nvSpPr>
          <p:cNvPr id="31" name="">
            <a:extLst xmlns:a="http://schemas.openxmlformats.org/drawingml/2006/main">
              <a:ext uri="{FF2B5EF4-FFF2-40B4-BE49-F238E27FC236}">
                <a16:creationId xmlns:a16="http://schemas.microsoft.com/office/drawing/2014/main" id="{DA0A765F-82DF-4C67-A317-811BBAA962AC}"/>
              </a:ext>
            </a:extLst>
          </p:cNvPr>
          <p:cNvSpPr>
            <a:spLocks xmlns:a="http://schemas.openxmlformats.org/drawingml/2006/main" noGrp="1"/>
          </p:cNvSpPr>
          <p:nvPr/>
        </p:nvSpPr>
        <p:spPr>
          <a:xfrm xmlns:a="http://schemas.openxmlformats.org/drawingml/2006/main">
            <a:off x="6781800" y="4171950"/>
            <a:ext cx="4800600" cy="1457325"/>
          </a:xfrm>
          <a:prstGeom xmlns:a="http://schemas.openxmlformats.org/drawingml/2006/main" prst="rect">
            <a:avLst/>
          </a:prstGeom>
          <a:solidFill xmlns:a="http://schemas.openxmlformats.org/drawingml/2006/main">
            <a:srgbClr val="F3EEE5"/>
          </a:solidFill>
          <a:ln xmlns:a="http://schemas.openxmlformats.org/drawingml/2006/main" w="14288">
            <a:solidFill>
              <a:srgbClr val="1A1A1A"/>
            </a:solidFill>
            <a:prstDash val="dash"/>
          </a:ln>
        </p:spPr>
      </p:sp>
      <p:sp>
        <p:nvSpPr>
          <p:cNvPr id="32" name="">
            <a:extLst xmlns:a="http://schemas.openxmlformats.org/drawingml/2006/main">
              <a:ext uri="{FF2B5EF4-FFF2-40B4-BE49-F238E27FC236}">
                <a16:creationId xmlns:a16="http://schemas.microsoft.com/office/drawing/2014/main" id="{36AEA49F-42A6-493E-AD6E-1C58BC46950F}"/>
              </a:ext>
            </a:extLst>
          </p:cNvPr>
          <p:cNvSpPr>
            <a:spLocks xmlns:a="http://schemas.openxmlformats.org/drawingml/2006/main" noGrp="1"/>
          </p:cNvSpPr>
          <p:nvPr/>
        </p:nvSpPr>
        <p:spPr>
          <a:xfrm xmlns:a="http://schemas.openxmlformats.org/drawingml/2006/main">
            <a:off x="6991350" y="43624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PROVISIONAL ELIGIBILITY</a:t>
            </a:r>
          </a:p>
        </p:txBody>
      </p:sp>
      <p:sp>
        <p:nvSpPr>
          <p:cNvPr id="33" name="">
            <a:extLst xmlns:a="http://schemas.openxmlformats.org/drawingml/2006/main">
              <a:ext uri="{FF2B5EF4-FFF2-40B4-BE49-F238E27FC236}">
                <a16:creationId xmlns:a16="http://schemas.microsoft.com/office/drawing/2014/main" id="{EB7934A4-5B88-410F-919F-97D71A6095B1}"/>
              </a:ext>
            </a:extLst>
          </p:cNvPr>
          <p:cNvSpPr>
            <a:spLocks xmlns:a="http://schemas.openxmlformats.org/drawingml/2006/main" noGrp="1"/>
          </p:cNvSpPr>
          <p:nvPr/>
        </p:nvSpPr>
        <p:spPr>
          <a:xfrm xmlns:a="http://schemas.openxmlformats.org/drawingml/2006/main">
            <a:off x="6991350" y="4648200"/>
            <a:ext cx="430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i="0">
                <a:solidFill>
                  <a:srgbClr val="A33D2E"/>
                </a:solidFill>
                <a:latin typeface="Arial"/>
                <a:ea typeface="Arial"/>
                <a:cs typeface="Arial"/>
              </a:defRPr>
            </a:pPr>
            <a:r>
              <a:rPr sz="2100" b="1" i="0">
                <a:solidFill>
                  <a:srgbClr val="A33D2E"/>
                </a:solidFill>
                <a:latin typeface="Arial"/>
                <a:ea typeface="Arial"/>
                <a:cs typeface="Arial"/>
              </a:rPr>
              <a:t>≥10 earlier resolved events</a:t>
            </a:r>
          </a:p>
        </p:txBody>
      </p:sp>
      <p:sp>
        <p:nvSpPr>
          <p:cNvPr id="34" name="">
            <a:extLst xmlns:a="http://schemas.openxmlformats.org/drawingml/2006/main">
              <a:ext uri="{FF2B5EF4-FFF2-40B4-BE49-F238E27FC236}">
                <a16:creationId xmlns:a16="http://schemas.microsoft.com/office/drawing/2014/main" id="{54603732-C765-4E09-BD40-F6824AECEB10}"/>
              </a:ext>
            </a:extLst>
          </p:cNvPr>
          <p:cNvSpPr>
            <a:spLocks xmlns:a="http://schemas.openxmlformats.org/drawingml/2006/main" noGrp="1"/>
          </p:cNvSpPr>
          <p:nvPr/>
        </p:nvSpPr>
        <p:spPr>
          <a:xfrm xmlns:a="http://schemas.openxmlformats.org/drawingml/2006/main">
            <a:off x="6991350" y="5153025"/>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Across at least 3 announcement dates. Test 5 and 20 in sensitivity analysis.</a:t>
            </a:r>
          </a:p>
        </p:txBody>
      </p:sp>
    </p:spTree>
    <p:extLst>
      <p:ext uri="{BB962C8B-B14F-4D97-AF65-F5344CB8AC3E}">
        <p14:creationId xmlns:p14="http://schemas.microsoft.com/office/powerpoint/2010/main" val="614760581"/>
      </p:ext>
    </p:extLst>
  </p:cSld>
</p:sld>
</file>

<file path=ppt/slides/slide6.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4F7E9CC-1F80-4B55-8BE8-BA36BF74938A}"/>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FORECASTING AND SCENARIOS</a:t>
            </a:r>
          </a:p>
        </p:txBody>
      </p:sp>
      <p:sp>
        <p:nvSpPr>
          <p:cNvPr id="2" name="">
            <a:extLst xmlns:a="http://schemas.openxmlformats.org/drawingml/2006/main">
              <a:ext uri="{FF2B5EF4-FFF2-40B4-BE49-F238E27FC236}">
                <a16:creationId xmlns:a16="http://schemas.microsoft.com/office/drawing/2014/main" id="{4AA3796D-E650-4D26-816E-62D000C81E7B}"/>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One controlled comparison, two research outputs</a:t>
            </a:r>
          </a:p>
        </p:txBody>
      </p:sp>
      <p:sp>
        <p:nvSpPr>
          <p:cNvPr id="3" name="">
            <a:extLst xmlns:a="http://schemas.openxmlformats.org/drawingml/2006/main">
              <a:ext uri="{FF2B5EF4-FFF2-40B4-BE49-F238E27FC236}">
                <a16:creationId xmlns:a16="http://schemas.microsoft.com/office/drawing/2014/main" id="{22A5EBC7-1720-4747-AF5F-B3DC24085C82}"/>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4C17D6A5-09EE-4B2E-8E46-63F3A92E046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8E6BFEF1-713B-4417-97AE-9C9180937126}"/>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4A79B720-9991-4E19-A9C7-31006F06AD20}"/>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06 / 08</a:t>
            </a:r>
          </a:p>
        </p:txBody>
      </p:sp>
      <p:sp>
        <p:nvSpPr>
          <p:cNvPr id="7" name="">
            <a:extLst xmlns:a="http://schemas.openxmlformats.org/drawingml/2006/main">
              <a:ext uri="{FF2B5EF4-FFF2-40B4-BE49-F238E27FC236}">
                <a16:creationId xmlns:a16="http://schemas.microsoft.com/office/drawing/2014/main" id="{E31E3B55-BF44-4F1B-9E35-A57A512B527A}"/>
              </a:ext>
            </a:extLst>
          </p:cNvPr>
          <p:cNvSpPr>
            <a:spLocks xmlns:a="http://schemas.openxmlformats.org/drawingml/2006/main" noGrp="1"/>
          </p:cNvSpPr>
          <p:nvPr/>
        </p:nvSpPr>
        <p:spPr>
          <a:xfrm xmlns:a="http://schemas.openxmlformats.org/drawingml/2006/main">
            <a:off x="609600" y="1762125"/>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1A1A1A"/>
                </a:solidFill>
                <a:latin typeface="Arial"/>
                <a:ea typeface="Arial"/>
                <a:cs typeface="Arial"/>
              </a:defRPr>
            </a:pPr>
            <a:r>
              <a:rPr sz="3300" b="1" i="0">
                <a:solidFill>
                  <a:srgbClr val="1A1A1A"/>
                </a:solidFill>
                <a:latin typeface="Arial"/>
                <a:ea typeface="Arial"/>
                <a:cs typeface="Arial"/>
              </a:rPr>
              <a:t>RVₜ,ₕ = Σ r²ₜ₊ₕ</a:t>
            </a:r>
          </a:p>
        </p:txBody>
      </p:sp>
      <p:sp>
        <p:nvSpPr>
          <p:cNvPr id="8" name="">
            <a:extLst xmlns:a="http://schemas.openxmlformats.org/drawingml/2006/main">
              <a:ext uri="{FF2B5EF4-FFF2-40B4-BE49-F238E27FC236}">
                <a16:creationId xmlns:a16="http://schemas.microsoft.com/office/drawing/2014/main" id="{EB20A394-07C7-44BD-BCA9-F62115C222E9}"/>
              </a:ext>
            </a:extLst>
          </p:cNvPr>
          <p:cNvSpPr>
            <a:spLocks xmlns:a="http://schemas.openxmlformats.org/drawingml/2006/main" noGrp="1"/>
          </p:cNvSpPr>
          <p:nvPr/>
        </p:nvSpPr>
        <p:spPr>
          <a:xfrm xmlns:a="http://schemas.openxmlformats.org/drawingml/2006/main">
            <a:off x="609600" y="2409825"/>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55555"/>
                </a:solidFill>
                <a:latin typeface="Arial"/>
                <a:ea typeface="Arial"/>
                <a:cs typeface="Arial"/>
              </a:defRPr>
            </a:pPr>
            <a:r>
              <a:rPr sz="1200" b="1" i="0">
                <a:solidFill>
                  <a:srgbClr val="555555"/>
                </a:solidFill>
                <a:latin typeface="Arial"/>
                <a:ea typeface="Arial"/>
                <a:cs typeface="Arial"/>
              </a:rPr>
              <a:t>H = 1, 5 and 20 trading days</a:t>
            </a:r>
          </a:p>
        </p:txBody>
      </p:sp>
      <p:sp>
        <p:nvSpPr>
          <p:cNvPr id="9" name="">
            <a:extLst xmlns:a="http://schemas.openxmlformats.org/drawingml/2006/main">
              <a:ext uri="{FF2B5EF4-FFF2-40B4-BE49-F238E27FC236}">
                <a16:creationId xmlns:a16="http://schemas.microsoft.com/office/drawing/2014/main" id="{498C8BFE-E812-46F6-BA9C-87C7FDA033B2}"/>
              </a:ext>
            </a:extLst>
          </p:cNvPr>
          <p:cNvSpPr>
            <a:spLocks xmlns:a="http://schemas.openxmlformats.org/drawingml/2006/main" noGrp="1"/>
          </p:cNvSpPr>
          <p:nvPr/>
        </p:nvSpPr>
        <p:spPr>
          <a:xfrm xmlns:a="http://schemas.openxmlformats.org/drawingml/2006/main">
            <a:off x="609600" y="2819400"/>
            <a:ext cx="666750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10" name="">
            <a:extLst xmlns:a="http://schemas.openxmlformats.org/drawingml/2006/main">
              <a:ext uri="{FF2B5EF4-FFF2-40B4-BE49-F238E27FC236}">
                <a16:creationId xmlns:a16="http://schemas.microsoft.com/office/drawing/2014/main" id="{A2653518-C670-453B-9E64-2D20F09BC907}"/>
              </a:ext>
            </a:extLst>
          </p:cNvPr>
          <p:cNvSpPr>
            <a:spLocks xmlns:a="http://schemas.openxmlformats.org/drawingml/2006/main" noGrp="1"/>
          </p:cNvSpPr>
          <p:nvPr/>
        </p:nvSpPr>
        <p:spPr>
          <a:xfrm xmlns:a="http://schemas.openxmlformats.org/drawingml/2006/main">
            <a:off x="609600" y="30670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BASELINE</a:t>
            </a:r>
          </a:p>
        </p:txBody>
      </p:sp>
      <p:sp>
        <p:nvSpPr>
          <p:cNvPr id="11" name="">
            <a:extLst xmlns:a="http://schemas.openxmlformats.org/drawingml/2006/main">
              <a:ext uri="{FF2B5EF4-FFF2-40B4-BE49-F238E27FC236}">
                <a16:creationId xmlns:a16="http://schemas.microsoft.com/office/drawing/2014/main" id="{7E073D16-327E-4B9B-9293-1B576694735C}"/>
              </a:ext>
            </a:extLst>
          </p:cNvPr>
          <p:cNvSpPr>
            <a:spLocks xmlns:a="http://schemas.openxmlformats.org/drawingml/2006/main" noGrp="1"/>
          </p:cNvSpPr>
          <p:nvPr/>
        </p:nvSpPr>
        <p:spPr>
          <a:xfrm xmlns:a="http://schemas.openxmlformats.org/drawingml/2006/main">
            <a:off x="609600" y="33337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Recent-return regression</a:t>
            </a:r>
          </a:p>
        </p:txBody>
      </p:sp>
      <p:sp>
        <p:nvSpPr>
          <p:cNvPr id="12" name="">
            <a:extLst xmlns:a="http://schemas.openxmlformats.org/drawingml/2006/main">
              <a:ext uri="{FF2B5EF4-FFF2-40B4-BE49-F238E27FC236}">
                <a16:creationId xmlns:a16="http://schemas.microsoft.com/office/drawing/2014/main" id="{DA6F0F00-8A60-4D14-B2F1-CAB9930FC79F}"/>
              </a:ext>
            </a:extLst>
          </p:cNvPr>
          <p:cNvSpPr>
            <a:spLocks xmlns:a="http://schemas.openxmlformats.org/drawingml/2006/main" noGrp="1"/>
          </p:cNvSpPr>
          <p:nvPr/>
        </p:nvSpPr>
        <p:spPr>
          <a:xfrm xmlns:a="http://schemas.openxmlformats.org/drawingml/2006/main">
            <a:off x="609600" y="377190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Average squared daily return over the preceding 20 trading days.</a:t>
            </a:r>
          </a:p>
        </p:txBody>
      </p:sp>
      <p:sp>
        <p:nvSpPr>
          <p:cNvPr id="13" name="">
            <a:extLst xmlns:a="http://schemas.openxmlformats.org/drawingml/2006/main">
              <a:ext uri="{FF2B5EF4-FFF2-40B4-BE49-F238E27FC236}">
                <a16:creationId xmlns:a16="http://schemas.microsoft.com/office/drawing/2014/main" id="{A62C6FE3-FE7E-4E03-8605-B594F64CB9B5}"/>
              </a:ext>
            </a:extLst>
          </p:cNvPr>
          <p:cNvSpPr>
            <a:spLocks xmlns:a="http://schemas.openxmlformats.org/drawingml/2006/main" noGrp="1"/>
          </p:cNvSpPr>
          <p:nvPr/>
        </p:nvSpPr>
        <p:spPr>
          <a:xfrm xmlns:a="http://schemas.openxmlformats.org/drawingml/2006/main">
            <a:off x="3924300" y="2990850"/>
            <a:ext cx="3352800" cy="15716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4" name="">
            <a:extLst xmlns:a="http://schemas.openxmlformats.org/drawingml/2006/main">
              <a:ext uri="{FF2B5EF4-FFF2-40B4-BE49-F238E27FC236}">
                <a16:creationId xmlns:a16="http://schemas.microsoft.com/office/drawing/2014/main" id="{2B0289C2-5C2B-4DBF-B282-33CD4F9C7D02}"/>
              </a:ext>
            </a:extLst>
          </p:cNvPr>
          <p:cNvSpPr>
            <a:spLocks xmlns:a="http://schemas.openxmlformats.org/drawingml/2006/main" noGrp="1"/>
          </p:cNvSpPr>
          <p:nvPr/>
        </p:nvSpPr>
        <p:spPr>
          <a:xfrm xmlns:a="http://schemas.openxmlformats.org/drawingml/2006/main">
            <a:off x="4133850" y="31813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AUGMENTED</a:t>
            </a:r>
          </a:p>
        </p:txBody>
      </p:sp>
      <p:sp>
        <p:nvSpPr>
          <p:cNvPr id="15" name="">
            <a:extLst xmlns:a="http://schemas.openxmlformats.org/drawingml/2006/main">
              <a:ext uri="{FF2B5EF4-FFF2-40B4-BE49-F238E27FC236}">
                <a16:creationId xmlns:a16="http://schemas.microsoft.com/office/drawing/2014/main" id="{ADE7F5DA-136A-45B8-8045-F37CC2737042}"/>
              </a:ext>
            </a:extLst>
          </p:cNvPr>
          <p:cNvSpPr>
            <a:spLocks xmlns:a="http://schemas.openxmlformats.org/drawingml/2006/main" noGrp="1"/>
          </p:cNvSpPr>
          <p:nvPr/>
        </p:nvSpPr>
        <p:spPr>
          <a:xfrm xmlns:a="http://schemas.openxmlformats.org/drawingml/2006/main">
            <a:off x="4133850" y="3457575"/>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Same model plus event features</a:t>
            </a:r>
          </a:p>
        </p:txBody>
      </p:sp>
      <p:sp>
        <p:nvSpPr>
          <p:cNvPr id="16" name="">
            <a:extLst xmlns:a="http://schemas.openxmlformats.org/drawingml/2006/main">
              <a:ext uri="{FF2B5EF4-FFF2-40B4-BE49-F238E27FC236}">
                <a16:creationId xmlns:a16="http://schemas.microsoft.com/office/drawing/2014/main" id="{6231533C-5050-4207-AF7C-A99A5D370F81}"/>
              </a:ext>
            </a:extLst>
          </p:cNvPr>
          <p:cNvSpPr>
            <a:spLocks xmlns:a="http://schemas.openxmlformats.org/drawingml/2006/main" noGrp="1"/>
          </p:cNvSpPr>
          <p:nvPr/>
        </p:nvSpPr>
        <p:spPr>
          <a:xfrm xmlns:a="http://schemas.openxmlformats.org/drawingml/2006/main">
            <a:off x="4133850" y="4067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354"/>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Add p raw and the wallet adjustment p adjusted − p raw.</a:t>
            </a:r>
          </a:p>
        </p:txBody>
      </p:sp>
      <p:sp>
        <p:nvSpPr>
          <p:cNvPr id="17" name="">
            <a:extLst xmlns:a="http://schemas.openxmlformats.org/drawingml/2006/main">
              <a:ext uri="{FF2B5EF4-FFF2-40B4-BE49-F238E27FC236}">
                <a16:creationId xmlns:a16="http://schemas.microsoft.com/office/drawing/2014/main" id="{DF2D9C6A-2B65-4EA8-815E-DF0D8799DB93}"/>
              </a:ext>
            </a:extLst>
          </p:cNvPr>
          <p:cNvSpPr>
            <a:spLocks xmlns:a="http://schemas.openxmlformats.org/drawingml/2006/main" noGrp="1"/>
          </p:cNvSpPr>
          <p:nvPr/>
        </p:nvSpPr>
        <p:spPr>
          <a:xfrm xmlns:a="http://schemas.openxmlformats.org/drawingml/2006/main">
            <a:off x="609600" y="48196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73A5E"/>
                </a:solidFill>
                <a:latin typeface="Arial"/>
                <a:ea typeface="Arial"/>
                <a:cs typeface="Arial"/>
              </a:defRPr>
            </a:pPr>
            <a:r>
              <a:rPr sz="1425" b="1" i="0">
                <a:solidFill>
                  <a:srgbClr val="173A5E"/>
                </a:solidFill>
                <a:latin typeface="Arial"/>
                <a:ea typeface="Arial"/>
                <a:cs typeface="Arial"/>
              </a:rPr>
              <a:t>Compare MSE and QLIKE on identical forecast dates and units.</a:t>
            </a:r>
          </a:p>
        </p:txBody>
      </p:sp>
      <p:sp>
        <p:nvSpPr>
          <p:cNvPr id="18" name="">
            <a:extLst xmlns:a="http://schemas.openxmlformats.org/drawingml/2006/main">
              <a:ext uri="{FF2B5EF4-FFF2-40B4-BE49-F238E27FC236}">
                <a16:creationId xmlns:a16="http://schemas.microsoft.com/office/drawing/2014/main" id="{A770ADA4-E06D-4C85-9D7F-071AE098DD94}"/>
              </a:ext>
            </a:extLst>
          </p:cNvPr>
          <p:cNvSpPr>
            <a:spLocks xmlns:a="http://schemas.openxmlformats.org/drawingml/2006/main" noGrp="1"/>
          </p:cNvSpPr>
          <p:nvPr/>
        </p:nvSpPr>
        <p:spPr>
          <a:xfrm xmlns:a="http://schemas.openxmlformats.org/drawingml/2006/main">
            <a:off x="7715250" y="1762125"/>
            <a:ext cx="3867150" cy="3657600"/>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19" name="">
            <a:extLst xmlns:a="http://schemas.openxmlformats.org/drawingml/2006/main">
              <a:ext uri="{FF2B5EF4-FFF2-40B4-BE49-F238E27FC236}">
                <a16:creationId xmlns:a16="http://schemas.microsoft.com/office/drawing/2014/main" id="{74A8A765-3317-42DD-93A5-D04B1A9680F9}"/>
              </a:ext>
            </a:extLst>
          </p:cNvPr>
          <p:cNvSpPr>
            <a:spLocks xmlns:a="http://schemas.openxmlformats.org/drawingml/2006/main" noGrp="1"/>
          </p:cNvSpPr>
          <p:nvPr/>
        </p:nvSpPr>
        <p:spPr>
          <a:xfrm xmlns:a="http://schemas.openxmlformats.org/drawingml/2006/main">
            <a:off x="8001000" y="20383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PORTFOLIO SCENARIOS</a:t>
            </a:r>
          </a:p>
        </p:txBody>
      </p:sp>
      <p:sp>
        <p:nvSpPr>
          <p:cNvPr id="20" name="">
            <a:extLst xmlns:a="http://schemas.openxmlformats.org/drawingml/2006/main">
              <a:ext uri="{FF2B5EF4-FFF2-40B4-BE49-F238E27FC236}">
                <a16:creationId xmlns:a16="http://schemas.microsoft.com/office/drawing/2014/main" id="{371B8B57-AD95-49C1-95A4-F61D09958606}"/>
              </a:ext>
            </a:extLst>
          </p:cNvPr>
          <p:cNvSpPr>
            <a:spLocks xmlns:a="http://schemas.openxmlformats.org/drawingml/2006/main" noGrp="1"/>
          </p:cNvSpPr>
          <p:nvPr/>
        </p:nvSpPr>
        <p:spPr>
          <a:xfrm xmlns:a="http://schemas.openxmlformats.org/drawingml/2006/main">
            <a:off x="8001000" y="2409825"/>
            <a:ext cx="3295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FFFFFF"/>
                </a:solidFill>
                <a:latin typeface="Arial"/>
                <a:ea typeface="Arial"/>
                <a:cs typeface="Arial"/>
              </a:defRPr>
            </a:pPr>
            <a:r>
              <a:rPr sz="2025" b="1" i="0">
                <a:solidFill>
                  <a:srgbClr val="FFFFFF"/>
                </a:solidFill>
                <a:latin typeface="Arial"/>
                <a:ea typeface="Arial"/>
                <a:cs typeface="Arial"/>
              </a:rPr>
              <a:t>Conditional YES and NO return distributions</a:t>
            </a:r>
          </a:p>
        </p:txBody>
      </p:sp>
      <p:sp>
        <p:nvSpPr>
          <p:cNvPr id="21" name="">
            <a:extLst xmlns:a="http://schemas.openxmlformats.org/drawingml/2006/main">
              <a:ext uri="{FF2B5EF4-FFF2-40B4-BE49-F238E27FC236}">
                <a16:creationId xmlns:a16="http://schemas.microsoft.com/office/drawing/2014/main" id="{5673A2D1-740F-4B99-8EED-A3DD96B1DF00}"/>
              </a:ext>
            </a:extLst>
          </p:cNvPr>
          <p:cNvSpPr>
            <a:spLocks xmlns:a="http://schemas.openxmlformats.org/drawingml/2006/main" noGrp="1"/>
          </p:cNvSpPr>
          <p:nvPr/>
        </p:nvSpPr>
        <p:spPr>
          <a:xfrm xmlns:a="http://schemas.openxmlformats.org/drawingml/2006/main">
            <a:off x="8001000" y="329565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Scenario return</a:t>
            </a:r>
          </a:p>
        </p:txBody>
      </p:sp>
      <p:sp>
        <p:nvSpPr>
          <p:cNvPr id="22" name="">
            <a:extLst xmlns:a="http://schemas.openxmlformats.org/drawingml/2006/main">
              <a:ext uri="{FF2B5EF4-FFF2-40B4-BE49-F238E27FC236}">
                <a16:creationId xmlns:a16="http://schemas.microsoft.com/office/drawing/2014/main" id="{ED846106-47BC-47CC-BBA1-8E8B9DEDD73D}"/>
              </a:ext>
            </a:extLst>
          </p:cNvPr>
          <p:cNvSpPr>
            <a:spLocks xmlns:a="http://schemas.openxmlformats.org/drawingml/2006/main" noGrp="1"/>
          </p:cNvSpPr>
          <p:nvPr/>
        </p:nvSpPr>
        <p:spPr>
          <a:xfrm xmlns:a="http://schemas.openxmlformats.org/drawingml/2006/main">
            <a:off x="8001000" y="357187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3" name="">
            <a:extLst xmlns:a="http://schemas.openxmlformats.org/drawingml/2006/main">
              <a:ext uri="{FF2B5EF4-FFF2-40B4-BE49-F238E27FC236}">
                <a16:creationId xmlns:a16="http://schemas.microsoft.com/office/drawing/2014/main" id="{54CD0824-4C9D-4BB2-9876-B87E9CFBD3C0}"/>
              </a:ext>
            </a:extLst>
          </p:cNvPr>
          <p:cNvSpPr>
            <a:spLocks xmlns:a="http://schemas.openxmlformats.org/drawingml/2006/main" noGrp="1"/>
          </p:cNvSpPr>
          <p:nvPr/>
        </p:nvSpPr>
        <p:spPr>
          <a:xfrm xmlns:a="http://schemas.openxmlformats.org/drawingml/2006/main">
            <a:off x="8001000" y="3667125"/>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Horizon volatility</a:t>
            </a:r>
          </a:p>
        </p:txBody>
      </p:sp>
      <p:sp>
        <p:nvSpPr>
          <p:cNvPr id="24" name="">
            <a:extLst xmlns:a="http://schemas.openxmlformats.org/drawingml/2006/main">
              <a:ext uri="{FF2B5EF4-FFF2-40B4-BE49-F238E27FC236}">
                <a16:creationId xmlns:a16="http://schemas.microsoft.com/office/drawing/2014/main" id="{CD0F347F-34CD-4C62-BF00-794B62425D83}"/>
              </a:ext>
            </a:extLst>
          </p:cNvPr>
          <p:cNvSpPr>
            <a:spLocks xmlns:a="http://schemas.openxmlformats.org/drawingml/2006/main" noGrp="1"/>
          </p:cNvSpPr>
          <p:nvPr/>
        </p:nvSpPr>
        <p:spPr>
          <a:xfrm xmlns:a="http://schemas.openxmlformats.org/drawingml/2006/main">
            <a:off x="8001000" y="3943350"/>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5" name="">
            <a:extLst xmlns:a="http://schemas.openxmlformats.org/drawingml/2006/main">
              <a:ext uri="{FF2B5EF4-FFF2-40B4-BE49-F238E27FC236}">
                <a16:creationId xmlns:a16="http://schemas.microsoft.com/office/drawing/2014/main" id="{2F467D04-E500-4432-9226-285B45BD9CC8}"/>
              </a:ext>
            </a:extLst>
          </p:cNvPr>
          <p:cNvSpPr>
            <a:spLocks xmlns:a="http://schemas.openxmlformats.org/drawingml/2006/main" noGrp="1"/>
          </p:cNvSpPr>
          <p:nvPr/>
        </p:nvSpPr>
        <p:spPr>
          <a:xfrm xmlns:a="http://schemas.openxmlformats.org/drawingml/2006/main">
            <a:off x="8001000" y="403860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Loss probability</a:t>
            </a:r>
          </a:p>
        </p:txBody>
      </p:sp>
      <p:sp>
        <p:nvSpPr>
          <p:cNvPr id="26" name="">
            <a:extLst xmlns:a="http://schemas.openxmlformats.org/drawingml/2006/main">
              <a:ext uri="{FF2B5EF4-FFF2-40B4-BE49-F238E27FC236}">
                <a16:creationId xmlns:a16="http://schemas.microsoft.com/office/drawing/2014/main" id="{12DA6456-1A04-4D41-B15C-7983D7A561B3}"/>
              </a:ext>
            </a:extLst>
          </p:cNvPr>
          <p:cNvSpPr>
            <a:spLocks xmlns:a="http://schemas.openxmlformats.org/drawingml/2006/main" noGrp="1"/>
          </p:cNvSpPr>
          <p:nvPr/>
        </p:nvSpPr>
        <p:spPr>
          <a:xfrm xmlns:a="http://schemas.openxmlformats.org/drawingml/2006/main">
            <a:off x="8001000" y="431482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7" name="">
            <a:extLst xmlns:a="http://schemas.openxmlformats.org/drawingml/2006/main">
              <a:ext uri="{FF2B5EF4-FFF2-40B4-BE49-F238E27FC236}">
                <a16:creationId xmlns:a16="http://schemas.microsoft.com/office/drawing/2014/main" id="{0C129622-4073-44C3-8B26-A22E40AB97A3}"/>
              </a:ext>
            </a:extLst>
          </p:cNvPr>
          <p:cNvSpPr>
            <a:spLocks xmlns:a="http://schemas.openxmlformats.org/drawingml/2006/main" noGrp="1"/>
          </p:cNvSpPr>
          <p:nvPr/>
        </p:nvSpPr>
        <p:spPr>
          <a:xfrm xmlns:a="http://schemas.openxmlformats.org/drawingml/2006/main">
            <a:off x="8001000" y="4410075"/>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95% VaR</a:t>
            </a:r>
          </a:p>
        </p:txBody>
      </p:sp>
      <p:sp>
        <p:nvSpPr>
          <p:cNvPr id="28" name="">
            <a:extLst xmlns:a="http://schemas.openxmlformats.org/drawingml/2006/main">
              <a:ext uri="{FF2B5EF4-FFF2-40B4-BE49-F238E27FC236}">
                <a16:creationId xmlns:a16="http://schemas.microsoft.com/office/drawing/2014/main" id="{5BA94260-469A-433A-B72C-9F926B530C31}"/>
              </a:ext>
            </a:extLst>
          </p:cNvPr>
          <p:cNvSpPr>
            <a:spLocks xmlns:a="http://schemas.openxmlformats.org/drawingml/2006/main" noGrp="1"/>
          </p:cNvSpPr>
          <p:nvPr/>
        </p:nvSpPr>
        <p:spPr>
          <a:xfrm xmlns:a="http://schemas.openxmlformats.org/drawingml/2006/main">
            <a:off x="8001000" y="4686300"/>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9" name="">
            <a:extLst xmlns:a="http://schemas.openxmlformats.org/drawingml/2006/main">
              <a:ext uri="{FF2B5EF4-FFF2-40B4-BE49-F238E27FC236}">
                <a16:creationId xmlns:a16="http://schemas.microsoft.com/office/drawing/2014/main" id="{26BBF1AA-4551-4314-AFEC-A254C1E4CDAE}"/>
              </a:ext>
            </a:extLst>
          </p:cNvPr>
          <p:cNvSpPr>
            <a:spLocks xmlns:a="http://schemas.openxmlformats.org/drawingml/2006/main" noGrp="1"/>
          </p:cNvSpPr>
          <p:nvPr/>
        </p:nvSpPr>
        <p:spPr>
          <a:xfrm xmlns:a="http://schemas.openxmlformats.org/drawingml/2006/main">
            <a:off x="8001000" y="478155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95% expected shortfall</a:t>
            </a:r>
          </a:p>
        </p:txBody>
      </p:sp>
      <p:sp>
        <p:nvSpPr>
          <p:cNvPr id="30" name="">
            <a:extLst xmlns:a="http://schemas.openxmlformats.org/drawingml/2006/main">
              <a:ext uri="{FF2B5EF4-FFF2-40B4-BE49-F238E27FC236}">
                <a16:creationId xmlns:a16="http://schemas.microsoft.com/office/drawing/2014/main" id="{8FCD32E5-B766-40DF-A01E-22927A24E42D}"/>
              </a:ext>
            </a:extLst>
          </p:cNvPr>
          <p:cNvSpPr>
            <a:spLocks xmlns:a="http://schemas.openxmlformats.org/drawingml/2006/main" noGrp="1"/>
          </p:cNvSpPr>
          <p:nvPr/>
        </p:nvSpPr>
        <p:spPr>
          <a:xfrm xmlns:a="http://schemas.openxmlformats.org/drawingml/2006/main">
            <a:off x="8001000" y="505777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31" name="">
            <a:extLst xmlns:a="http://schemas.openxmlformats.org/drawingml/2006/main">
              <a:ext uri="{FF2B5EF4-FFF2-40B4-BE49-F238E27FC236}">
                <a16:creationId xmlns:a16="http://schemas.microsoft.com/office/drawing/2014/main" id="{397111D7-5E20-4241-B373-91A94E841180}"/>
              </a:ext>
            </a:extLst>
          </p:cNvPr>
          <p:cNvSpPr>
            <a:spLocks xmlns:a="http://schemas.openxmlformats.org/drawingml/2006/main" noGrp="1"/>
          </p:cNvSpPr>
          <p:nvPr/>
        </p:nvSpPr>
        <p:spPr>
          <a:xfrm xmlns:a="http://schemas.openxmlformats.org/drawingml/2006/main">
            <a:off x="8001000" y="50387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i="0">
                <a:solidFill>
                  <a:srgbClr val="F7EAE7"/>
                </a:solidFill>
                <a:latin typeface="Arial"/>
                <a:ea typeface="Arial"/>
                <a:cs typeface="Arial"/>
              </a:defRPr>
            </a:pPr>
            <a:r>
              <a:rPr sz="975" b="0" i="0">
                <a:solidFill>
                  <a:srgbClr val="F7EAE7"/>
                </a:solidFill>
                <a:latin typeface="Arial"/>
                <a:ea typeface="Arial"/>
                <a:cs typeface="Arial"/>
              </a:rPr>
              <a:t>Joint returns preserve cross-asset dependence.</a:t>
            </a:r>
          </a:p>
        </p:txBody>
      </p:sp>
    </p:spTree>
    <p:extLst>
      <p:ext uri="{BB962C8B-B14F-4D97-AF65-F5344CB8AC3E}">
        <p14:creationId xmlns:p14="http://schemas.microsoft.com/office/powerpoint/2010/main" val="1335437453"/>
      </p:ext>
    </p:extLst>
  </p:cSld>
</p:sld>
</file>

<file path=ppt/slides/slide7.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89A0EB1-6812-441E-915D-8AD8B6A16C8A}"/>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SYSTEM DESIGN</a:t>
            </a:r>
          </a:p>
        </p:txBody>
      </p:sp>
      <p:sp>
        <p:nvSpPr>
          <p:cNvPr id="2" name="">
            <a:extLst xmlns:a="http://schemas.openxmlformats.org/drawingml/2006/main">
              <a:ext uri="{FF2B5EF4-FFF2-40B4-BE49-F238E27FC236}">
                <a16:creationId xmlns:a16="http://schemas.microsoft.com/office/drawing/2014/main" id="{8ABD0CAD-554C-4C4E-9245-44F78741D3BE}"/>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Calculations remain separate from explanations</a:t>
            </a:r>
          </a:p>
        </p:txBody>
      </p:sp>
      <p:sp>
        <p:nvSpPr>
          <p:cNvPr id="3" name="">
            <a:extLst xmlns:a="http://schemas.openxmlformats.org/drawingml/2006/main">
              <a:ext uri="{FF2B5EF4-FFF2-40B4-BE49-F238E27FC236}">
                <a16:creationId xmlns:a16="http://schemas.microsoft.com/office/drawing/2014/main" id="{614ADD1E-C4B6-4853-8872-E3D46AABF92A}"/>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A28860FD-37CB-4408-B431-B0F1609B87E0}"/>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F52CF94E-334A-4304-A8AC-6D546BEC1C8D}"/>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1252B109-C867-4BA9-A064-DB24AABD93C5}"/>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07 / 08</a:t>
            </a:r>
          </a:p>
        </p:txBody>
      </p:sp>
      <p:sp>
        <p:nvSpPr>
          <p:cNvPr id="7" name="">
            <a:extLst xmlns:a="http://schemas.openxmlformats.org/drawingml/2006/main">
              <a:ext uri="{FF2B5EF4-FFF2-40B4-BE49-F238E27FC236}">
                <a16:creationId xmlns:a16="http://schemas.microsoft.com/office/drawing/2014/main" id="{C00960D8-094D-40A4-A428-A512503C3A35}"/>
              </a:ext>
            </a:extLst>
          </p:cNvPr>
          <p:cNvSpPr>
            <a:spLocks xmlns:a="http://schemas.openxmlformats.org/drawingml/2006/main" noGrp="1"/>
          </p:cNvSpPr>
          <p:nvPr/>
        </p:nvSpPr>
        <p:spPr>
          <a:xfrm xmlns:a="http://schemas.openxmlformats.org/drawingml/2006/main">
            <a:off x="609600" y="1828800"/>
            <a:ext cx="3028950" cy="1685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8" name="">
            <a:extLst xmlns:a="http://schemas.openxmlformats.org/drawingml/2006/main">
              <a:ext uri="{FF2B5EF4-FFF2-40B4-BE49-F238E27FC236}">
                <a16:creationId xmlns:a16="http://schemas.microsoft.com/office/drawing/2014/main" id="{9B26EE7A-FAE6-41DB-85C4-33B80425D931}"/>
              </a:ext>
            </a:extLst>
          </p:cNvPr>
          <p:cNvSpPr>
            <a:spLocks xmlns:a="http://schemas.openxmlformats.org/drawingml/2006/main" noGrp="1"/>
          </p:cNvSpPr>
          <p:nvPr/>
        </p:nvSpPr>
        <p:spPr>
          <a:xfrm xmlns:a="http://schemas.openxmlformats.org/drawingml/2006/main">
            <a:off x="838200" y="203835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CEB2DE59-A146-4562-B4E0-FE0D9D99ABBF}"/>
              </a:ext>
            </a:extLst>
          </p:cNvPr>
          <p:cNvSpPr>
            <a:spLocks xmlns:a="http://schemas.openxmlformats.org/drawingml/2006/main" noGrp="1"/>
          </p:cNvSpPr>
          <p:nvPr/>
        </p:nvSpPr>
        <p:spPr>
          <a:xfrm xmlns:a="http://schemas.openxmlformats.org/drawingml/2006/main">
            <a:off x="838200" y="23526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Evidence layer</a:t>
            </a:r>
          </a:p>
        </p:txBody>
      </p:sp>
      <p:sp>
        <p:nvSpPr>
          <p:cNvPr id="10" name="">
            <a:extLst xmlns:a="http://schemas.openxmlformats.org/drawingml/2006/main">
              <a:ext uri="{FF2B5EF4-FFF2-40B4-BE49-F238E27FC236}">
                <a16:creationId xmlns:a16="http://schemas.microsoft.com/office/drawing/2014/main" id="{5F1116DA-4277-49AB-83EB-26CFAF192058}"/>
              </a:ext>
            </a:extLst>
          </p:cNvPr>
          <p:cNvSpPr>
            <a:spLocks xmlns:a="http://schemas.openxmlformats.org/drawingml/2006/main" noGrp="1"/>
          </p:cNvSpPr>
          <p:nvPr/>
        </p:nvSpPr>
        <p:spPr>
          <a:xfrm xmlns:a="http://schemas.openxmlformats.org/drawingml/2006/main">
            <a:off x="838200" y="28765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APIs, receipts, PostgreSQL, Parquet and versioned source records</a:t>
            </a:r>
          </a:p>
        </p:txBody>
      </p:sp>
      <p:sp>
        <p:nvSpPr>
          <p:cNvPr id="11" name="">
            <a:extLst xmlns:a="http://schemas.openxmlformats.org/drawingml/2006/main">
              <a:ext uri="{FF2B5EF4-FFF2-40B4-BE49-F238E27FC236}">
                <a16:creationId xmlns:a16="http://schemas.microsoft.com/office/drawing/2014/main" id="{C6275737-367D-464A-98A8-6C777308050B}"/>
              </a:ext>
            </a:extLst>
          </p:cNvPr>
          <p:cNvSpPr>
            <a:spLocks xmlns:a="http://schemas.openxmlformats.org/drawingml/2006/main" noGrp="1"/>
          </p:cNvSpPr>
          <p:nvPr/>
        </p:nvSpPr>
        <p:spPr>
          <a:xfrm xmlns:a="http://schemas.openxmlformats.org/drawingml/2006/main">
            <a:off x="4514850" y="1828800"/>
            <a:ext cx="3162300" cy="16859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2" name="">
            <a:extLst xmlns:a="http://schemas.openxmlformats.org/drawingml/2006/main">
              <a:ext uri="{FF2B5EF4-FFF2-40B4-BE49-F238E27FC236}">
                <a16:creationId xmlns:a16="http://schemas.microsoft.com/office/drawing/2014/main" id="{331A9260-637F-408D-83CF-DE20492386EF}"/>
              </a:ext>
            </a:extLst>
          </p:cNvPr>
          <p:cNvSpPr>
            <a:spLocks xmlns:a="http://schemas.openxmlformats.org/drawingml/2006/main" noGrp="1"/>
          </p:cNvSpPr>
          <p:nvPr/>
        </p:nvSpPr>
        <p:spPr>
          <a:xfrm xmlns:a="http://schemas.openxmlformats.org/drawingml/2006/main">
            <a:off x="4743450" y="20383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ANALYTICS</a:t>
            </a:r>
          </a:p>
        </p:txBody>
      </p:sp>
      <p:sp>
        <p:nvSpPr>
          <p:cNvPr id="13" name="">
            <a:extLst xmlns:a="http://schemas.openxmlformats.org/drawingml/2006/main">
              <a:ext uri="{FF2B5EF4-FFF2-40B4-BE49-F238E27FC236}">
                <a16:creationId xmlns:a16="http://schemas.microsoft.com/office/drawing/2014/main" id="{05C4F12E-57F2-4F32-BAB7-2E3C520FEFA3}"/>
              </a:ext>
            </a:extLst>
          </p:cNvPr>
          <p:cNvSpPr>
            <a:spLocks xmlns:a="http://schemas.openxmlformats.org/drawingml/2006/main" noGrp="1"/>
          </p:cNvSpPr>
          <p:nvPr/>
        </p:nvSpPr>
        <p:spPr>
          <a:xfrm xmlns:a="http://schemas.openxmlformats.org/drawingml/2006/main">
            <a:off x="4743450" y="2352675"/>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Research services</a:t>
            </a:r>
          </a:p>
        </p:txBody>
      </p:sp>
      <p:sp>
        <p:nvSpPr>
          <p:cNvPr id="14" name="">
            <a:extLst xmlns:a="http://schemas.openxmlformats.org/drawingml/2006/main">
              <a:ext uri="{FF2B5EF4-FFF2-40B4-BE49-F238E27FC236}">
                <a16:creationId xmlns:a16="http://schemas.microsoft.com/office/drawing/2014/main" id="{2F4BFBC8-F66F-444E-AE03-9A284FB3F94B}"/>
              </a:ext>
            </a:extLst>
          </p:cNvPr>
          <p:cNvSpPr>
            <a:spLocks xmlns:a="http://schemas.openxmlformats.org/drawingml/2006/main" noGrp="1"/>
          </p:cNvSpPr>
          <p:nvPr/>
        </p:nvSpPr>
        <p:spPr>
          <a:xfrm xmlns:a="http://schemas.openxmlformats.org/drawingml/2006/main">
            <a:off x="4743450" y="2876550"/>
            <a:ext cx="2705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Wallet scoring, probability calibration, forecasting and scenarios</a:t>
            </a:r>
          </a:p>
        </p:txBody>
      </p:sp>
      <p:sp>
        <p:nvSpPr>
          <p:cNvPr id="15" name="">
            <a:extLst xmlns:a="http://schemas.openxmlformats.org/drawingml/2006/main">
              <a:ext uri="{FF2B5EF4-FFF2-40B4-BE49-F238E27FC236}">
                <a16:creationId xmlns:a16="http://schemas.microsoft.com/office/drawing/2014/main" id="{7DFFD4F7-412B-4BCC-8489-91831713BE1A}"/>
              </a:ext>
            </a:extLst>
          </p:cNvPr>
          <p:cNvSpPr>
            <a:spLocks xmlns:a="http://schemas.openxmlformats.org/drawingml/2006/main" noGrp="1"/>
          </p:cNvSpPr>
          <p:nvPr/>
        </p:nvSpPr>
        <p:spPr>
          <a:xfrm xmlns:a="http://schemas.openxmlformats.org/drawingml/2006/main">
            <a:off x="8553450" y="1828800"/>
            <a:ext cx="3028950" cy="1685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16" name="">
            <a:extLst xmlns:a="http://schemas.openxmlformats.org/drawingml/2006/main">
              <a:ext uri="{FF2B5EF4-FFF2-40B4-BE49-F238E27FC236}">
                <a16:creationId xmlns:a16="http://schemas.microsoft.com/office/drawing/2014/main" id="{3B7D9D4D-3DD5-449F-9C39-145205C3AC7D}"/>
              </a:ext>
            </a:extLst>
          </p:cNvPr>
          <p:cNvSpPr>
            <a:spLocks xmlns:a="http://schemas.openxmlformats.org/drawingml/2006/main" noGrp="1"/>
          </p:cNvSpPr>
          <p:nvPr/>
        </p:nvSpPr>
        <p:spPr>
          <a:xfrm xmlns:a="http://schemas.openxmlformats.org/drawingml/2006/main">
            <a:off x="8782050" y="20383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DELIVERY</a:t>
            </a:r>
          </a:p>
        </p:txBody>
      </p:sp>
      <p:sp>
        <p:nvSpPr>
          <p:cNvPr id="17" name="">
            <a:extLst xmlns:a="http://schemas.openxmlformats.org/drawingml/2006/main">
              <a:ext uri="{FF2B5EF4-FFF2-40B4-BE49-F238E27FC236}">
                <a16:creationId xmlns:a16="http://schemas.microsoft.com/office/drawing/2014/main" id="{FB90657F-0748-4037-905E-2878A8410D12}"/>
              </a:ext>
            </a:extLst>
          </p:cNvPr>
          <p:cNvSpPr>
            <a:spLocks xmlns:a="http://schemas.openxmlformats.org/drawingml/2006/main" noGrp="1"/>
          </p:cNvSpPr>
          <p:nvPr/>
        </p:nvSpPr>
        <p:spPr>
          <a:xfrm xmlns:a="http://schemas.openxmlformats.org/drawingml/2006/main">
            <a:off x="8782050" y="23526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95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Dashboard and assistant</a:t>
            </a:r>
          </a:p>
        </p:txBody>
      </p:sp>
      <p:sp>
        <p:nvSpPr>
          <p:cNvPr id="18" name="">
            <a:extLst xmlns:a="http://schemas.openxmlformats.org/drawingml/2006/main">
              <a:ext uri="{FF2B5EF4-FFF2-40B4-BE49-F238E27FC236}">
                <a16:creationId xmlns:a16="http://schemas.microsoft.com/office/drawing/2014/main" id="{FDFA64F4-0B7C-4DCF-9E5C-96EACFFBBB81}"/>
              </a:ext>
            </a:extLst>
          </p:cNvPr>
          <p:cNvSpPr>
            <a:spLocks xmlns:a="http://schemas.openxmlformats.org/drawingml/2006/main" noGrp="1"/>
          </p:cNvSpPr>
          <p:nvPr/>
        </p:nvSpPr>
        <p:spPr>
          <a:xfrm xmlns:a="http://schemas.openxmlformats.org/drawingml/2006/main">
            <a:off x="8782050" y="28765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Validated APIs, saved runs, evidence links and research reports</a:t>
            </a:r>
          </a:p>
        </p:txBody>
      </p:sp>
      <p:sp>
        <p:nvSpPr>
          <p:cNvPr id="19" name="">
            <a:extLst xmlns:a="http://schemas.openxmlformats.org/drawingml/2006/main">
              <a:ext uri="{FF2B5EF4-FFF2-40B4-BE49-F238E27FC236}">
                <a16:creationId xmlns:a16="http://schemas.microsoft.com/office/drawing/2014/main" id="{E9951F22-F1CB-4F67-8110-F949398B956C}"/>
              </a:ext>
            </a:extLst>
          </p:cNvPr>
          <p:cNvSpPr>
            <a:spLocks xmlns:a="http://schemas.openxmlformats.org/drawingml/2006/main" noGrp="1"/>
          </p:cNvSpPr>
          <p:nvPr/>
        </p:nvSpPr>
        <p:spPr>
          <a:xfrm xmlns:a="http://schemas.openxmlformats.org/drawingml/2006/main">
            <a:off x="3781425" y="24003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3419FFD4-8710-48F5-B6F2-A851BF631695}"/>
              </a:ext>
            </a:extLst>
          </p:cNvPr>
          <p:cNvSpPr>
            <a:spLocks xmlns:a="http://schemas.openxmlformats.org/drawingml/2006/main" noGrp="1"/>
          </p:cNvSpPr>
          <p:nvPr/>
        </p:nvSpPr>
        <p:spPr>
          <a:xfrm xmlns:a="http://schemas.openxmlformats.org/drawingml/2006/main">
            <a:off x="7820025" y="24003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CC645207-52C2-4FA6-95E5-5D2956F161B3}"/>
              </a:ext>
            </a:extLst>
          </p:cNvPr>
          <p:cNvSpPr>
            <a:spLocks xmlns:a="http://schemas.openxmlformats.org/drawingml/2006/main" noGrp="1"/>
          </p:cNvSpPr>
          <p:nvPr/>
        </p:nvSpPr>
        <p:spPr>
          <a:xfrm xmlns:a="http://schemas.openxmlformats.org/drawingml/2006/main">
            <a:off x="6096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22" name="">
            <a:extLst xmlns:a="http://schemas.openxmlformats.org/drawingml/2006/main">
              <a:ext uri="{FF2B5EF4-FFF2-40B4-BE49-F238E27FC236}">
                <a16:creationId xmlns:a16="http://schemas.microsoft.com/office/drawing/2014/main" id="{936F258D-0109-4E69-8F17-8B9FA43D98A0}"/>
              </a:ext>
            </a:extLst>
          </p:cNvPr>
          <p:cNvSpPr>
            <a:spLocks xmlns:a="http://schemas.openxmlformats.org/drawingml/2006/main" noGrp="1"/>
          </p:cNvSpPr>
          <p:nvPr/>
        </p:nvSpPr>
        <p:spPr>
          <a:xfrm xmlns:a="http://schemas.openxmlformats.org/drawingml/2006/main">
            <a:off x="6096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F8AD413E-0367-4438-930A-9A422F20FBBA}"/>
              </a:ext>
            </a:extLst>
          </p:cNvPr>
          <p:cNvSpPr>
            <a:spLocks xmlns:a="http://schemas.openxmlformats.org/drawingml/2006/main" noGrp="1"/>
          </p:cNvSpPr>
          <p:nvPr/>
        </p:nvSpPr>
        <p:spPr>
          <a:xfrm xmlns:a="http://schemas.openxmlformats.org/drawingml/2006/main">
            <a:off x="10858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Event research agent</a:t>
            </a:r>
          </a:p>
        </p:txBody>
      </p:sp>
      <p:sp>
        <p:nvSpPr>
          <p:cNvPr id="24" name="">
            <a:extLst xmlns:a="http://schemas.openxmlformats.org/drawingml/2006/main">
              <a:ext uri="{FF2B5EF4-FFF2-40B4-BE49-F238E27FC236}">
                <a16:creationId xmlns:a16="http://schemas.microsoft.com/office/drawing/2014/main" id="{B022EAB3-B071-497C-851D-F01631E74F08}"/>
              </a:ext>
            </a:extLst>
          </p:cNvPr>
          <p:cNvSpPr>
            <a:spLocks xmlns:a="http://schemas.openxmlformats.org/drawingml/2006/main" noGrp="1"/>
          </p:cNvSpPr>
          <p:nvPr/>
        </p:nvSpPr>
        <p:spPr>
          <a:xfrm xmlns:a="http://schemas.openxmlformats.org/drawingml/2006/main">
            <a:off x="10858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Retrieves evidence and proposes asset mappings for review.</a:t>
            </a:r>
          </a:p>
        </p:txBody>
      </p:sp>
      <p:sp>
        <p:nvSpPr>
          <p:cNvPr id="25" name="">
            <a:extLst xmlns:a="http://schemas.openxmlformats.org/drawingml/2006/main">
              <a:ext uri="{FF2B5EF4-FFF2-40B4-BE49-F238E27FC236}">
                <a16:creationId xmlns:a16="http://schemas.microsoft.com/office/drawing/2014/main" id="{89373F15-DC1A-450D-8D3F-1F8F6663DAB5}"/>
              </a:ext>
            </a:extLst>
          </p:cNvPr>
          <p:cNvSpPr>
            <a:spLocks xmlns:a="http://schemas.openxmlformats.org/drawingml/2006/main" noGrp="1"/>
          </p:cNvSpPr>
          <p:nvPr/>
        </p:nvSpPr>
        <p:spPr>
          <a:xfrm xmlns:a="http://schemas.openxmlformats.org/drawingml/2006/main">
            <a:off x="42672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26" name="">
            <a:extLst xmlns:a="http://schemas.openxmlformats.org/drawingml/2006/main">
              <a:ext uri="{FF2B5EF4-FFF2-40B4-BE49-F238E27FC236}">
                <a16:creationId xmlns:a16="http://schemas.microsoft.com/office/drawing/2014/main" id="{A793344C-2B0B-4EDF-BF86-0567CD0C8C19}"/>
              </a:ext>
            </a:extLst>
          </p:cNvPr>
          <p:cNvSpPr>
            <a:spLocks xmlns:a="http://schemas.openxmlformats.org/drawingml/2006/main" noGrp="1"/>
          </p:cNvSpPr>
          <p:nvPr/>
        </p:nvSpPr>
        <p:spPr>
          <a:xfrm xmlns:a="http://schemas.openxmlformats.org/drawingml/2006/main">
            <a:off x="42672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2</a:t>
            </a:r>
          </a:p>
        </p:txBody>
      </p:sp>
      <p:sp>
        <p:nvSpPr>
          <p:cNvPr id="27" name="">
            <a:extLst xmlns:a="http://schemas.openxmlformats.org/drawingml/2006/main">
              <a:ext uri="{FF2B5EF4-FFF2-40B4-BE49-F238E27FC236}">
                <a16:creationId xmlns:a16="http://schemas.microsoft.com/office/drawing/2014/main" id="{5E5A8CB7-4254-4FBD-8A0B-42567C1AE640}"/>
              </a:ext>
            </a:extLst>
          </p:cNvPr>
          <p:cNvSpPr>
            <a:spLocks xmlns:a="http://schemas.openxmlformats.org/drawingml/2006/main" noGrp="1"/>
          </p:cNvSpPr>
          <p:nvPr/>
        </p:nvSpPr>
        <p:spPr>
          <a:xfrm xmlns:a="http://schemas.openxmlformats.org/drawingml/2006/main">
            <a:off x="47434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Analysis coordinator</a:t>
            </a:r>
          </a:p>
        </p:txBody>
      </p:sp>
      <p:sp>
        <p:nvSpPr>
          <p:cNvPr id="28" name="">
            <a:extLst xmlns:a="http://schemas.openxmlformats.org/drawingml/2006/main">
              <a:ext uri="{FF2B5EF4-FFF2-40B4-BE49-F238E27FC236}">
                <a16:creationId xmlns:a16="http://schemas.microsoft.com/office/drawing/2014/main" id="{B70705BC-58E9-4195-BBF3-57B45D3D1528}"/>
              </a:ext>
            </a:extLst>
          </p:cNvPr>
          <p:cNvSpPr>
            <a:spLocks xmlns:a="http://schemas.openxmlformats.org/drawingml/2006/main" noGrp="1"/>
          </p:cNvSpPr>
          <p:nvPr/>
        </p:nvSpPr>
        <p:spPr>
          <a:xfrm xmlns:a="http://schemas.openxmlformats.org/drawingml/2006/main">
            <a:off x="47434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Validates inputs and submits typed calculation requests.</a:t>
            </a:r>
          </a:p>
        </p:txBody>
      </p:sp>
      <p:sp>
        <p:nvSpPr>
          <p:cNvPr id="29" name="">
            <a:extLst xmlns:a="http://schemas.openxmlformats.org/drawingml/2006/main">
              <a:ext uri="{FF2B5EF4-FFF2-40B4-BE49-F238E27FC236}">
                <a16:creationId xmlns:a16="http://schemas.microsoft.com/office/drawing/2014/main" id="{405FF9A6-D71C-4A5F-A85B-0794ABD99DF7}"/>
              </a:ext>
            </a:extLst>
          </p:cNvPr>
          <p:cNvSpPr>
            <a:spLocks xmlns:a="http://schemas.openxmlformats.org/drawingml/2006/main" noGrp="1"/>
          </p:cNvSpPr>
          <p:nvPr/>
        </p:nvSpPr>
        <p:spPr>
          <a:xfrm xmlns:a="http://schemas.openxmlformats.org/drawingml/2006/main">
            <a:off x="79248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30" name="">
            <a:extLst xmlns:a="http://schemas.openxmlformats.org/drawingml/2006/main">
              <a:ext uri="{FF2B5EF4-FFF2-40B4-BE49-F238E27FC236}">
                <a16:creationId xmlns:a16="http://schemas.microsoft.com/office/drawing/2014/main" id="{AA0B1390-2C41-45A6-8866-D61B20E5C72D}"/>
              </a:ext>
            </a:extLst>
          </p:cNvPr>
          <p:cNvSpPr>
            <a:spLocks xmlns:a="http://schemas.openxmlformats.org/drawingml/2006/main" noGrp="1"/>
          </p:cNvSpPr>
          <p:nvPr/>
        </p:nvSpPr>
        <p:spPr>
          <a:xfrm xmlns:a="http://schemas.openxmlformats.org/drawingml/2006/main">
            <a:off x="79248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95459CA8-1AAF-4168-A5A9-D6FE4397E3AE}"/>
              </a:ext>
            </a:extLst>
          </p:cNvPr>
          <p:cNvSpPr>
            <a:spLocks xmlns:a="http://schemas.openxmlformats.org/drawingml/2006/main" noGrp="1"/>
          </p:cNvSpPr>
          <p:nvPr/>
        </p:nvSpPr>
        <p:spPr>
          <a:xfrm xmlns:a="http://schemas.openxmlformats.org/drawingml/2006/main">
            <a:off x="84010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Explanation agent</a:t>
            </a:r>
          </a:p>
        </p:txBody>
      </p:sp>
      <p:sp>
        <p:nvSpPr>
          <p:cNvPr id="32" name="">
            <a:extLst xmlns:a="http://schemas.openxmlformats.org/drawingml/2006/main">
              <a:ext uri="{FF2B5EF4-FFF2-40B4-BE49-F238E27FC236}">
                <a16:creationId xmlns:a16="http://schemas.microsoft.com/office/drawing/2014/main" id="{0D4C4C10-EB2B-4B5F-95DB-54F39B56580D}"/>
              </a:ext>
            </a:extLst>
          </p:cNvPr>
          <p:cNvSpPr>
            <a:spLocks xmlns:a="http://schemas.openxmlformats.org/drawingml/2006/main" noGrp="1"/>
          </p:cNvSpPr>
          <p:nvPr/>
        </p:nvSpPr>
        <p:spPr>
          <a:xfrm xmlns:a="http://schemas.openxmlformats.org/drawingml/2006/main">
            <a:off x="84010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Reads saved results and answers with source references.</a:t>
            </a:r>
          </a:p>
        </p:txBody>
      </p:sp>
      <p:sp>
        <p:nvSpPr>
          <p:cNvPr id="33" name="">
            <a:extLst xmlns:a="http://schemas.openxmlformats.org/drawingml/2006/main">
              <a:ext uri="{FF2B5EF4-FFF2-40B4-BE49-F238E27FC236}">
                <a16:creationId xmlns:a16="http://schemas.microsoft.com/office/drawing/2014/main" id="{2F547FFF-A797-49AA-BFEF-D08BAF314F9D}"/>
              </a:ext>
            </a:extLst>
          </p:cNvPr>
          <p:cNvSpPr>
            <a:spLocks xmlns:a="http://schemas.openxmlformats.org/drawingml/2006/main" noGrp="1"/>
          </p:cNvSpPr>
          <p:nvPr/>
        </p:nvSpPr>
        <p:spPr>
          <a:xfrm xmlns:a="http://schemas.openxmlformats.org/drawingml/2006/main">
            <a:off x="2095500" y="5305425"/>
            <a:ext cx="8001000" cy="438150"/>
          </a:xfrm>
          <a:prstGeom xmlns:a="http://schemas.openxmlformats.org/drawingml/2006/main" prst="rect">
            <a:avLst/>
          </a:prstGeom>
          <a:solidFill xmlns:a="http://schemas.openxmlformats.org/drawingml/2006/main">
            <a:srgbClr val="F3E6E1"/>
          </a:solidFill>
          <a:ln xmlns:a="http://schemas.openxmlformats.org/drawingml/2006/main" w="0">
            <a:solidFill>
              <a:srgbClr val="A33D2E"/>
            </a:solidFill>
            <a:prstDash val="solid"/>
          </a:ln>
        </p:spPr>
      </p:sp>
      <p:sp>
        <p:nvSpPr>
          <p:cNvPr id="34" name="">
            <a:extLst xmlns:a="http://schemas.openxmlformats.org/drawingml/2006/main">
              <a:ext uri="{FF2B5EF4-FFF2-40B4-BE49-F238E27FC236}">
                <a16:creationId xmlns:a16="http://schemas.microsoft.com/office/drawing/2014/main" id="{4DCED961-0DB3-45E2-99B7-520FCFF59302}"/>
              </a:ext>
            </a:extLst>
          </p:cNvPr>
          <p:cNvSpPr>
            <a:spLocks xmlns:a="http://schemas.openxmlformats.org/drawingml/2006/main" noGrp="1"/>
          </p:cNvSpPr>
          <p:nvPr/>
        </p:nvSpPr>
        <p:spPr>
          <a:xfrm xmlns:a="http://schemas.openxmlformats.org/drawingml/2006/main">
            <a:off x="2286000" y="54197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i="0">
                <a:solidFill>
                  <a:srgbClr val="173A5E"/>
                </a:solidFill>
                <a:latin typeface="Arial"/>
                <a:ea typeface="Arial"/>
                <a:cs typeface="Arial"/>
              </a:defRPr>
            </a:pPr>
            <a:r>
              <a:rPr sz="1275" b="1" i="0">
                <a:solidFill>
                  <a:srgbClr val="173A5E"/>
                </a:solidFill>
                <a:latin typeface="Arial"/>
                <a:ea typeface="Arial"/>
                <a:cs typeface="Arial"/>
              </a:rPr>
              <a:t>The assistant cannot change wallet eligibility, fitted models or saved numerical results.</a:t>
            </a:r>
          </a:p>
        </p:txBody>
      </p:sp>
    </p:spTree>
    <p:extLst>
      <p:ext uri="{BB962C8B-B14F-4D97-AF65-F5344CB8AC3E}">
        <p14:creationId xmlns:p14="http://schemas.microsoft.com/office/powerpoint/2010/main" val="865922224"/>
      </p:ext>
    </p:extLst>
  </p:cSld>
</p:sld>
</file>

<file path=ppt/slides/slide8.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68EF14-757B-445E-9A80-DA5121A83383}"/>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PRODUCT EXPERIENCE</a:t>
            </a:r>
          </a:p>
        </p:txBody>
      </p:sp>
      <p:sp>
        <p:nvSpPr>
          <p:cNvPr id="2" name="">
            <a:extLst xmlns:a="http://schemas.openxmlformats.org/drawingml/2006/main">
              <a:ext uri="{FF2B5EF4-FFF2-40B4-BE49-F238E27FC236}">
                <a16:creationId xmlns:a16="http://schemas.microsoft.com/office/drawing/2014/main" id="{573B493A-EAAE-4974-B933-53406FC7C633}"/>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Evidence and scenarios in one research journey</a:t>
            </a:r>
          </a:p>
        </p:txBody>
      </p:sp>
      <p:sp>
        <p:nvSpPr>
          <p:cNvPr id="3" name="">
            <a:extLst xmlns:a="http://schemas.openxmlformats.org/drawingml/2006/main">
              <a:ext uri="{FF2B5EF4-FFF2-40B4-BE49-F238E27FC236}">
                <a16:creationId xmlns:a16="http://schemas.microsoft.com/office/drawing/2014/main" id="{70D67AAD-2A5A-4855-8F84-5FD594BC976C}"/>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173AE436-B3EA-49DE-B87A-2567CA17C48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DC2F3CEA-6110-401D-94D6-469059D56BDC}"/>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9D9C9F74-4C88-412C-9EE3-C5FBED6E0197}"/>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08 / 08</a:t>
            </a:r>
          </a:p>
        </p:txBody>
      </p:sp>
      <p:sp>
        <p:nvSpPr>
          <p:cNvPr id="7" name="">
            <a:extLst xmlns:a="http://schemas.openxmlformats.org/drawingml/2006/main">
              <a:ext uri="{FF2B5EF4-FFF2-40B4-BE49-F238E27FC236}">
                <a16:creationId xmlns:a16="http://schemas.microsoft.com/office/drawing/2014/main" id="{CBC3E66E-000B-481E-8793-193AC742C45F}"/>
              </a:ext>
            </a:extLst>
          </p:cNvPr>
          <p:cNvSpPr>
            <a:spLocks xmlns:a="http://schemas.openxmlformats.org/drawingml/2006/main" noGrp="1"/>
          </p:cNvSpPr>
          <p:nvPr/>
        </p:nvSpPr>
        <p:spPr>
          <a:xfrm xmlns:a="http://schemas.openxmlformats.org/drawingml/2006/main">
            <a:off x="609600" y="1762125"/>
            <a:ext cx="5276850" cy="34766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b331ab7a7054999"/>
          <a:stretch xmlns:a="http://schemas.openxmlformats.org/drawingml/2006/main"/>
        </p:blipFill>
        <p:spPr>
          <a:xfrm xmlns:a="http://schemas.openxmlformats.org/drawingml/2006/main">
            <a:off x="723900" y="2079862"/>
            <a:ext cx="5048250" cy="2841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2B3F4A2-C92C-489E-B9A0-AD2F36CB9A3D}"/>
              </a:ext>
            </a:extLst>
          </p:cNvPr>
          <p:cNvSpPr>
            <a:spLocks xmlns:a="http://schemas.openxmlformats.org/drawingml/2006/main" noGrp="1"/>
          </p:cNvSpPr>
          <p:nvPr/>
        </p:nvSpPr>
        <p:spPr>
          <a:xfrm xmlns:a="http://schemas.openxmlformats.org/drawingml/2006/main">
            <a:off x="6305550" y="1762125"/>
            <a:ext cx="5276850" cy="34766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61ed9377f8a43d1"/>
          <a:stretch xmlns:a="http://schemas.openxmlformats.org/drawingml/2006/main"/>
        </p:blipFill>
        <p:spPr>
          <a:xfrm xmlns:a="http://schemas.openxmlformats.org/drawingml/2006/main">
            <a:off x="6419850" y="2079862"/>
            <a:ext cx="5048250" cy="28411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11FC430-0DB8-49CD-9BC0-C32595DDA53F}"/>
              </a:ext>
            </a:extLst>
          </p:cNvPr>
          <p:cNvSpPr>
            <a:spLocks xmlns:a="http://schemas.openxmlformats.org/drawingml/2006/main" noGrp="1"/>
          </p:cNvSpPr>
          <p:nvPr/>
        </p:nvSpPr>
        <p:spPr>
          <a:xfrm xmlns:a="http://schemas.openxmlformats.org/drawingml/2006/main">
            <a:off x="609600" y="5429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Overview</a:t>
            </a:r>
          </a:p>
        </p:txBody>
      </p:sp>
      <p:sp>
        <p:nvSpPr>
          <p:cNvPr id="12" name="">
            <a:extLst xmlns:a="http://schemas.openxmlformats.org/drawingml/2006/main">
              <a:ext uri="{FF2B5EF4-FFF2-40B4-BE49-F238E27FC236}">
                <a16:creationId xmlns:a16="http://schemas.microsoft.com/office/drawing/2014/main" id="{CC0C8566-057F-4875-8C5D-C642CE51FFAB}"/>
              </a:ext>
            </a:extLst>
          </p:cNvPr>
          <p:cNvSpPr>
            <a:spLocks xmlns:a="http://schemas.openxmlformats.org/drawingml/2006/main" noGrp="1"/>
          </p:cNvSpPr>
          <p:nvPr/>
        </p:nvSpPr>
        <p:spPr>
          <a:xfrm xmlns:a="http://schemas.openxmlformats.org/drawingml/2006/main">
            <a:off x="1543050" y="5429250"/>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Compare market and wallet-informed probabilities with supporting evidence.</a:t>
            </a:r>
          </a:p>
        </p:txBody>
      </p:sp>
      <p:sp>
        <p:nvSpPr>
          <p:cNvPr id="13" name="">
            <a:extLst xmlns:a="http://schemas.openxmlformats.org/drawingml/2006/main">
              <a:ext uri="{FF2B5EF4-FFF2-40B4-BE49-F238E27FC236}">
                <a16:creationId xmlns:a16="http://schemas.microsoft.com/office/drawing/2014/main" id="{8292AE16-0444-4E10-BD1B-08C321D6C0F4}"/>
              </a:ext>
            </a:extLst>
          </p:cNvPr>
          <p:cNvSpPr>
            <a:spLocks xmlns:a="http://schemas.openxmlformats.org/drawingml/2006/main" noGrp="1"/>
          </p:cNvSpPr>
          <p:nvPr/>
        </p:nvSpPr>
        <p:spPr>
          <a:xfrm xmlns:a="http://schemas.openxmlformats.org/drawingml/2006/main">
            <a:off x="6305550" y="5429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Scenarios</a:t>
            </a:r>
          </a:p>
        </p:txBody>
      </p:sp>
      <p:sp>
        <p:nvSpPr>
          <p:cNvPr id="14" name="">
            <a:extLst xmlns:a="http://schemas.openxmlformats.org/drawingml/2006/main">
              <a:ext uri="{FF2B5EF4-FFF2-40B4-BE49-F238E27FC236}">
                <a16:creationId xmlns:a16="http://schemas.microsoft.com/office/drawing/2014/main" id="{3BCCDBB9-A883-4C46-B19F-D9B6D495F4DC}"/>
              </a:ext>
            </a:extLst>
          </p:cNvPr>
          <p:cNvSpPr>
            <a:spLocks xmlns:a="http://schemas.openxmlformats.org/drawingml/2006/main" noGrp="1"/>
          </p:cNvSpPr>
          <p:nvPr/>
        </p:nvSpPr>
        <p:spPr>
          <a:xfrm xmlns:a="http://schemas.openxmlformats.org/drawingml/2006/main">
            <a:off x="7239000" y="5429250"/>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Connect a paper portfolio to VaR, expected shortfall and assumptions.</a:t>
            </a:r>
          </a:p>
        </p:txBody>
      </p:sp>
      <p:sp>
        <p:nvSpPr>
          <p:cNvPr id="15" name="">
            <a:extLst xmlns:a="http://schemas.openxmlformats.org/drawingml/2006/main">
              <a:ext uri="{FF2B5EF4-FFF2-40B4-BE49-F238E27FC236}">
                <a16:creationId xmlns:a16="http://schemas.microsoft.com/office/drawing/2014/main" id="{9F57503B-954B-4EE8-972C-60F3E8051DB0}"/>
              </a:ext>
            </a:extLst>
          </p:cNvPr>
          <p:cNvSpPr>
            <a:spLocks xmlns:a="http://schemas.openxmlformats.org/drawingml/2006/main" noGrp="1"/>
          </p:cNvSpPr>
          <p:nvPr/>
        </p:nvSpPr>
        <p:spPr>
          <a:xfrm xmlns:a="http://schemas.openxmlformats.org/drawingml/2006/main">
            <a:off x="609600" y="605790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A33D2E"/>
                </a:solidFill>
                <a:latin typeface="Arial"/>
                <a:ea typeface="Arial"/>
                <a:cs typeface="Arial"/>
              </a:defRPr>
            </a:pPr>
            <a:r>
              <a:rPr sz="750" b="1" i="0">
                <a:solidFill>
                  <a:srgbClr val="A33D2E"/>
                </a:solidFill>
                <a:latin typeface="Arial"/>
                <a:ea typeface="Arial"/>
                <a:cs typeface="Arial"/>
              </a:rPr>
              <a:t>ILLUSTRATIVE CONCEPT SCREENS. VALUES SHOWN ARE NOT RESEARCH RESULTS.</a:t>
            </a:r>
          </a:p>
        </p:txBody>
      </p:sp>
    </p:spTree>
    <p:extLst>
      <p:ext uri="{BB962C8B-B14F-4D97-AF65-F5344CB8AC3E}">
        <p14:creationId xmlns:p14="http://schemas.microsoft.com/office/powerpoint/2010/main" val="1278343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2026-09-09T13:00:13.6550000Z</dcterms:created>
  <dcterms:modified xsi:type="dcterms:W3CDTF">2026-09-09T13:00:13.6550000Z</dcterms:modified>
</coreProperties>
</file>