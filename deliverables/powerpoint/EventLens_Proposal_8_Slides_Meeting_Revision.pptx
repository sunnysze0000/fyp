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518"/>
    <p:restoredTop sz="72144"/>
  </p:normalViewPr>
  <p:slideViewPr>
    <p:cSldViewPr snapToGrid="0">
      <p:cViewPr varScale="1">
        <p:scale>
          <a:sx n="96" d="100"/>
          <a:sy n="96" d="100"/>
        </p:scale>
        <p:origin x="1288"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Opening. EventLens asks one focused research question: can prediction-market information improve the way we study risk around scheduled events? The project combines Polymarket prices, public wallet activity and conventional asset data. The goal is a reproducible research system, not a trading recommendation engine. Source: proposal abstract and Section 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Why this matters. Event risk often enters financial analysis indirectly. Prediction markets offer an explicit probability, while blockchain settlement records let us study whether some participants have persistent informational value. The cited concentration figures motivate the wallet analysis, but they do not prove predictability. EventLens must test that claim out of sample. Source: proposal Sections 1.1 and 1.3, citing Akey et al.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End-to-end flow. Polymarket provides event definitions and market probabilities. Polygon and Goldsky provide wallet-level activity, while financial feeds provide ETF returns and the Federal Reserve provides announcement timing. The evidence layer normalises and freezes these records at each historical cut-off. Wallet scores feed the probability model. Reviewed event-to-asset mappings then connect those probabilities to volatility forecasts and portfolio scenarios. Source: proposal Sections 2.1 and 2.2.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Scope discipline. The MVP prioritises data feasibility and a valid experiment. It starts with Polymarket on Polygon, Federal Reserve decisions and index-tracking assets. The horizons match the proposal. Extensions only proceed if historical coverage and model stability support them. This prevents the team from broadening the sample informally after seeing early results. Source: proposal Section 1.2 and evaluation design.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want to test whether wallet </a:t>
            </a:r>
            <a:r>
              <a:rPr lang="en-US" dirty="0" err="1"/>
              <a:t>behaviour</a:t>
            </a:r>
            <a:r>
              <a:rPr lang="en-US" dirty="0"/>
              <a:t> adds information beyond the market price. First, we combine repeated fills into one wallet-event decision and separate directional positions from balanced YES and NO holdings.</a:t>
            </a:r>
          </a:p>
          <a:p>
            <a:endParaRPr lang="en-US" dirty="0"/>
          </a:p>
          <a:p>
            <a:r>
              <a:rPr lang="en-US" dirty="0"/>
              <a:t>We score wallets using earlier resolved events and their historical informativeness. At every forecast date, we use only evidence that was already available. Sparse histories are pulled towards the average to avoid overconfidence.</a:t>
            </a:r>
          </a:p>
          <a:p>
            <a:endParaRPr lang="en-US" dirty="0"/>
          </a:p>
          <a:p>
            <a:r>
              <a:rPr lang="en-US" dirty="0"/>
              <a:t>Eligible wallet signals and market-quality controls then enter a logistic model. We keep the raw market probability and adjusted estimate separate so we can evaluate the wallet contribution.</a:t>
            </a:r>
          </a:p>
          <a:p>
            <a:endParaRPr lang="en-US" dirty="0"/>
          </a:p>
          <a:p>
            <a:r>
              <a:rPr lang="en-US" dirty="0"/>
              <a:t>The ten-event threshold is provisional. We will test alternatives, and if history is insufficient, we withhold the signal. The key question is whether historical wallet information improves probability estimates on unseen events.</a:t>
            </a:r>
          </a:p>
          <a:p>
            <a:endParaRPr lang="en-US" dirty="0"/>
          </a:p>
          <a:p>
            <a:r>
              <a:rPr lang="en-US" dirty="0"/>
              <a:t>Source: proposal Sections 2.1 and 2.2.</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use these probabilities in two related analyses. On the left, we test whether event information improves volatility forecasting. Our target is realized variance over one, five or twenty trading days.</a:t>
            </a:r>
          </a:p>
          <a:p>
            <a:endParaRPr lang="en-US" dirty="0"/>
          </a:p>
          <a:p>
            <a:r>
              <a:rPr lang="en-US" dirty="0"/>
              <a:t>The starting model uses recent squared returns. We keep that regression and add the raw event probability plus the wallet adjustment. Both versions use the same forecast dates and horizons. We compare MSE and QLIKE on unseen data to test whether the additional features help. More complex models remain candidates, but this provides a clear reference experiment.</a:t>
            </a:r>
          </a:p>
          <a:p>
            <a:endParaRPr lang="en-US" dirty="0"/>
          </a:p>
          <a:p>
            <a:r>
              <a:rPr lang="en-US" dirty="0"/>
              <a:t>On the right, a separate scenario engine weights YES and NO return samples by p and one minus p. It preserves relationships between assets and applies the portfolio weights. The resulting loss distribution gives scenario return, volatility and tail-risk measures. </a:t>
            </a:r>
          </a:p>
          <a:p>
            <a:endParaRPr lang="en-US" dirty="0"/>
          </a:p>
          <a:p>
            <a:r>
              <a:rPr lang="en-US" dirty="0"/>
              <a:t>Source: proposal Sections 2.1, 2.2 and 2.4.</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Controlled AI. The architecture makes the numerical boundary explicit. Research services calculate probabilities and risk metrics. The assistant can retrieve evidence, request a validated run and explain saved outputs, but it cannot invent a number or alter model eligibility. Each answer refers back to run IDs and evidence IDs. Source: proposal Sections 2.1 and 2.2.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User journey. A user selects an asset or paper portfolio, chooses a horizon and reviews relevant events. The overview compares raw and adjusted probabilities and links to wallet evidence. The scenario view shows hypothetical risk metrics with assumptions. These are concept screens from the proposal, so every displayed value remains illustrative. Source: proposal Section 2.1 and Figures 5–6.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3EEE5"/>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4A55F53B-8B13-4422-AB80-837A6DD55236}"/>
              </a:ext>
            </a:extLst>
          </p:cNvPr>
          <p:cNvSpPr>
            <a:spLocks noGrp="1"/>
          </p:cNvSpPr>
          <p:nvPr/>
        </p:nvSpPr>
        <p:spPr>
          <a:xfrm>
            <a:off x="609600" y="514350"/>
            <a:ext cx="4762500" cy="228600"/>
          </a:xfrm>
          <a:prstGeom prst="rect">
            <a:avLst/>
          </a:prstGeom>
          <a:noFill/>
          <a:ln w="0">
            <a:noFill/>
          </a:ln>
        </p:spPr>
        <p:txBody>
          <a:bodyPr lIns="0" tIns="0" rIns="0" bIns="0" anchor="t">
            <a:normAutofit/>
          </a:bodyPr>
          <a:lstStyle/>
          <a:p>
            <a:pPr algn="l">
              <a:defRPr sz="1050" b="1" i="0">
                <a:solidFill>
                  <a:srgbClr val="A33D2E"/>
                </a:solidFill>
                <a:latin typeface="Arial"/>
                <a:ea typeface="Arial"/>
                <a:cs typeface="Arial"/>
              </a:defRPr>
            </a:pPr>
            <a:r>
              <a:rPr sz="1050" b="1" i="0">
                <a:solidFill>
                  <a:srgbClr val="A33D2E"/>
                </a:solidFill>
                <a:latin typeface="Arial"/>
                <a:ea typeface="Arial"/>
                <a:cs typeface="Arial"/>
              </a:rPr>
              <a:t>HKUST COMP 4981</a:t>
            </a:r>
          </a:p>
        </p:txBody>
      </p:sp>
      <p:sp>
        <p:nvSpPr>
          <p:cNvPr id="2" name="Rectangle 1">
            <a:extLst>
              <a:ext uri="{FF2B5EF4-FFF2-40B4-BE49-F238E27FC236}">
                <a16:creationId xmlns:a16="http://schemas.microsoft.com/office/drawing/2014/main" id="{DA0411D4-FEFB-4C1A-A0BF-B6CCA1660BBB}"/>
              </a:ext>
            </a:extLst>
          </p:cNvPr>
          <p:cNvSpPr>
            <a:spLocks noGrp="1"/>
          </p:cNvSpPr>
          <p:nvPr/>
        </p:nvSpPr>
        <p:spPr>
          <a:xfrm>
            <a:off x="609600" y="1047750"/>
            <a:ext cx="8096250" cy="1009650"/>
          </a:xfrm>
          <a:prstGeom prst="rect">
            <a:avLst/>
          </a:prstGeom>
          <a:noFill/>
          <a:ln w="0">
            <a:noFill/>
          </a:ln>
        </p:spPr>
        <p:txBody>
          <a:bodyPr lIns="0" tIns="0" rIns="0" bIns="0" anchor="t">
            <a:normAutofit fontScale="98148"/>
          </a:bodyPr>
          <a:lstStyle/>
          <a:p>
            <a:pPr algn="l">
              <a:defRPr sz="6750" b="1" i="0">
                <a:solidFill>
                  <a:srgbClr val="1A1A1A"/>
                </a:solidFill>
                <a:latin typeface="Arial"/>
                <a:ea typeface="Arial"/>
                <a:cs typeface="Arial"/>
              </a:defRPr>
            </a:pPr>
            <a:r>
              <a:rPr sz="6750" b="1" i="0">
                <a:solidFill>
                  <a:srgbClr val="1A1A1A"/>
                </a:solidFill>
                <a:latin typeface="Arial"/>
                <a:ea typeface="Arial"/>
                <a:cs typeface="Arial"/>
              </a:rPr>
              <a:t>EventLens</a:t>
            </a:r>
          </a:p>
        </p:txBody>
      </p:sp>
      <p:sp>
        <p:nvSpPr>
          <p:cNvPr id="3" name="Rectangle 2">
            <a:extLst>
              <a:ext uri="{FF2B5EF4-FFF2-40B4-BE49-F238E27FC236}">
                <a16:creationId xmlns:a16="http://schemas.microsoft.com/office/drawing/2014/main" id="{F6AC73DA-02A4-4247-80FE-B8A157BB030F}"/>
              </a:ext>
            </a:extLst>
          </p:cNvPr>
          <p:cNvSpPr>
            <a:spLocks noGrp="1"/>
          </p:cNvSpPr>
          <p:nvPr/>
        </p:nvSpPr>
        <p:spPr>
          <a:xfrm>
            <a:off x="647700" y="2105025"/>
            <a:ext cx="8572500" cy="552450"/>
          </a:xfrm>
          <a:prstGeom prst="rect">
            <a:avLst/>
          </a:prstGeom>
          <a:noFill/>
          <a:ln w="0">
            <a:noFill/>
          </a:ln>
        </p:spPr>
        <p:txBody>
          <a:bodyPr lIns="0" tIns="0" rIns="0" bIns="0" anchor="t">
            <a:normAutofit/>
          </a:bodyPr>
          <a:lstStyle/>
          <a:p>
            <a:pPr algn="l">
              <a:defRPr sz="2775" b="1" i="0">
                <a:solidFill>
                  <a:srgbClr val="A33D2E"/>
                </a:solidFill>
                <a:latin typeface="Arial"/>
                <a:ea typeface="Arial"/>
                <a:cs typeface="Arial"/>
              </a:defRPr>
            </a:pPr>
            <a:r>
              <a:rPr sz="2775" b="1" i="0">
                <a:solidFill>
                  <a:srgbClr val="A33D2E"/>
                </a:solidFill>
                <a:latin typeface="Arial"/>
                <a:ea typeface="Arial"/>
                <a:cs typeface="Arial"/>
              </a:rPr>
              <a:t>Event risk research for indices and equities</a:t>
            </a:r>
          </a:p>
        </p:txBody>
      </p:sp>
      <p:sp>
        <p:nvSpPr>
          <p:cNvPr id="4" name="Rectangle 3">
            <a:extLst>
              <a:ext uri="{FF2B5EF4-FFF2-40B4-BE49-F238E27FC236}">
                <a16:creationId xmlns:a16="http://schemas.microsoft.com/office/drawing/2014/main" id="{57665771-508A-4794-83EE-36F973D4CB01}"/>
              </a:ext>
            </a:extLst>
          </p:cNvPr>
          <p:cNvSpPr>
            <a:spLocks noGrp="1"/>
          </p:cNvSpPr>
          <p:nvPr/>
        </p:nvSpPr>
        <p:spPr>
          <a:xfrm>
            <a:off x="647700" y="2800350"/>
            <a:ext cx="7334250" cy="704850"/>
          </a:xfrm>
          <a:prstGeom prst="rect">
            <a:avLst/>
          </a:prstGeom>
          <a:noFill/>
          <a:ln w="0">
            <a:noFill/>
          </a:ln>
        </p:spPr>
        <p:txBody>
          <a:bodyPr lIns="0" tIns="0" rIns="0" bIns="0" anchor="t">
            <a:normAutofit/>
          </a:bodyPr>
          <a:lstStyle/>
          <a:p>
            <a:pPr algn="l">
              <a:defRPr sz="1725" b="0" i="0">
                <a:solidFill>
                  <a:srgbClr val="555555"/>
                </a:solidFill>
                <a:latin typeface="Arial"/>
                <a:ea typeface="Arial"/>
                <a:cs typeface="Arial"/>
              </a:defRPr>
            </a:pPr>
            <a:r>
              <a:rPr sz="1725" b="0" i="0">
                <a:solidFill>
                  <a:srgbClr val="555555"/>
                </a:solidFill>
                <a:latin typeface="Arial"/>
                <a:ea typeface="Arial"/>
                <a:cs typeface="Arial"/>
              </a:rPr>
              <a:t>Testing whether prediction-market activity can improve event-driven volatility analysis.</a:t>
            </a:r>
          </a:p>
        </p:txBody>
      </p:sp>
      <p:sp>
        <p:nvSpPr>
          <p:cNvPr id="5" name="Rectangle 4">
            <a:extLst>
              <a:ext uri="{FF2B5EF4-FFF2-40B4-BE49-F238E27FC236}">
                <a16:creationId xmlns:a16="http://schemas.microsoft.com/office/drawing/2014/main" id="{49C6170D-E71D-48A4-BE38-88CF345FB49A}"/>
              </a:ext>
            </a:extLst>
          </p:cNvPr>
          <p:cNvSpPr>
            <a:spLocks noGrp="1"/>
          </p:cNvSpPr>
          <p:nvPr/>
        </p:nvSpPr>
        <p:spPr>
          <a:xfrm>
            <a:off x="8858250" y="609600"/>
            <a:ext cx="2724150" cy="1047750"/>
          </a:xfrm>
          <a:prstGeom prst="rect">
            <a:avLst/>
          </a:prstGeom>
          <a:noFill/>
          <a:ln w="0">
            <a:noFill/>
          </a:ln>
        </p:spPr>
        <p:txBody>
          <a:bodyPr lIns="0" tIns="0" rIns="0" bIns="0" anchor="t">
            <a:normAutofit/>
          </a:bodyPr>
          <a:lstStyle/>
          <a:p>
            <a:pPr algn="r">
              <a:defRPr sz="1050" b="1" i="0">
                <a:solidFill>
                  <a:srgbClr val="555555"/>
                </a:solidFill>
                <a:latin typeface="Arial"/>
                <a:ea typeface="Arial"/>
                <a:cs typeface="Arial"/>
              </a:defRPr>
            </a:pPr>
            <a:r>
              <a:rPr sz="1050" b="1" i="0">
                <a:solidFill>
                  <a:srgbClr val="555555"/>
                </a:solidFill>
                <a:latin typeface="Arial"/>
                <a:ea typeface="Arial"/>
                <a:cs typeface="Arial"/>
              </a:rPr>
              <a:t>Cheung Hau Yin Franklin</a:t>
            </a:r>
          </a:p>
          <a:p>
            <a:pPr algn="r">
              <a:defRPr sz="1050" b="1" i="0">
                <a:solidFill>
                  <a:srgbClr val="555555"/>
                </a:solidFill>
                <a:latin typeface="Arial"/>
                <a:ea typeface="Arial"/>
                <a:cs typeface="Arial"/>
              </a:defRPr>
            </a:pPr>
            <a:r>
              <a:rPr sz="1050" b="1" i="0">
                <a:solidFill>
                  <a:srgbClr val="555555"/>
                </a:solidFill>
                <a:latin typeface="Arial"/>
                <a:ea typeface="Arial"/>
                <a:cs typeface="Arial"/>
              </a:rPr>
              <a:t>Hou Anthony Tian Rui</a:t>
            </a:r>
          </a:p>
          <a:p>
            <a:pPr algn="r">
              <a:defRPr sz="1050" b="1" i="0">
                <a:solidFill>
                  <a:srgbClr val="555555"/>
                </a:solidFill>
                <a:latin typeface="Arial"/>
                <a:ea typeface="Arial"/>
                <a:cs typeface="Arial"/>
              </a:defRPr>
            </a:pPr>
            <a:r>
              <a:rPr sz="1050" b="1" i="0">
                <a:solidFill>
                  <a:srgbClr val="555555"/>
                </a:solidFill>
                <a:latin typeface="Arial"/>
                <a:ea typeface="Arial"/>
                <a:cs typeface="Arial"/>
              </a:rPr>
              <a:t>Liu Ngai Chiu</a:t>
            </a:r>
          </a:p>
          <a:p>
            <a:pPr algn="r">
              <a:defRPr sz="1050" b="1" i="0">
                <a:solidFill>
                  <a:srgbClr val="555555"/>
                </a:solidFill>
                <a:latin typeface="Arial"/>
                <a:ea typeface="Arial"/>
                <a:cs typeface="Arial"/>
              </a:defRPr>
            </a:pPr>
            <a:r>
              <a:rPr sz="1050" b="1" i="0">
                <a:solidFill>
                  <a:srgbClr val="555555"/>
                </a:solidFill>
                <a:latin typeface="Arial"/>
                <a:ea typeface="Arial"/>
                <a:cs typeface="Arial"/>
              </a:rPr>
              <a:t>Sze Wang Cheong</a:t>
            </a:r>
          </a:p>
        </p:txBody>
      </p:sp>
      <p:sp>
        <p:nvSpPr>
          <p:cNvPr id="6" name="Straight Connector 5">
            <a:extLst>
              <a:ext uri="{FF2B5EF4-FFF2-40B4-BE49-F238E27FC236}">
                <a16:creationId xmlns:a16="http://schemas.microsoft.com/office/drawing/2014/main" id="{5B1C9616-7401-416F-84B2-B5B20CE71541}"/>
              </a:ext>
            </a:extLst>
          </p:cNvPr>
          <p:cNvSpPr>
            <a:spLocks noGrp="1"/>
          </p:cNvSpPr>
          <p:nvPr/>
        </p:nvSpPr>
        <p:spPr>
          <a:xfrm>
            <a:off x="647700" y="4391025"/>
            <a:ext cx="3143250" cy="0"/>
          </a:xfrm>
          <a:prstGeom prst="line">
            <a:avLst/>
          </a:prstGeom>
          <a:noFill/>
          <a:ln w="23813">
            <a:solidFill>
              <a:srgbClr val="1A1A1A"/>
            </a:solidFill>
            <a:prstDash val="solid"/>
          </a:ln>
        </p:spPr>
        <p:txBody>
          <a:bodyPr/>
          <a:lstStyle/>
          <a:p>
            <a:endParaRPr lang="en-US"/>
          </a:p>
        </p:txBody>
      </p:sp>
      <p:sp>
        <p:nvSpPr>
          <p:cNvPr id="7" name="Rectangle 6">
            <a:extLst>
              <a:ext uri="{FF2B5EF4-FFF2-40B4-BE49-F238E27FC236}">
                <a16:creationId xmlns:a16="http://schemas.microsoft.com/office/drawing/2014/main" id="{A54FBFED-C1DC-42F8-A97A-204D9AC6F51E}"/>
              </a:ext>
            </a:extLst>
          </p:cNvPr>
          <p:cNvSpPr>
            <a:spLocks noGrp="1"/>
          </p:cNvSpPr>
          <p:nvPr/>
        </p:nvSpPr>
        <p:spPr>
          <a:xfrm>
            <a:off x="647700" y="4552950"/>
            <a:ext cx="666750" cy="190500"/>
          </a:xfrm>
          <a:prstGeom prst="rect">
            <a:avLst/>
          </a:prstGeom>
          <a:noFill/>
          <a:ln w="0">
            <a:noFill/>
          </a:ln>
        </p:spPr>
        <p:txBody>
          <a:bodyPr lIns="0" tIns="0" rIns="0" bIns="0" anchor="t">
            <a:normAutofit/>
          </a:bodyPr>
          <a:lstStyle/>
          <a:p>
            <a:pPr algn="l">
              <a:defRPr sz="825" b="1" i="0">
                <a:solidFill>
                  <a:srgbClr val="A33D2E"/>
                </a:solidFill>
                <a:latin typeface="Arial"/>
                <a:ea typeface="Arial"/>
                <a:cs typeface="Arial"/>
              </a:defRPr>
            </a:pPr>
            <a:r>
              <a:rPr sz="825" b="1" i="0">
                <a:solidFill>
                  <a:srgbClr val="A33D2E"/>
                </a:solidFill>
                <a:latin typeface="Arial"/>
                <a:ea typeface="Arial"/>
                <a:cs typeface="Arial"/>
              </a:rPr>
              <a:t>01</a:t>
            </a:r>
          </a:p>
        </p:txBody>
      </p:sp>
      <p:sp>
        <p:nvSpPr>
          <p:cNvPr id="8" name="Rectangle 7">
            <a:extLst>
              <a:ext uri="{FF2B5EF4-FFF2-40B4-BE49-F238E27FC236}">
                <a16:creationId xmlns:a16="http://schemas.microsoft.com/office/drawing/2014/main" id="{9B41A236-A962-4010-A14B-286FE0723865}"/>
              </a:ext>
            </a:extLst>
          </p:cNvPr>
          <p:cNvSpPr>
            <a:spLocks noGrp="1"/>
          </p:cNvSpPr>
          <p:nvPr/>
        </p:nvSpPr>
        <p:spPr>
          <a:xfrm>
            <a:off x="647700" y="4819650"/>
            <a:ext cx="2952750" cy="533400"/>
          </a:xfrm>
          <a:prstGeom prst="rect">
            <a:avLst/>
          </a:prstGeom>
          <a:noFill/>
          <a:ln w="0">
            <a:noFill/>
          </a:ln>
        </p:spPr>
        <p:txBody>
          <a:bodyPr lIns="0" tIns="0" rIns="0" bIns="0" anchor="t">
            <a:normAutofit/>
          </a:bodyPr>
          <a:lstStyle/>
          <a:p>
            <a:pPr algn="l">
              <a:defRPr sz="1500" b="1" i="0">
                <a:solidFill>
                  <a:srgbClr val="1A1A1A"/>
                </a:solidFill>
                <a:latin typeface="Arial"/>
                <a:ea typeface="Arial"/>
                <a:cs typeface="Arial"/>
              </a:defRPr>
            </a:pPr>
            <a:r>
              <a:rPr sz="1500" b="1" i="0">
                <a:solidFill>
                  <a:srgbClr val="1A1A1A"/>
                </a:solidFill>
                <a:latin typeface="Arial"/>
                <a:ea typeface="Arial"/>
                <a:cs typeface="Arial"/>
              </a:rPr>
              <a:t>Prediction-market probabilities</a:t>
            </a:r>
          </a:p>
        </p:txBody>
      </p:sp>
      <p:sp>
        <p:nvSpPr>
          <p:cNvPr id="9" name="Straight Connector 8">
            <a:extLst>
              <a:ext uri="{FF2B5EF4-FFF2-40B4-BE49-F238E27FC236}">
                <a16:creationId xmlns:a16="http://schemas.microsoft.com/office/drawing/2014/main" id="{E9BA1EA4-F9CB-4E27-BBA2-88E4A9CD45B6}"/>
              </a:ext>
            </a:extLst>
          </p:cNvPr>
          <p:cNvSpPr>
            <a:spLocks noGrp="1"/>
          </p:cNvSpPr>
          <p:nvPr/>
        </p:nvSpPr>
        <p:spPr>
          <a:xfrm>
            <a:off x="4191000" y="4391025"/>
            <a:ext cx="3143250" cy="0"/>
          </a:xfrm>
          <a:prstGeom prst="line">
            <a:avLst/>
          </a:prstGeom>
          <a:noFill/>
          <a:ln w="23813">
            <a:solidFill>
              <a:srgbClr val="1A1A1A"/>
            </a:solidFill>
            <a:prstDash val="solid"/>
          </a:ln>
        </p:spPr>
        <p:txBody>
          <a:bodyPr/>
          <a:lstStyle/>
          <a:p>
            <a:endParaRPr lang="en-US"/>
          </a:p>
        </p:txBody>
      </p:sp>
      <p:sp>
        <p:nvSpPr>
          <p:cNvPr id="10" name="Rectangle 9">
            <a:extLst>
              <a:ext uri="{FF2B5EF4-FFF2-40B4-BE49-F238E27FC236}">
                <a16:creationId xmlns:a16="http://schemas.microsoft.com/office/drawing/2014/main" id="{F5A409FC-481C-4336-B50A-B24775171E69}"/>
              </a:ext>
            </a:extLst>
          </p:cNvPr>
          <p:cNvSpPr>
            <a:spLocks noGrp="1"/>
          </p:cNvSpPr>
          <p:nvPr/>
        </p:nvSpPr>
        <p:spPr>
          <a:xfrm>
            <a:off x="4191000" y="4552950"/>
            <a:ext cx="666750" cy="190500"/>
          </a:xfrm>
          <a:prstGeom prst="rect">
            <a:avLst/>
          </a:prstGeom>
          <a:noFill/>
          <a:ln w="0">
            <a:noFill/>
          </a:ln>
        </p:spPr>
        <p:txBody>
          <a:bodyPr lIns="0" tIns="0" rIns="0" bIns="0" anchor="t">
            <a:normAutofit/>
          </a:bodyPr>
          <a:lstStyle/>
          <a:p>
            <a:pPr algn="l">
              <a:defRPr sz="825" b="1" i="0">
                <a:solidFill>
                  <a:srgbClr val="A33D2E"/>
                </a:solidFill>
                <a:latin typeface="Arial"/>
                <a:ea typeface="Arial"/>
                <a:cs typeface="Arial"/>
              </a:defRPr>
            </a:pPr>
            <a:r>
              <a:rPr sz="825" b="1" i="0">
                <a:solidFill>
                  <a:srgbClr val="A33D2E"/>
                </a:solidFill>
                <a:latin typeface="Arial"/>
                <a:ea typeface="Arial"/>
                <a:cs typeface="Arial"/>
              </a:rPr>
              <a:t>02</a:t>
            </a:r>
          </a:p>
        </p:txBody>
      </p:sp>
      <p:sp>
        <p:nvSpPr>
          <p:cNvPr id="11" name="Rectangle 10">
            <a:extLst>
              <a:ext uri="{FF2B5EF4-FFF2-40B4-BE49-F238E27FC236}">
                <a16:creationId xmlns:a16="http://schemas.microsoft.com/office/drawing/2014/main" id="{199FD055-0EFA-4586-8B98-B44365174239}"/>
              </a:ext>
            </a:extLst>
          </p:cNvPr>
          <p:cNvSpPr>
            <a:spLocks noGrp="1"/>
          </p:cNvSpPr>
          <p:nvPr/>
        </p:nvSpPr>
        <p:spPr>
          <a:xfrm>
            <a:off x="4191000" y="4819650"/>
            <a:ext cx="2952750" cy="533400"/>
          </a:xfrm>
          <a:prstGeom prst="rect">
            <a:avLst/>
          </a:prstGeom>
          <a:noFill/>
          <a:ln w="0">
            <a:noFill/>
          </a:ln>
        </p:spPr>
        <p:txBody>
          <a:bodyPr lIns="0" tIns="0" rIns="0" bIns="0" anchor="t">
            <a:normAutofit/>
          </a:bodyPr>
          <a:lstStyle/>
          <a:p>
            <a:pPr algn="l">
              <a:defRPr sz="1500" b="1" i="0">
                <a:solidFill>
                  <a:srgbClr val="1A1A1A"/>
                </a:solidFill>
                <a:latin typeface="Arial"/>
                <a:ea typeface="Arial"/>
                <a:cs typeface="Arial"/>
              </a:defRPr>
            </a:pPr>
            <a:r>
              <a:rPr sz="1500" b="1" i="0">
                <a:solidFill>
                  <a:srgbClr val="1A1A1A"/>
                </a:solidFill>
                <a:latin typeface="Arial"/>
                <a:ea typeface="Arial"/>
                <a:cs typeface="Arial"/>
              </a:rPr>
              <a:t>Historically informative wallets</a:t>
            </a:r>
          </a:p>
        </p:txBody>
      </p:sp>
      <p:sp>
        <p:nvSpPr>
          <p:cNvPr id="12" name="Straight Connector 11">
            <a:extLst>
              <a:ext uri="{FF2B5EF4-FFF2-40B4-BE49-F238E27FC236}">
                <a16:creationId xmlns:a16="http://schemas.microsoft.com/office/drawing/2014/main" id="{668BE2D9-564F-4234-B43B-2E0E826AF854}"/>
              </a:ext>
            </a:extLst>
          </p:cNvPr>
          <p:cNvSpPr>
            <a:spLocks noGrp="1"/>
          </p:cNvSpPr>
          <p:nvPr/>
        </p:nvSpPr>
        <p:spPr>
          <a:xfrm>
            <a:off x="7734300" y="4391025"/>
            <a:ext cx="3143250" cy="0"/>
          </a:xfrm>
          <a:prstGeom prst="line">
            <a:avLst/>
          </a:prstGeom>
          <a:noFill/>
          <a:ln w="23813">
            <a:solidFill>
              <a:srgbClr val="A33D2E"/>
            </a:solidFill>
            <a:prstDash val="solid"/>
          </a:ln>
        </p:spPr>
        <p:txBody>
          <a:bodyPr/>
          <a:lstStyle/>
          <a:p>
            <a:endParaRPr lang="en-US"/>
          </a:p>
        </p:txBody>
      </p:sp>
      <p:sp>
        <p:nvSpPr>
          <p:cNvPr id="13" name="Rectangle 12">
            <a:extLst>
              <a:ext uri="{FF2B5EF4-FFF2-40B4-BE49-F238E27FC236}">
                <a16:creationId xmlns:a16="http://schemas.microsoft.com/office/drawing/2014/main" id="{1CE6F037-AA6C-4DB7-BE1D-A4522550C617}"/>
              </a:ext>
            </a:extLst>
          </p:cNvPr>
          <p:cNvSpPr>
            <a:spLocks noGrp="1"/>
          </p:cNvSpPr>
          <p:nvPr/>
        </p:nvSpPr>
        <p:spPr>
          <a:xfrm>
            <a:off x="7734300" y="4552950"/>
            <a:ext cx="666750" cy="190500"/>
          </a:xfrm>
          <a:prstGeom prst="rect">
            <a:avLst/>
          </a:prstGeom>
          <a:noFill/>
          <a:ln w="0">
            <a:noFill/>
          </a:ln>
        </p:spPr>
        <p:txBody>
          <a:bodyPr lIns="0" tIns="0" rIns="0" bIns="0" anchor="t">
            <a:normAutofit/>
          </a:bodyPr>
          <a:lstStyle/>
          <a:p>
            <a:pPr algn="l">
              <a:defRPr sz="825" b="1" i="0">
                <a:solidFill>
                  <a:srgbClr val="A33D2E"/>
                </a:solidFill>
                <a:latin typeface="Arial"/>
                <a:ea typeface="Arial"/>
                <a:cs typeface="Arial"/>
              </a:defRPr>
            </a:pPr>
            <a:r>
              <a:rPr sz="825" b="1" i="0">
                <a:solidFill>
                  <a:srgbClr val="A33D2E"/>
                </a:solidFill>
                <a:latin typeface="Arial"/>
                <a:ea typeface="Arial"/>
                <a:cs typeface="Arial"/>
              </a:rPr>
              <a:t>03</a:t>
            </a:r>
          </a:p>
        </p:txBody>
      </p:sp>
      <p:sp>
        <p:nvSpPr>
          <p:cNvPr id="14" name="Rectangle 13">
            <a:extLst>
              <a:ext uri="{FF2B5EF4-FFF2-40B4-BE49-F238E27FC236}">
                <a16:creationId xmlns:a16="http://schemas.microsoft.com/office/drawing/2014/main" id="{87EA8207-83D6-402F-A184-5114EDFD8A8B}"/>
              </a:ext>
            </a:extLst>
          </p:cNvPr>
          <p:cNvSpPr>
            <a:spLocks noGrp="1"/>
          </p:cNvSpPr>
          <p:nvPr/>
        </p:nvSpPr>
        <p:spPr>
          <a:xfrm>
            <a:off x="7734300" y="4819650"/>
            <a:ext cx="2952750" cy="533400"/>
          </a:xfrm>
          <a:prstGeom prst="rect">
            <a:avLst/>
          </a:prstGeom>
          <a:noFill/>
          <a:ln w="0">
            <a:noFill/>
          </a:ln>
        </p:spPr>
        <p:txBody>
          <a:bodyPr lIns="0" tIns="0" rIns="0" bIns="0" anchor="t">
            <a:normAutofit/>
          </a:bodyPr>
          <a:lstStyle/>
          <a:p>
            <a:pPr algn="l">
              <a:defRPr sz="1500" b="1" i="0">
                <a:solidFill>
                  <a:srgbClr val="A33D2E"/>
                </a:solidFill>
                <a:latin typeface="Arial"/>
                <a:ea typeface="Arial"/>
                <a:cs typeface="Arial"/>
              </a:defRPr>
            </a:pPr>
            <a:r>
              <a:rPr sz="1500" b="1" i="0">
                <a:solidFill>
                  <a:srgbClr val="A33D2E"/>
                </a:solidFill>
                <a:latin typeface="Arial"/>
                <a:ea typeface="Arial"/>
                <a:cs typeface="Arial"/>
              </a:rPr>
              <a:t>Volatility and portfolio risk</a:t>
            </a:r>
          </a:p>
        </p:txBody>
      </p:sp>
      <p:sp>
        <p:nvSpPr>
          <p:cNvPr id="15" name="Rectangle 14">
            <a:extLst>
              <a:ext uri="{FF2B5EF4-FFF2-40B4-BE49-F238E27FC236}">
                <a16:creationId xmlns:a16="http://schemas.microsoft.com/office/drawing/2014/main" id="{EEE1BD7E-8C10-4F4F-8082-8AC47D4F3042}"/>
              </a:ext>
            </a:extLst>
          </p:cNvPr>
          <p:cNvSpPr>
            <a:spLocks noGrp="1"/>
          </p:cNvSpPr>
          <p:nvPr/>
        </p:nvSpPr>
        <p:spPr>
          <a:xfrm>
            <a:off x="647700" y="5953125"/>
            <a:ext cx="6191250" cy="228600"/>
          </a:xfrm>
          <a:prstGeom prst="rect">
            <a:avLst/>
          </a:prstGeom>
          <a:noFill/>
          <a:ln w="0">
            <a:noFill/>
          </a:ln>
        </p:spPr>
        <p:txBody>
          <a:bodyPr lIns="0" tIns="0" rIns="0" bIns="0" anchor="t">
            <a:normAutofit/>
          </a:bodyPr>
          <a:lstStyle/>
          <a:p>
            <a:pPr algn="l">
              <a:defRPr sz="1125" b="0" i="0">
                <a:solidFill>
                  <a:srgbClr val="555555"/>
                </a:solidFill>
                <a:latin typeface="Arial"/>
                <a:ea typeface="Arial"/>
                <a:cs typeface="Arial"/>
              </a:defRPr>
            </a:pPr>
            <a:r>
              <a:rPr sz="1125" b="0" i="0">
                <a:solidFill>
                  <a:srgbClr val="555555"/>
                </a:solidFill>
                <a:latin typeface="Arial"/>
                <a:ea typeface="Arial"/>
                <a:cs typeface="Arial"/>
              </a:rPr>
              <a:t>Advised by Prof. Shuai Wang</a:t>
            </a:r>
          </a:p>
        </p:txBody>
      </p:sp>
      <p:sp>
        <p:nvSpPr>
          <p:cNvPr id="16" name="Straight Connector 15">
            <a:extLst>
              <a:ext uri="{FF2B5EF4-FFF2-40B4-BE49-F238E27FC236}">
                <a16:creationId xmlns:a16="http://schemas.microsoft.com/office/drawing/2014/main" id="{2E000649-6967-4311-9168-56B8C9789B44}"/>
              </a:ext>
            </a:extLst>
          </p:cNvPr>
          <p:cNvSpPr>
            <a:spLocks noGrp="1"/>
          </p:cNvSpPr>
          <p:nvPr/>
        </p:nvSpPr>
        <p:spPr>
          <a:xfrm>
            <a:off x="609600" y="6438900"/>
            <a:ext cx="10972800" cy="0"/>
          </a:xfrm>
          <a:prstGeom prst="line">
            <a:avLst/>
          </a:prstGeom>
          <a:noFill/>
          <a:ln w="9525">
            <a:solidFill>
              <a:srgbClr val="CEC8BE"/>
            </a:solidFill>
            <a:prstDash val="solid"/>
          </a:ln>
        </p:spPr>
        <p:txBody>
          <a:bodyPr/>
          <a:lstStyle/>
          <a:p>
            <a:endParaRPr lang="en-US"/>
          </a:p>
        </p:txBody>
      </p:sp>
      <p:sp>
        <p:nvSpPr>
          <p:cNvPr id="17" name="Rectangle 16">
            <a:extLst>
              <a:ext uri="{FF2B5EF4-FFF2-40B4-BE49-F238E27FC236}">
                <a16:creationId xmlns:a16="http://schemas.microsoft.com/office/drawing/2014/main" id="{0A77FEF1-1DB7-473B-9624-ACBAABA70DB2}"/>
              </a:ext>
            </a:extLst>
          </p:cNvPr>
          <p:cNvSpPr>
            <a:spLocks noGrp="1"/>
          </p:cNvSpPr>
          <p:nvPr/>
        </p:nvSpPr>
        <p:spPr>
          <a:xfrm>
            <a:off x="609600" y="6543675"/>
            <a:ext cx="6667500" cy="152400"/>
          </a:xfrm>
          <a:prstGeom prst="rect">
            <a:avLst/>
          </a:prstGeom>
          <a:noFill/>
          <a:ln w="0">
            <a:noFill/>
          </a:ln>
        </p:spPr>
        <p:txBody>
          <a:bodyPr lIns="0" tIns="0" rIns="0" bIns="0" anchor="t">
            <a:normAutofit/>
          </a:bodyPr>
          <a:lstStyle/>
          <a:p>
            <a:pPr algn="l">
              <a:defRPr sz="750" b="1" i="0">
                <a:solidFill>
                  <a:srgbClr val="8E887F"/>
                </a:solidFill>
                <a:latin typeface="Arial"/>
                <a:ea typeface="Arial"/>
                <a:cs typeface="Arial"/>
              </a:defRPr>
            </a:pPr>
            <a:r>
              <a:rPr sz="750" b="1" i="0">
                <a:solidFill>
                  <a:srgbClr val="8E887F"/>
                </a:solidFill>
                <a:latin typeface="Arial"/>
                <a:ea typeface="Arial"/>
                <a:cs typeface="Arial"/>
              </a:rPr>
              <a:t>EVENTLENS   FINAL YEAR PROJECT PROPOSAL</a:t>
            </a:r>
          </a:p>
        </p:txBody>
      </p:sp>
      <p:sp>
        <p:nvSpPr>
          <p:cNvPr id="18" name="Rectangle 17">
            <a:extLst>
              <a:ext uri="{FF2B5EF4-FFF2-40B4-BE49-F238E27FC236}">
                <a16:creationId xmlns:a16="http://schemas.microsoft.com/office/drawing/2014/main" id="{6E6A9557-1B94-4B1C-B555-F7FEFB2136CA}"/>
              </a:ext>
            </a:extLst>
          </p:cNvPr>
          <p:cNvSpPr>
            <a:spLocks noGrp="1"/>
          </p:cNvSpPr>
          <p:nvPr/>
        </p:nvSpPr>
        <p:spPr>
          <a:xfrm>
            <a:off x="10287000" y="6543675"/>
            <a:ext cx="1295400" cy="152400"/>
          </a:xfrm>
          <a:prstGeom prst="rect">
            <a:avLst/>
          </a:prstGeom>
          <a:noFill/>
          <a:ln w="0">
            <a:noFill/>
          </a:ln>
        </p:spPr>
        <p:txBody>
          <a:bodyPr lIns="0" tIns="0" rIns="0" bIns="0" anchor="t">
            <a:normAutofit/>
          </a:bodyPr>
          <a:lstStyle/>
          <a:p>
            <a:pPr algn="r">
              <a:defRPr sz="750" b="1" i="0">
                <a:solidFill>
                  <a:srgbClr val="8E887F"/>
                </a:solidFill>
                <a:latin typeface="Arial"/>
                <a:ea typeface="Arial"/>
                <a:cs typeface="Arial"/>
              </a:defRPr>
            </a:pPr>
            <a:r>
              <a:rPr sz="750" b="1" i="0">
                <a:solidFill>
                  <a:srgbClr val="8E887F"/>
                </a:solidFill>
                <a:latin typeface="Arial"/>
                <a:ea typeface="Arial"/>
                <a:cs typeface="Arial"/>
              </a:rPr>
              <a:t>01 / 08</a:t>
            </a:r>
          </a:p>
        </p:txBody>
      </p:sp>
    </p:spTree>
    <p:extLst>
      <p:ext uri="{BB962C8B-B14F-4D97-AF65-F5344CB8AC3E}">
        <p14:creationId xmlns:p14="http://schemas.microsoft.com/office/powerpoint/2010/main" val="17333618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3EEE5"/>
        </a:solidFill>
        <a:effectLst/>
      </p:bgPr>
    </p:bg>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29B550B4-C015-409B-A055-39D30228B8DF}"/>
              </a:ext>
            </a:extLst>
          </p:cNvPr>
          <p:cNvSpPr>
            <a:spLocks noGrp="1"/>
          </p:cNvSpPr>
          <p:nvPr/>
        </p:nvSpPr>
        <p:spPr>
          <a:xfrm>
            <a:off x="609600" y="400050"/>
            <a:ext cx="7239000" cy="228600"/>
          </a:xfrm>
          <a:prstGeom prst="rect">
            <a:avLst/>
          </a:prstGeom>
          <a:noFill/>
          <a:ln w="0">
            <a:noFill/>
          </a:ln>
        </p:spPr>
        <p:txBody>
          <a:bodyPr lIns="0" tIns="0" rIns="0" bIns="0" anchor="t">
            <a:normAutofit/>
          </a:bodyPr>
          <a:lstStyle/>
          <a:p>
            <a:pPr algn="l">
              <a:defRPr sz="975" b="1" i="0">
                <a:solidFill>
                  <a:srgbClr val="A33D2E"/>
                </a:solidFill>
                <a:latin typeface="Arial"/>
                <a:ea typeface="Arial"/>
                <a:cs typeface="Arial"/>
              </a:defRPr>
            </a:pPr>
            <a:r>
              <a:rPr sz="975" b="1" i="0">
                <a:solidFill>
                  <a:srgbClr val="A33D2E"/>
                </a:solidFill>
                <a:latin typeface="Arial"/>
                <a:ea typeface="Arial"/>
                <a:cs typeface="Arial"/>
              </a:rPr>
              <a:t>MOTIVATION AND RESEARCH GAP</a:t>
            </a:r>
          </a:p>
        </p:txBody>
      </p:sp>
      <p:sp>
        <p:nvSpPr>
          <p:cNvPr id="2" name="Rectangle 1">
            <a:extLst>
              <a:ext uri="{FF2B5EF4-FFF2-40B4-BE49-F238E27FC236}">
                <a16:creationId xmlns:a16="http://schemas.microsoft.com/office/drawing/2014/main" id="{B218F79A-A5BE-4329-A5CE-A16224395DA6}"/>
              </a:ext>
            </a:extLst>
          </p:cNvPr>
          <p:cNvSpPr>
            <a:spLocks noGrp="1"/>
          </p:cNvSpPr>
          <p:nvPr/>
        </p:nvSpPr>
        <p:spPr>
          <a:xfrm>
            <a:off x="609600" y="666750"/>
            <a:ext cx="10668000" cy="666750"/>
          </a:xfrm>
          <a:prstGeom prst="rect">
            <a:avLst/>
          </a:prstGeom>
          <a:noFill/>
          <a:ln w="0">
            <a:noFill/>
          </a:ln>
        </p:spPr>
        <p:txBody>
          <a:bodyPr lIns="0" tIns="0" rIns="0" bIns="0" anchor="t">
            <a:normAutofit/>
          </a:bodyPr>
          <a:lstStyle/>
          <a:p>
            <a:pPr algn="l">
              <a:defRPr sz="3525" b="1" i="0">
                <a:solidFill>
                  <a:srgbClr val="1A1A1A"/>
                </a:solidFill>
                <a:latin typeface="Arial"/>
                <a:ea typeface="Arial"/>
                <a:cs typeface="Arial"/>
              </a:defRPr>
            </a:pPr>
            <a:r>
              <a:rPr sz="3525" b="1" i="0">
                <a:solidFill>
                  <a:srgbClr val="1A1A1A"/>
                </a:solidFill>
                <a:latin typeface="Arial"/>
                <a:ea typeface="Arial"/>
                <a:cs typeface="Arial"/>
              </a:rPr>
              <a:t>A probability signal for event risk</a:t>
            </a:r>
          </a:p>
        </p:txBody>
      </p:sp>
      <p:sp>
        <p:nvSpPr>
          <p:cNvPr id="3" name="Straight Connector 2">
            <a:extLst>
              <a:ext uri="{FF2B5EF4-FFF2-40B4-BE49-F238E27FC236}">
                <a16:creationId xmlns:a16="http://schemas.microsoft.com/office/drawing/2014/main" id="{1871BF7E-B3C7-4CDC-9005-BCC24B853B08}"/>
              </a:ext>
            </a:extLst>
          </p:cNvPr>
          <p:cNvSpPr>
            <a:spLocks noGrp="1"/>
          </p:cNvSpPr>
          <p:nvPr/>
        </p:nvSpPr>
        <p:spPr>
          <a:xfrm>
            <a:off x="609600" y="1428750"/>
            <a:ext cx="10972800" cy="0"/>
          </a:xfrm>
          <a:prstGeom prst="line">
            <a:avLst/>
          </a:prstGeom>
          <a:noFill/>
          <a:ln w="9525">
            <a:solidFill>
              <a:srgbClr val="CEC8BE"/>
            </a:solidFill>
            <a:prstDash val="solid"/>
          </a:ln>
        </p:spPr>
        <p:txBody>
          <a:bodyPr/>
          <a:lstStyle/>
          <a:p>
            <a:endParaRPr lang="en-US"/>
          </a:p>
        </p:txBody>
      </p:sp>
      <p:sp>
        <p:nvSpPr>
          <p:cNvPr id="4" name="Straight Connector 3">
            <a:extLst>
              <a:ext uri="{FF2B5EF4-FFF2-40B4-BE49-F238E27FC236}">
                <a16:creationId xmlns:a16="http://schemas.microsoft.com/office/drawing/2014/main" id="{CC3D5421-FD34-44A0-85AC-C4DFB41D5D76}"/>
              </a:ext>
            </a:extLst>
          </p:cNvPr>
          <p:cNvSpPr>
            <a:spLocks noGrp="1"/>
          </p:cNvSpPr>
          <p:nvPr/>
        </p:nvSpPr>
        <p:spPr>
          <a:xfrm>
            <a:off x="609600" y="6438900"/>
            <a:ext cx="10972800" cy="0"/>
          </a:xfrm>
          <a:prstGeom prst="line">
            <a:avLst/>
          </a:prstGeom>
          <a:noFill/>
          <a:ln w="9525">
            <a:solidFill>
              <a:srgbClr val="CEC8BE"/>
            </a:solidFill>
            <a:prstDash val="solid"/>
          </a:ln>
        </p:spPr>
        <p:txBody>
          <a:bodyPr/>
          <a:lstStyle/>
          <a:p>
            <a:endParaRPr lang="en-US"/>
          </a:p>
        </p:txBody>
      </p:sp>
      <p:sp>
        <p:nvSpPr>
          <p:cNvPr id="5" name="Rectangle 4">
            <a:extLst>
              <a:ext uri="{FF2B5EF4-FFF2-40B4-BE49-F238E27FC236}">
                <a16:creationId xmlns:a16="http://schemas.microsoft.com/office/drawing/2014/main" id="{FA04D556-8C2E-46CA-BE14-C2AFF87ED164}"/>
              </a:ext>
            </a:extLst>
          </p:cNvPr>
          <p:cNvSpPr>
            <a:spLocks noGrp="1"/>
          </p:cNvSpPr>
          <p:nvPr/>
        </p:nvSpPr>
        <p:spPr>
          <a:xfrm>
            <a:off x="609600" y="6543675"/>
            <a:ext cx="6667500" cy="152400"/>
          </a:xfrm>
          <a:prstGeom prst="rect">
            <a:avLst/>
          </a:prstGeom>
          <a:noFill/>
          <a:ln w="0">
            <a:noFill/>
          </a:ln>
        </p:spPr>
        <p:txBody>
          <a:bodyPr lIns="0" tIns="0" rIns="0" bIns="0" anchor="t">
            <a:normAutofit/>
          </a:bodyPr>
          <a:lstStyle/>
          <a:p>
            <a:pPr algn="l">
              <a:defRPr sz="750" b="1" i="0">
                <a:solidFill>
                  <a:srgbClr val="8E887F"/>
                </a:solidFill>
                <a:latin typeface="Arial"/>
                <a:ea typeface="Arial"/>
                <a:cs typeface="Arial"/>
              </a:defRPr>
            </a:pPr>
            <a:r>
              <a:rPr sz="750" b="1" i="0">
                <a:solidFill>
                  <a:srgbClr val="8E887F"/>
                </a:solidFill>
                <a:latin typeface="Arial"/>
                <a:ea typeface="Arial"/>
                <a:cs typeface="Arial"/>
              </a:rPr>
              <a:t>EVENTLENS   FINAL YEAR PROJECT PROPOSAL</a:t>
            </a:r>
          </a:p>
        </p:txBody>
      </p:sp>
      <p:sp>
        <p:nvSpPr>
          <p:cNvPr id="6" name="Rectangle 5">
            <a:extLst>
              <a:ext uri="{FF2B5EF4-FFF2-40B4-BE49-F238E27FC236}">
                <a16:creationId xmlns:a16="http://schemas.microsoft.com/office/drawing/2014/main" id="{3077E3C2-DE8E-4DF5-ACAF-4E956019E0C0}"/>
              </a:ext>
            </a:extLst>
          </p:cNvPr>
          <p:cNvSpPr>
            <a:spLocks noGrp="1"/>
          </p:cNvSpPr>
          <p:nvPr/>
        </p:nvSpPr>
        <p:spPr>
          <a:xfrm>
            <a:off x="10287000" y="6543675"/>
            <a:ext cx="1295400" cy="152400"/>
          </a:xfrm>
          <a:prstGeom prst="rect">
            <a:avLst/>
          </a:prstGeom>
          <a:noFill/>
          <a:ln w="0">
            <a:noFill/>
          </a:ln>
        </p:spPr>
        <p:txBody>
          <a:bodyPr lIns="0" tIns="0" rIns="0" bIns="0" anchor="t">
            <a:normAutofit/>
          </a:bodyPr>
          <a:lstStyle/>
          <a:p>
            <a:pPr algn="r">
              <a:defRPr sz="750" b="1" i="0">
                <a:solidFill>
                  <a:srgbClr val="8E887F"/>
                </a:solidFill>
                <a:latin typeface="Arial"/>
                <a:ea typeface="Arial"/>
                <a:cs typeface="Arial"/>
              </a:defRPr>
            </a:pPr>
            <a:r>
              <a:rPr sz="750" b="1" i="0">
                <a:solidFill>
                  <a:srgbClr val="8E887F"/>
                </a:solidFill>
                <a:latin typeface="Arial"/>
                <a:ea typeface="Arial"/>
                <a:cs typeface="Arial"/>
              </a:rPr>
              <a:t>02 / 08</a:t>
            </a:r>
          </a:p>
        </p:txBody>
      </p:sp>
      <p:sp>
        <p:nvSpPr>
          <p:cNvPr id="7" name="Rectangle 6">
            <a:extLst>
              <a:ext uri="{FF2B5EF4-FFF2-40B4-BE49-F238E27FC236}">
                <a16:creationId xmlns:a16="http://schemas.microsoft.com/office/drawing/2014/main" id="{C6E6314A-8620-4EB6-BCF8-3DE5319FD976}"/>
              </a:ext>
            </a:extLst>
          </p:cNvPr>
          <p:cNvSpPr>
            <a:spLocks noGrp="1"/>
          </p:cNvSpPr>
          <p:nvPr/>
        </p:nvSpPr>
        <p:spPr>
          <a:xfrm>
            <a:off x="609600" y="1752600"/>
            <a:ext cx="5219700" cy="2076450"/>
          </a:xfrm>
          <a:prstGeom prst="rect">
            <a:avLst/>
          </a:prstGeom>
          <a:solidFill>
            <a:srgbClr val="FFFFFF"/>
          </a:solidFill>
          <a:ln w="14288">
            <a:solidFill>
              <a:srgbClr val="1A1A1A"/>
            </a:solidFill>
            <a:prstDash val="solid"/>
          </a:ln>
        </p:spPr>
        <p:txBody>
          <a:bodyPr/>
          <a:lstStyle/>
          <a:p>
            <a:endParaRPr lang="en-US"/>
          </a:p>
        </p:txBody>
      </p:sp>
      <p:sp>
        <p:nvSpPr>
          <p:cNvPr id="8" name="Rectangle 7">
            <a:extLst>
              <a:ext uri="{FF2B5EF4-FFF2-40B4-BE49-F238E27FC236}">
                <a16:creationId xmlns:a16="http://schemas.microsoft.com/office/drawing/2014/main" id="{FB9975CA-FC83-4169-9AE5-1A4E18FF6A4F}"/>
              </a:ext>
            </a:extLst>
          </p:cNvPr>
          <p:cNvSpPr>
            <a:spLocks noGrp="1"/>
          </p:cNvSpPr>
          <p:nvPr/>
        </p:nvSpPr>
        <p:spPr>
          <a:xfrm>
            <a:off x="838200" y="1952625"/>
            <a:ext cx="2095500" cy="190500"/>
          </a:xfrm>
          <a:prstGeom prst="rect">
            <a:avLst/>
          </a:prstGeom>
          <a:noFill/>
          <a:ln w="0">
            <a:noFill/>
          </a:ln>
        </p:spPr>
        <p:txBody>
          <a:bodyPr lIns="0" tIns="0" rIns="0" bIns="0" anchor="t">
            <a:normAutofit/>
          </a:bodyPr>
          <a:lstStyle/>
          <a:p>
            <a:pPr algn="l">
              <a:defRPr sz="825" b="1" i="0">
                <a:solidFill>
                  <a:srgbClr val="A33D2E"/>
                </a:solidFill>
                <a:latin typeface="Arial"/>
                <a:ea typeface="Arial"/>
                <a:cs typeface="Arial"/>
              </a:defRPr>
            </a:pPr>
            <a:r>
              <a:rPr sz="825" b="1" i="0">
                <a:solidFill>
                  <a:srgbClr val="A33D2E"/>
                </a:solidFill>
                <a:latin typeface="Arial"/>
                <a:ea typeface="Arial"/>
                <a:cs typeface="Arial"/>
              </a:rPr>
              <a:t>OBSERVED GAP</a:t>
            </a:r>
          </a:p>
        </p:txBody>
      </p:sp>
      <p:sp>
        <p:nvSpPr>
          <p:cNvPr id="9" name="Rectangle 8">
            <a:extLst>
              <a:ext uri="{FF2B5EF4-FFF2-40B4-BE49-F238E27FC236}">
                <a16:creationId xmlns:a16="http://schemas.microsoft.com/office/drawing/2014/main" id="{5A8837DF-4944-4473-8663-DBC670BAB470}"/>
              </a:ext>
            </a:extLst>
          </p:cNvPr>
          <p:cNvSpPr>
            <a:spLocks noGrp="1"/>
          </p:cNvSpPr>
          <p:nvPr/>
        </p:nvSpPr>
        <p:spPr>
          <a:xfrm>
            <a:off x="838200" y="2266950"/>
            <a:ext cx="4686300" cy="590550"/>
          </a:xfrm>
          <a:prstGeom prst="rect">
            <a:avLst/>
          </a:prstGeom>
          <a:noFill/>
          <a:ln w="0">
            <a:noFill/>
          </a:ln>
        </p:spPr>
        <p:txBody>
          <a:bodyPr lIns="0" tIns="0" rIns="0" bIns="0" anchor="t">
            <a:normAutofit/>
          </a:bodyPr>
          <a:lstStyle/>
          <a:p>
            <a:pPr algn="l">
              <a:defRPr sz="1800" b="1" i="0">
                <a:solidFill>
                  <a:srgbClr val="1A1A1A"/>
                </a:solidFill>
                <a:latin typeface="Arial"/>
                <a:ea typeface="Arial"/>
                <a:cs typeface="Arial"/>
              </a:defRPr>
            </a:pPr>
            <a:r>
              <a:rPr sz="1800" b="1" i="0">
                <a:solidFill>
                  <a:srgbClr val="1A1A1A"/>
                </a:solidFill>
                <a:latin typeface="Arial"/>
                <a:ea typeface="Arial"/>
                <a:cs typeface="Arial"/>
              </a:rPr>
              <a:t>Asset markets show repricing, not the event probability itself</a:t>
            </a:r>
          </a:p>
        </p:txBody>
      </p:sp>
      <p:sp>
        <p:nvSpPr>
          <p:cNvPr id="10" name="Rectangle 9">
            <a:extLst>
              <a:ext uri="{FF2B5EF4-FFF2-40B4-BE49-F238E27FC236}">
                <a16:creationId xmlns:a16="http://schemas.microsoft.com/office/drawing/2014/main" id="{58C202BD-F5CD-4DDC-ABFF-8B02BCD5C8F0}"/>
              </a:ext>
            </a:extLst>
          </p:cNvPr>
          <p:cNvSpPr>
            <a:spLocks noGrp="1"/>
          </p:cNvSpPr>
          <p:nvPr/>
        </p:nvSpPr>
        <p:spPr>
          <a:xfrm>
            <a:off x="838200" y="3009900"/>
            <a:ext cx="4686300" cy="628650"/>
          </a:xfrm>
          <a:prstGeom prst="rect">
            <a:avLst/>
          </a:prstGeom>
          <a:noFill/>
          <a:ln w="0">
            <a:noFill/>
          </a:ln>
        </p:spPr>
        <p:txBody>
          <a:bodyPr lIns="0" tIns="0" rIns="0" bIns="0" anchor="t">
            <a:normAutofit/>
          </a:bodyPr>
          <a:lstStyle/>
          <a:p>
            <a:pPr algn="l">
              <a:defRPr sz="1275" b="0" i="0">
                <a:solidFill>
                  <a:srgbClr val="555555"/>
                </a:solidFill>
                <a:latin typeface="Arial"/>
                <a:ea typeface="Arial"/>
                <a:cs typeface="Arial"/>
              </a:defRPr>
            </a:pPr>
            <a:r>
              <a:rPr sz="1275" b="0" i="0">
                <a:solidFill>
                  <a:srgbClr val="555555"/>
                </a:solidFill>
                <a:latin typeface="Arial"/>
                <a:ea typeface="Arial"/>
                <a:cs typeface="Arial"/>
              </a:rPr>
              <a:t>News, prices and volatility indicators reveal market reaction. They do not directly show a continuously updated probability for the underlying event.</a:t>
            </a:r>
          </a:p>
        </p:txBody>
      </p:sp>
      <p:sp>
        <p:nvSpPr>
          <p:cNvPr id="11" name="Rectangle 10">
            <a:extLst>
              <a:ext uri="{FF2B5EF4-FFF2-40B4-BE49-F238E27FC236}">
                <a16:creationId xmlns:a16="http://schemas.microsoft.com/office/drawing/2014/main" id="{47DB75E9-3B11-4EB2-8AA2-82F4477DADA3}"/>
              </a:ext>
            </a:extLst>
          </p:cNvPr>
          <p:cNvSpPr>
            <a:spLocks noGrp="1"/>
          </p:cNvSpPr>
          <p:nvPr/>
        </p:nvSpPr>
        <p:spPr>
          <a:xfrm>
            <a:off x="6019800" y="1752600"/>
            <a:ext cx="5562600" cy="2076450"/>
          </a:xfrm>
          <a:prstGeom prst="rect">
            <a:avLst/>
          </a:prstGeom>
          <a:solidFill>
            <a:srgbClr val="F3E6E1"/>
          </a:solidFill>
          <a:ln w="14288">
            <a:solidFill>
              <a:srgbClr val="A33D2E"/>
            </a:solidFill>
            <a:prstDash val="solid"/>
          </a:ln>
        </p:spPr>
        <p:txBody>
          <a:bodyPr/>
          <a:lstStyle/>
          <a:p>
            <a:endParaRPr lang="en-US"/>
          </a:p>
        </p:txBody>
      </p:sp>
      <p:sp>
        <p:nvSpPr>
          <p:cNvPr id="12" name="Rectangle 11">
            <a:extLst>
              <a:ext uri="{FF2B5EF4-FFF2-40B4-BE49-F238E27FC236}">
                <a16:creationId xmlns:a16="http://schemas.microsoft.com/office/drawing/2014/main" id="{B1410F83-572C-4F46-B1B5-232E3149EA74}"/>
              </a:ext>
            </a:extLst>
          </p:cNvPr>
          <p:cNvSpPr>
            <a:spLocks noGrp="1"/>
          </p:cNvSpPr>
          <p:nvPr/>
        </p:nvSpPr>
        <p:spPr>
          <a:xfrm>
            <a:off x="6248400" y="1952625"/>
            <a:ext cx="2286000" cy="190500"/>
          </a:xfrm>
          <a:prstGeom prst="rect">
            <a:avLst/>
          </a:prstGeom>
          <a:noFill/>
          <a:ln w="0">
            <a:noFill/>
          </a:ln>
        </p:spPr>
        <p:txBody>
          <a:bodyPr lIns="0" tIns="0" rIns="0" bIns="0" anchor="t">
            <a:normAutofit/>
          </a:bodyPr>
          <a:lstStyle/>
          <a:p>
            <a:pPr algn="l">
              <a:defRPr sz="825" b="1" i="0">
                <a:solidFill>
                  <a:srgbClr val="A33D2E"/>
                </a:solidFill>
                <a:latin typeface="Arial"/>
                <a:ea typeface="Arial"/>
                <a:cs typeface="Arial"/>
              </a:defRPr>
            </a:pPr>
            <a:r>
              <a:rPr sz="825" b="1" i="0">
                <a:solidFill>
                  <a:srgbClr val="A33D2E"/>
                </a:solidFill>
                <a:latin typeface="Arial"/>
                <a:ea typeface="Arial"/>
                <a:cs typeface="Arial"/>
              </a:rPr>
              <a:t>RESEARCH OPPORTUNITY</a:t>
            </a:r>
          </a:p>
        </p:txBody>
      </p:sp>
      <p:sp>
        <p:nvSpPr>
          <p:cNvPr id="13" name="Rectangle 12">
            <a:extLst>
              <a:ext uri="{FF2B5EF4-FFF2-40B4-BE49-F238E27FC236}">
                <a16:creationId xmlns:a16="http://schemas.microsoft.com/office/drawing/2014/main" id="{20130C0B-5B0A-4CF8-828D-65A5EC482D2D}"/>
              </a:ext>
            </a:extLst>
          </p:cNvPr>
          <p:cNvSpPr>
            <a:spLocks noGrp="1"/>
          </p:cNvSpPr>
          <p:nvPr/>
        </p:nvSpPr>
        <p:spPr>
          <a:xfrm>
            <a:off x="6248400" y="2266950"/>
            <a:ext cx="4953000" cy="590550"/>
          </a:xfrm>
          <a:prstGeom prst="rect">
            <a:avLst/>
          </a:prstGeom>
          <a:noFill/>
          <a:ln w="0">
            <a:noFill/>
          </a:ln>
        </p:spPr>
        <p:txBody>
          <a:bodyPr lIns="0" tIns="0" rIns="0" bIns="0" anchor="t">
            <a:normAutofit/>
          </a:bodyPr>
          <a:lstStyle/>
          <a:p>
            <a:pPr algn="l">
              <a:defRPr sz="1800" b="1" i="0">
                <a:solidFill>
                  <a:srgbClr val="1A1A1A"/>
                </a:solidFill>
                <a:latin typeface="Arial"/>
                <a:ea typeface="Arial"/>
                <a:cs typeface="Arial"/>
              </a:defRPr>
            </a:pPr>
            <a:r>
              <a:rPr sz="1800" b="1" i="0">
                <a:solidFill>
                  <a:srgbClr val="1A1A1A"/>
                </a:solidFill>
                <a:latin typeface="Arial"/>
                <a:ea typeface="Arial"/>
                <a:cs typeface="Arial"/>
              </a:rPr>
              <a:t>Prediction markets expose prices and participant histories</a:t>
            </a:r>
          </a:p>
        </p:txBody>
      </p:sp>
      <p:sp>
        <p:nvSpPr>
          <p:cNvPr id="14" name="Rectangle 13">
            <a:extLst>
              <a:ext uri="{FF2B5EF4-FFF2-40B4-BE49-F238E27FC236}">
                <a16:creationId xmlns:a16="http://schemas.microsoft.com/office/drawing/2014/main" id="{F54B95CD-1ED1-4A9F-9381-D95D9A398046}"/>
              </a:ext>
            </a:extLst>
          </p:cNvPr>
          <p:cNvSpPr>
            <a:spLocks noGrp="1"/>
          </p:cNvSpPr>
          <p:nvPr/>
        </p:nvSpPr>
        <p:spPr>
          <a:xfrm>
            <a:off x="6248400" y="3009900"/>
            <a:ext cx="4953000" cy="628650"/>
          </a:xfrm>
          <a:prstGeom prst="rect">
            <a:avLst/>
          </a:prstGeom>
          <a:noFill/>
          <a:ln w="0">
            <a:noFill/>
          </a:ln>
        </p:spPr>
        <p:txBody>
          <a:bodyPr lIns="0" tIns="0" rIns="0" bIns="0" anchor="t">
            <a:normAutofit/>
          </a:bodyPr>
          <a:lstStyle/>
          <a:p>
            <a:pPr algn="l">
              <a:defRPr sz="1275" b="0" i="0">
                <a:solidFill>
                  <a:srgbClr val="555555"/>
                </a:solidFill>
                <a:latin typeface="Arial"/>
                <a:ea typeface="Arial"/>
                <a:cs typeface="Arial"/>
              </a:defRPr>
            </a:pPr>
            <a:r>
              <a:rPr sz="1275" b="0" i="0">
                <a:solidFill>
                  <a:srgbClr val="555555"/>
                </a:solidFill>
                <a:latin typeface="Arial"/>
                <a:ea typeface="Arial"/>
                <a:cs typeface="Arial"/>
              </a:rPr>
              <a:t>Contract prices provide market-implied probabilities. Public settlement records make dated wallet behaviour observable for research.</a:t>
            </a:r>
          </a:p>
        </p:txBody>
      </p:sp>
      <p:sp>
        <p:nvSpPr>
          <p:cNvPr id="15" name="Rectangle 14">
            <a:extLst>
              <a:ext uri="{FF2B5EF4-FFF2-40B4-BE49-F238E27FC236}">
                <a16:creationId xmlns:a16="http://schemas.microsoft.com/office/drawing/2014/main" id="{E49A7C90-D12E-41AD-BA7C-17B83F79350A}"/>
              </a:ext>
            </a:extLst>
          </p:cNvPr>
          <p:cNvSpPr>
            <a:spLocks noGrp="1"/>
          </p:cNvSpPr>
          <p:nvPr/>
        </p:nvSpPr>
        <p:spPr>
          <a:xfrm>
            <a:off x="609600" y="4200525"/>
            <a:ext cx="1466850" cy="542925"/>
          </a:xfrm>
          <a:prstGeom prst="rect">
            <a:avLst/>
          </a:prstGeom>
          <a:noFill/>
          <a:ln w="0">
            <a:noFill/>
          </a:ln>
        </p:spPr>
        <p:txBody>
          <a:bodyPr lIns="0" tIns="0" rIns="0" bIns="0" anchor="t">
            <a:normAutofit/>
          </a:bodyPr>
          <a:lstStyle/>
          <a:p>
            <a:pPr algn="l">
              <a:defRPr sz="3300" b="1" i="0">
                <a:solidFill>
                  <a:srgbClr val="A33D2E"/>
                </a:solidFill>
                <a:latin typeface="Arial"/>
                <a:ea typeface="Arial"/>
                <a:cs typeface="Arial"/>
              </a:defRPr>
            </a:pPr>
            <a:r>
              <a:rPr sz="3300" b="1" i="0">
                <a:solidFill>
                  <a:srgbClr val="A33D2E"/>
                </a:solidFill>
                <a:latin typeface="Arial"/>
                <a:ea typeface="Arial"/>
                <a:cs typeface="Arial"/>
              </a:rPr>
              <a:t>69%</a:t>
            </a:r>
          </a:p>
        </p:txBody>
      </p:sp>
      <p:sp>
        <p:nvSpPr>
          <p:cNvPr id="16" name="Rectangle 15">
            <a:extLst>
              <a:ext uri="{FF2B5EF4-FFF2-40B4-BE49-F238E27FC236}">
                <a16:creationId xmlns:a16="http://schemas.microsoft.com/office/drawing/2014/main" id="{FF0768DB-D30B-471F-A4A5-BECD5B0E508A}"/>
              </a:ext>
            </a:extLst>
          </p:cNvPr>
          <p:cNvSpPr>
            <a:spLocks noGrp="1"/>
          </p:cNvSpPr>
          <p:nvPr/>
        </p:nvSpPr>
        <p:spPr>
          <a:xfrm>
            <a:off x="609600" y="4772025"/>
            <a:ext cx="2571750" cy="552450"/>
          </a:xfrm>
          <a:prstGeom prst="rect">
            <a:avLst/>
          </a:prstGeom>
          <a:noFill/>
          <a:ln w="0">
            <a:noFill/>
          </a:ln>
        </p:spPr>
        <p:txBody>
          <a:bodyPr lIns="0" tIns="0" rIns="0" bIns="0" anchor="t">
            <a:normAutofit/>
          </a:bodyPr>
          <a:lstStyle/>
          <a:p>
            <a:pPr algn="l">
              <a:defRPr sz="1200" b="0" i="0">
                <a:solidFill>
                  <a:srgbClr val="555555"/>
                </a:solidFill>
                <a:latin typeface="Arial"/>
                <a:ea typeface="Arial"/>
                <a:cs typeface="Arial"/>
              </a:defRPr>
            </a:pPr>
            <a:r>
              <a:rPr sz="1200" b="0" i="0">
                <a:solidFill>
                  <a:srgbClr val="555555"/>
                </a:solidFill>
                <a:latin typeface="Arial"/>
                <a:ea typeface="Arial"/>
                <a:cs typeface="Arial"/>
              </a:rPr>
              <a:t>of users lost money in one recent Polymarket study</a:t>
            </a:r>
          </a:p>
        </p:txBody>
      </p:sp>
      <p:sp>
        <p:nvSpPr>
          <p:cNvPr id="17" name="Rectangle 16">
            <a:extLst>
              <a:ext uri="{FF2B5EF4-FFF2-40B4-BE49-F238E27FC236}">
                <a16:creationId xmlns:a16="http://schemas.microsoft.com/office/drawing/2014/main" id="{266DBECA-51B6-459A-85FA-E4086262E514}"/>
              </a:ext>
            </a:extLst>
          </p:cNvPr>
          <p:cNvSpPr>
            <a:spLocks noGrp="1"/>
          </p:cNvSpPr>
          <p:nvPr/>
        </p:nvSpPr>
        <p:spPr>
          <a:xfrm>
            <a:off x="3381375" y="4200525"/>
            <a:ext cx="1466850" cy="542925"/>
          </a:xfrm>
          <a:prstGeom prst="rect">
            <a:avLst/>
          </a:prstGeom>
          <a:noFill/>
          <a:ln w="0">
            <a:noFill/>
          </a:ln>
        </p:spPr>
        <p:txBody>
          <a:bodyPr lIns="0" tIns="0" rIns="0" bIns="0" anchor="t">
            <a:normAutofit/>
          </a:bodyPr>
          <a:lstStyle/>
          <a:p>
            <a:pPr algn="l">
              <a:defRPr sz="3300" b="1" i="0">
                <a:solidFill>
                  <a:srgbClr val="A33D2E"/>
                </a:solidFill>
                <a:latin typeface="Arial"/>
                <a:ea typeface="Arial"/>
                <a:cs typeface="Arial"/>
              </a:defRPr>
            </a:pPr>
            <a:r>
              <a:rPr sz="3300" b="1" i="0">
                <a:solidFill>
                  <a:srgbClr val="A33D2E"/>
                </a:solidFill>
                <a:latin typeface="Arial"/>
                <a:ea typeface="Arial"/>
                <a:cs typeface="Arial"/>
              </a:rPr>
              <a:t>0.1%</a:t>
            </a:r>
          </a:p>
        </p:txBody>
      </p:sp>
      <p:sp>
        <p:nvSpPr>
          <p:cNvPr id="18" name="Rectangle 17">
            <a:extLst>
              <a:ext uri="{FF2B5EF4-FFF2-40B4-BE49-F238E27FC236}">
                <a16:creationId xmlns:a16="http://schemas.microsoft.com/office/drawing/2014/main" id="{B2831C8E-6DC6-4F77-96CB-06A6DF408E39}"/>
              </a:ext>
            </a:extLst>
          </p:cNvPr>
          <p:cNvSpPr>
            <a:spLocks noGrp="1"/>
          </p:cNvSpPr>
          <p:nvPr/>
        </p:nvSpPr>
        <p:spPr>
          <a:xfrm>
            <a:off x="3381375" y="4772025"/>
            <a:ext cx="2571750" cy="552450"/>
          </a:xfrm>
          <a:prstGeom prst="rect">
            <a:avLst/>
          </a:prstGeom>
          <a:noFill/>
          <a:ln w="0">
            <a:noFill/>
          </a:ln>
        </p:spPr>
        <p:txBody>
          <a:bodyPr lIns="0" tIns="0" rIns="0" bIns="0" anchor="t">
            <a:normAutofit/>
          </a:bodyPr>
          <a:lstStyle/>
          <a:p>
            <a:pPr algn="l">
              <a:defRPr sz="1200" b="0" i="0">
                <a:solidFill>
                  <a:srgbClr val="555555"/>
                </a:solidFill>
                <a:latin typeface="Arial"/>
                <a:ea typeface="Arial"/>
                <a:cs typeface="Arial"/>
              </a:defRPr>
            </a:pPr>
            <a:r>
              <a:rPr sz="1200" b="0" i="0">
                <a:solidFill>
                  <a:srgbClr val="555555"/>
                </a:solidFill>
                <a:latin typeface="Arial"/>
                <a:ea typeface="Arial"/>
                <a:cs typeface="Arial"/>
              </a:rPr>
              <a:t>of users captured more than half of aggregate gains</a:t>
            </a:r>
          </a:p>
        </p:txBody>
      </p:sp>
      <p:sp>
        <p:nvSpPr>
          <p:cNvPr id="19" name="Rectangle 18">
            <a:extLst>
              <a:ext uri="{FF2B5EF4-FFF2-40B4-BE49-F238E27FC236}">
                <a16:creationId xmlns:a16="http://schemas.microsoft.com/office/drawing/2014/main" id="{018F0899-04D9-4077-AEBF-0B38669385C7}"/>
              </a:ext>
            </a:extLst>
          </p:cNvPr>
          <p:cNvSpPr>
            <a:spLocks noGrp="1"/>
          </p:cNvSpPr>
          <p:nvPr/>
        </p:nvSpPr>
        <p:spPr>
          <a:xfrm>
            <a:off x="6438900" y="4152900"/>
            <a:ext cx="5143500" cy="1314450"/>
          </a:xfrm>
          <a:prstGeom prst="rect">
            <a:avLst/>
          </a:prstGeom>
          <a:solidFill>
            <a:srgbClr val="FFFFFF"/>
          </a:solidFill>
          <a:ln w="19050">
            <a:solidFill>
              <a:srgbClr val="1A1A1A"/>
            </a:solidFill>
            <a:prstDash val="solid"/>
          </a:ln>
        </p:spPr>
        <p:txBody>
          <a:bodyPr/>
          <a:lstStyle/>
          <a:p>
            <a:endParaRPr lang="en-US"/>
          </a:p>
        </p:txBody>
      </p:sp>
      <p:sp>
        <p:nvSpPr>
          <p:cNvPr id="20" name="Rectangle 19">
            <a:extLst>
              <a:ext uri="{FF2B5EF4-FFF2-40B4-BE49-F238E27FC236}">
                <a16:creationId xmlns:a16="http://schemas.microsoft.com/office/drawing/2014/main" id="{55FD9C4D-0668-423D-85CA-2BDA0FBDD9EC}"/>
              </a:ext>
            </a:extLst>
          </p:cNvPr>
          <p:cNvSpPr>
            <a:spLocks noGrp="1"/>
          </p:cNvSpPr>
          <p:nvPr/>
        </p:nvSpPr>
        <p:spPr>
          <a:xfrm>
            <a:off x="6667500" y="4333875"/>
            <a:ext cx="1714500" cy="190500"/>
          </a:xfrm>
          <a:prstGeom prst="rect">
            <a:avLst/>
          </a:prstGeom>
          <a:noFill/>
          <a:ln w="0">
            <a:noFill/>
          </a:ln>
        </p:spPr>
        <p:txBody>
          <a:bodyPr lIns="0" tIns="0" rIns="0" bIns="0" anchor="t">
            <a:normAutofit/>
          </a:bodyPr>
          <a:lstStyle/>
          <a:p>
            <a:pPr algn="l">
              <a:defRPr sz="825" b="1" i="0">
                <a:solidFill>
                  <a:srgbClr val="A33D2E"/>
                </a:solidFill>
                <a:latin typeface="Arial"/>
                <a:ea typeface="Arial"/>
                <a:cs typeface="Arial"/>
              </a:defRPr>
            </a:pPr>
            <a:r>
              <a:rPr sz="825" b="1" i="0">
                <a:solidFill>
                  <a:srgbClr val="A33D2E"/>
                </a:solidFill>
                <a:latin typeface="Arial"/>
                <a:ea typeface="Arial"/>
                <a:cs typeface="Arial"/>
              </a:rPr>
              <a:t>CORE QUESTION</a:t>
            </a:r>
          </a:p>
        </p:txBody>
      </p:sp>
      <p:sp>
        <p:nvSpPr>
          <p:cNvPr id="21" name="Rectangle 20">
            <a:extLst>
              <a:ext uri="{FF2B5EF4-FFF2-40B4-BE49-F238E27FC236}">
                <a16:creationId xmlns:a16="http://schemas.microsoft.com/office/drawing/2014/main" id="{F6AEFB51-BDB0-467C-B881-96D61C932CA0}"/>
              </a:ext>
            </a:extLst>
          </p:cNvPr>
          <p:cNvSpPr>
            <a:spLocks noGrp="1"/>
          </p:cNvSpPr>
          <p:nvPr/>
        </p:nvSpPr>
        <p:spPr>
          <a:xfrm>
            <a:off x="6667500" y="4648200"/>
            <a:ext cx="4667250" cy="638175"/>
          </a:xfrm>
          <a:prstGeom prst="rect">
            <a:avLst/>
          </a:prstGeom>
          <a:noFill/>
          <a:ln w="0">
            <a:noFill/>
          </a:ln>
        </p:spPr>
        <p:txBody>
          <a:bodyPr lIns="0" tIns="0" rIns="0" bIns="0" anchor="t">
            <a:normAutofit/>
          </a:bodyPr>
          <a:lstStyle/>
          <a:p>
            <a:pPr algn="l">
              <a:defRPr sz="1725" b="1" i="0">
                <a:solidFill>
                  <a:srgbClr val="1A1A1A"/>
                </a:solidFill>
                <a:latin typeface="Arial"/>
                <a:ea typeface="Arial"/>
                <a:cs typeface="Arial"/>
              </a:defRPr>
            </a:pPr>
            <a:r>
              <a:rPr sz="1725" b="1" i="0">
                <a:solidFill>
                  <a:srgbClr val="1A1A1A"/>
                </a:solidFill>
                <a:latin typeface="Arial"/>
                <a:ea typeface="Arial"/>
                <a:cs typeface="Arial"/>
              </a:rPr>
              <a:t>Do wallet and event features improve out-of-sample volatility forecasts?</a:t>
            </a:r>
          </a:p>
        </p:txBody>
      </p:sp>
    </p:spTree>
    <p:extLst>
      <p:ext uri="{BB962C8B-B14F-4D97-AF65-F5344CB8AC3E}">
        <p14:creationId xmlns:p14="http://schemas.microsoft.com/office/powerpoint/2010/main" val="3076842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3EEE5"/>
        </a:solidFill>
        <a:effectLst/>
      </p:bgPr>
    </p:bg>
    <p:spTree>
      <p:nvGrpSpPr>
        <p:cNvPr id="1" name=""/>
        <p:cNvGrpSpPr/>
        <p:nvPr/>
      </p:nvGrpSpPr>
      <p:grpSpPr>
        <a:xfrm>
          <a:off x="0" y="0"/>
          <a:ext cx="0" cy="0"/>
          <a:chOff x="0" y="0"/>
          <a:chExt cx="0" cy="0"/>
        </a:xfrm>
      </p:grpSpPr>
      <p:sp>
        <p:nvSpPr>
          <p:cNvPr id="48" name="Rectangle 47">
            <a:extLst>
              <a:ext uri="{FF2B5EF4-FFF2-40B4-BE49-F238E27FC236}">
                <a16:creationId xmlns:a16="http://schemas.microsoft.com/office/drawing/2014/main" id="{9313177E-A49F-478A-8F95-9A39CBD29E82}"/>
              </a:ext>
            </a:extLst>
          </p:cNvPr>
          <p:cNvSpPr>
            <a:spLocks noGrp="1"/>
          </p:cNvSpPr>
          <p:nvPr/>
        </p:nvSpPr>
        <p:spPr>
          <a:xfrm>
            <a:off x="609600" y="400050"/>
            <a:ext cx="7239000" cy="228600"/>
          </a:xfrm>
          <a:prstGeom prst="rect">
            <a:avLst/>
          </a:prstGeom>
          <a:noFill/>
          <a:ln w="0">
            <a:noFill/>
          </a:ln>
        </p:spPr>
        <p:txBody>
          <a:bodyPr lIns="0" tIns="0" rIns="0" bIns="0" anchor="t">
            <a:normAutofit/>
          </a:bodyPr>
          <a:lstStyle/>
          <a:p>
            <a:pPr algn="l">
              <a:defRPr sz="975" b="1" i="0">
                <a:solidFill>
                  <a:srgbClr val="A33D2E"/>
                </a:solidFill>
                <a:latin typeface="Arial"/>
                <a:ea typeface="Arial"/>
                <a:cs typeface="Arial"/>
              </a:defRPr>
            </a:pPr>
            <a:r>
              <a:rPr sz="975" b="1" i="0">
                <a:solidFill>
                  <a:srgbClr val="A33D2E"/>
                </a:solidFill>
                <a:latin typeface="Arial"/>
                <a:ea typeface="Arial"/>
                <a:cs typeface="Arial"/>
              </a:rPr>
              <a:t>LOGICAL SYSTEM ARCHITECTURE</a:t>
            </a:r>
          </a:p>
        </p:txBody>
      </p:sp>
      <p:sp>
        <p:nvSpPr>
          <p:cNvPr id="2" name="Rectangle 1">
            <a:extLst>
              <a:ext uri="{FF2B5EF4-FFF2-40B4-BE49-F238E27FC236}">
                <a16:creationId xmlns:a16="http://schemas.microsoft.com/office/drawing/2014/main" id="{5606AF79-85D0-49E7-A2B1-BFFB019C5495}"/>
              </a:ext>
            </a:extLst>
          </p:cNvPr>
          <p:cNvSpPr>
            <a:spLocks noGrp="1"/>
          </p:cNvSpPr>
          <p:nvPr/>
        </p:nvSpPr>
        <p:spPr>
          <a:xfrm>
            <a:off x="609600" y="666750"/>
            <a:ext cx="10668000" cy="666750"/>
          </a:xfrm>
          <a:prstGeom prst="rect">
            <a:avLst/>
          </a:prstGeom>
          <a:noFill/>
          <a:ln w="0">
            <a:noFill/>
          </a:ln>
        </p:spPr>
        <p:txBody>
          <a:bodyPr lIns="0" tIns="0" rIns="0" bIns="0" anchor="t">
            <a:normAutofit/>
          </a:bodyPr>
          <a:lstStyle/>
          <a:p>
            <a:pPr algn="l">
              <a:defRPr sz="3525" b="1" i="0">
                <a:solidFill>
                  <a:srgbClr val="1A1A1A"/>
                </a:solidFill>
                <a:latin typeface="Arial"/>
                <a:ea typeface="Arial"/>
                <a:cs typeface="Arial"/>
              </a:defRPr>
            </a:pPr>
            <a:r>
              <a:rPr sz="3525" b="1" i="0">
                <a:solidFill>
                  <a:srgbClr val="1A1A1A"/>
                </a:solidFill>
                <a:latin typeface="Arial"/>
                <a:ea typeface="Arial"/>
                <a:cs typeface="Arial"/>
              </a:rPr>
              <a:t>From on-chain activity to asset volatility research</a:t>
            </a:r>
          </a:p>
        </p:txBody>
      </p:sp>
      <p:sp>
        <p:nvSpPr>
          <p:cNvPr id="3" name="Straight Connector 2">
            <a:extLst>
              <a:ext uri="{FF2B5EF4-FFF2-40B4-BE49-F238E27FC236}">
                <a16:creationId xmlns:a16="http://schemas.microsoft.com/office/drawing/2014/main" id="{EBD1B475-488A-4A37-82FA-D72A58A9A243}"/>
              </a:ext>
            </a:extLst>
          </p:cNvPr>
          <p:cNvSpPr>
            <a:spLocks noGrp="1"/>
          </p:cNvSpPr>
          <p:nvPr/>
        </p:nvSpPr>
        <p:spPr>
          <a:xfrm>
            <a:off x="609600" y="1428750"/>
            <a:ext cx="10972800" cy="0"/>
          </a:xfrm>
          <a:prstGeom prst="line">
            <a:avLst/>
          </a:prstGeom>
          <a:noFill/>
          <a:ln w="9525">
            <a:solidFill>
              <a:srgbClr val="CEC8BE"/>
            </a:solidFill>
            <a:prstDash val="solid"/>
          </a:ln>
        </p:spPr>
        <p:txBody>
          <a:bodyPr/>
          <a:lstStyle/>
          <a:p>
            <a:endParaRPr lang="en-US"/>
          </a:p>
        </p:txBody>
      </p:sp>
      <p:sp>
        <p:nvSpPr>
          <p:cNvPr id="4" name="Straight Connector 3">
            <a:extLst>
              <a:ext uri="{FF2B5EF4-FFF2-40B4-BE49-F238E27FC236}">
                <a16:creationId xmlns:a16="http://schemas.microsoft.com/office/drawing/2014/main" id="{31BF5EFF-F08F-408C-938E-3E456A5947CD}"/>
              </a:ext>
            </a:extLst>
          </p:cNvPr>
          <p:cNvSpPr>
            <a:spLocks noGrp="1"/>
          </p:cNvSpPr>
          <p:nvPr/>
        </p:nvSpPr>
        <p:spPr>
          <a:xfrm>
            <a:off x="609600" y="6438900"/>
            <a:ext cx="10972800" cy="0"/>
          </a:xfrm>
          <a:prstGeom prst="line">
            <a:avLst/>
          </a:prstGeom>
          <a:noFill/>
          <a:ln w="9525">
            <a:solidFill>
              <a:srgbClr val="CEC8BE"/>
            </a:solidFill>
            <a:prstDash val="solid"/>
          </a:ln>
        </p:spPr>
        <p:txBody>
          <a:bodyPr/>
          <a:lstStyle/>
          <a:p>
            <a:endParaRPr lang="en-US"/>
          </a:p>
        </p:txBody>
      </p:sp>
      <p:sp>
        <p:nvSpPr>
          <p:cNvPr id="5" name="Rectangle 4">
            <a:extLst>
              <a:ext uri="{FF2B5EF4-FFF2-40B4-BE49-F238E27FC236}">
                <a16:creationId xmlns:a16="http://schemas.microsoft.com/office/drawing/2014/main" id="{E7A2F21A-E91A-4772-88D1-CB3568A6596E}"/>
              </a:ext>
            </a:extLst>
          </p:cNvPr>
          <p:cNvSpPr>
            <a:spLocks noGrp="1"/>
          </p:cNvSpPr>
          <p:nvPr/>
        </p:nvSpPr>
        <p:spPr>
          <a:xfrm>
            <a:off x="609600" y="6543675"/>
            <a:ext cx="6667500" cy="152400"/>
          </a:xfrm>
          <a:prstGeom prst="rect">
            <a:avLst/>
          </a:prstGeom>
          <a:noFill/>
          <a:ln w="0">
            <a:noFill/>
          </a:ln>
        </p:spPr>
        <p:txBody>
          <a:bodyPr lIns="0" tIns="0" rIns="0" bIns="0" anchor="t">
            <a:normAutofit/>
          </a:bodyPr>
          <a:lstStyle/>
          <a:p>
            <a:pPr algn="l">
              <a:defRPr sz="750" b="1" i="0">
                <a:solidFill>
                  <a:srgbClr val="8E887F"/>
                </a:solidFill>
                <a:latin typeface="Arial"/>
                <a:ea typeface="Arial"/>
                <a:cs typeface="Arial"/>
              </a:defRPr>
            </a:pPr>
            <a:r>
              <a:rPr sz="750" b="1" i="0">
                <a:solidFill>
                  <a:srgbClr val="8E887F"/>
                </a:solidFill>
                <a:latin typeface="Arial"/>
                <a:ea typeface="Arial"/>
                <a:cs typeface="Arial"/>
              </a:rPr>
              <a:t>EVENTLENS   FINAL YEAR PROJECT PROPOSAL</a:t>
            </a:r>
          </a:p>
        </p:txBody>
      </p:sp>
      <p:sp>
        <p:nvSpPr>
          <p:cNvPr id="6" name="Rectangle 5">
            <a:extLst>
              <a:ext uri="{FF2B5EF4-FFF2-40B4-BE49-F238E27FC236}">
                <a16:creationId xmlns:a16="http://schemas.microsoft.com/office/drawing/2014/main" id="{DBCDC4EB-6E4F-4C8E-9860-FA7822542545}"/>
              </a:ext>
            </a:extLst>
          </p:cNvPr>
          <p:cNvSpPr>
            <a:spLocks noGrp="1"/>
          </p:cNvSpPr>
          <p:nvPr/>
        </p:nvSpPr>
        <p:spPr>
          <a:xfrm>
            <a:off x="10287000" y="6543675"/>
            <a:ext cx="1295400" cy="152400"/>
          </a:xfrm>
          <a:prstGeom prst="rect">
            <a:avLst/>
          </a:prstGeom>
          <a:noFill/>
          <a:ln w="0">
            <a:noFill/>
          </a:ln>
        </p:spPr>
        <p:txBody>
          <a:bodyPr lIns="0" tIns="0" rIns="0" bIns="0" anchor="t">
            <a:normAutofit/>
          </a:bodyPr>
          <a:lstStyle/>
          <a:p>
            <a:pPr algn="r">
              <a:defRPr sz="750" b="1" i="0">
                <a:solidFill>
                  <a:srgbClr val="8E887F"/>
                </a:solidFill>
                <a:latin typeface="Arial"/>
                <a:ea typeface="Arial"/>
                <a:cs typeface="Arial"/>
              </a:defRPr>
            </a:pPr>
            <a:r>
              <a:rPr sz="750" b="1" i="0">
                <a:solidFill>
                  <a:srgbClr val="8E887F"/>
                </a:solidFill>
                <a:latin typeface="Arial"/>
                <a:ea typeface="Arial"/>
                <a:cs typeface="Arial"/>
              </a:rPr>
              <a:t>03 / 08</a:t>
            </a:r>
          </a:p>
        </p:txBody>
      </p:sp>
      <p:sp>
        <p:nvSpPr>
          <p:cNvPr id="7" name="Rectangle 6">
            <a:extLst>
              <a:ext uri="{FF2B5EF4-FFF2-40B4-BE49-F238E27FC236}">
                <a16:creationId xmlns:a16="http://schemas.microsoft.com/office/drawing/2014/main" id="{24523394-23A0-48D4-AB13-498FA8D0AAAE}"/>
              </a:ext>
            </a:extLst>
          </p:cNvPr>
          <p:cNvSpPr>
            <a:spLocks noGrp="1"/>
          </p:cNvSpPr>
          <p:nvPr/>
        </p:nvSpPr>
        <p:spPr>
          <a:xfrm>
            <a:off x="609600" y="1628775"/>
            <a:ext cx="3352800" cy="1095375"/>
          </a:xfrm>
          <a:prstGeom prst="rect">
            <a:avLst/>
          </a:prstGeom>
          <a:solidFill>
            <a:srgbClr val="FFFFFF"/>
          </a:solidFill>
          <a:ln w="14288">
            <a:solidFill>
              <a:srgbClr val="1A1A1A"/>
            </a:solidFill>
            <a:prstDash val="solid"/>
          </a:ln>
        </p:spPr>
        <p:txBody>
          <a:bodyPr/>
          <a:lstStyle/>
          <a:p>
            <a:endParaRPr lang="en-US"/>
          </a:p>
        </p:txBody>
      </p:sp>
      <p:sp>
        <p:nvSpPr>
          <p:cNvPr id="8" name="Rectangle 7">
            <a:extLst>
              <a:ext uri="{FF2B5EF4-FFF2-40B4-BE49-F238E27FC236}">
                <a16:creationId xmlns:a16="http://schemas.microsoft.com/office/drawing/2014/main" id="{AFFFA092-BD74-4B2B-83AD-2C0A44EBDFD7}"/>
              </a:ext>
            </a:extLst>
          </p:cNvPr>
          <p:cNvSpPr>
            <a:spLocks noGrp="1"/>
          </p:cNvSpPr>
          <p:nvPr/>
        </p:nvSpPr>
        <p:spPr>
          <a:xfrm>
            <a:off x="781050" y="1771650"/>
            <a:ext cx="2000250" cy="190500"/>
          </a:xfrm>
          <a:prstGeom prst="rect">
            <a:avLst/>
          </a:prstGeom>
          <a:noFill/>
          <a:ln w="0">
            <a:noFill/>
          </a:ln>
        </p:spPr>
        <p:txBody>
          <a:bodyPr lIns="0" tIns="0" rIns="0" bIns="0" anchor="t">
            <a:normAutofit/>
          </a:bodyPr>
          <a:lstStyle/>
          <a:p>
            <a:pPr algn="l">
              <a:defRPr sz="825" b="1" i="0">
                <a:solidFill>
                  <a:srgbClr val="A33D2E"/>
                </a:solidFill>
                <a:latin typeface="Arial"/>
                <a:ea typeface="Arial"/>
                <a:cs typeface="Arial"/>
              </a:defRPr>
            </a:pPr>
            <a:r>
              <a:rPr sz="825" b="1" i="0">
                <a:solidFill>
                  <a:srgbClr val="A33D2E"/>
                </a:solidFill>
                <a:latin typeface="Arial"/>
                <a:ea typeface="Arial"/>
                <a:cs typeface="Arial"/>
              </a:rPr>
              <a:t>MARKET STATE</a:t>
            </a:r>
          </a:p>
        </p:txBody>
      </p:sp>
      <p:sp>
        <p:nvSpPr>
          <p:cNvPr id="9" name="Rectangle 8">
            <a:extLst>
              <a:ext uri="{FF2B5EF4-FFF2-40B4-BE49-F238E27FC236}">
                <a16:creationId xmlns:a16="http://schemas.microsoft.com/office/drawing/2014/main" id="{74EA9A68-1931-4751-8E77-B19C3DB003CE}"/>
              </a:ext>
            </a:extLst>
          </p:cNvPr>
          <p:cNvSpPr>
            <a:spLocks noGrp="1"/>
          </p:cNvSpPr>
          <p:nvPr/>
        </p:nvSpPr>
        <p:spPr>
          <a:xfrm>
            <a:off x="781050" y="2009775"/>
            <a:ext cx="3009900" cy="285750"/>
          </a:xfrm>
          <a:prstGeom prst="rect">
            <a:avLst/>
          </a:prstGeom>
          <a:noFill/>
          <a:ln w="0">
            <a:noFill/>
          </a:ln>
        </p:spPr>
        <p:txBody>
          <a:bodyPr lIns="0" tIns="0" rIns="0" bIns="0" anchor="t">
            <a:normAutofit/>
          </a:bodyPr>
          <a:lstStyle/>
          <a:p>
            <a:pPr algn="l">
              <a:defRPr sz="1500" b="1" i="0">
                <a:solidFill>
                  <a:srgbClr val="1A1A1A"/>
                </a:solidFill>
                <a:latin typeface="Arial"/>
                <a:ea typeface="Arial"/>
                <a:cs typeface="Arial"/>
              </a:defRPr>
            </a:pPr>
            <a:r>
              <a:rPr sz="1500" b="1" i="0">
                <a:solidFill>
                  <a:srgbClr val="1A1A1A"/>
                </a:solidFill>
                <a:latin typeface="Arial"/>
                <a:ea typeface="Arial"/>
                <a:cs typeface="Arial"/>
              </a:rPr>
              <a:t>Polymarket APIs</a:t>
            </a:r>
          </a:p>
        </p:txBody>
      </p:sp>
      <p:sp>
        <p:nvSpPr>
          <p:cNvPr id="10" name="Rectangle 9">
            <a:extLst>
              <a:ext uri="{FF2B5EF4-FFF2-40B4-BE49-F238E27FC236}">
                <a16:creationId xmlns:a16="http://schemas.microsoft.com/office/drawing/2014/main" id="{68249352-8AB6-438C-9754-88CA5C698971}"/>
              </a:ext>
            </a:extLst>
          </p:cNvPr>
          <p:cNvSpPr>
            <a:spLocks noGrp="1"/>
          </p:cNvSpPr>
          <p:nvPr/>
        </p:nvSpPr>
        <p:spPr>
          <a:xfrm>
            <a:off x="781050" y="2343150"/>
            <a:ext cx="3009900" cy="295275"/>
          </a:xfrm>
          <a:prstGeom prst="rect">
            <a:avLst/>
          </a:prstGeom>
          <a:noFill/>
          <a:ln w="0">
            <a:noFill/>
          </a:ln>
        </p:spPr>
        <p:txBody>
          <a:bodyPr lIns="0" tIns="0" rIns="0" bIns="0" anchor="t">
            <a:normAutofit fontScale="92262" lnSpcReduction="10000"/>
          </a:bodyPr>
          <a:lstStyle/>
          <a:p>
            <a:pPr algn="l">
              <a:defRPr sz="1050" b="0" i="0">
                <a:solidFill>
                  <a:srgbClr val="555555"/>
                </a:solidFill>
                <a:latin typeface="Arial"/>
                <a:ea typeface="Arial"/>
                <a:cs typeface="Arial"/>
              </a:defRPr>
            </a:pPr>
            <a:r>
              <a:rPr sz="1050" b="0" i="0">
                <a:solidFill>
                  <a:srgbClr val="555555"/>
                </a:solidFill>
                <a:latin typeface="Arial"/>
                <a:ea typeface="Arial"/>
                <a:cs typeface="Arial"/>
              </a:rPr>
              <a:t>Event rules, contract prices, order books and resolution status</a:t>
            </a:r>
          </a:p>
        </p:txBody>
      </p:sp>
      <p:sp>
        <p:nvSpPr>
          <p:cNvPr id="11" name="Rectangle 10">
            <a:extLst>
              <a:ext uri="{FF2B5EF4-FFF2-40B4-BE49-F238E27FC236}">
                <a16:creationId xmlns:a16="http://schemas.microsoft.com/office/drawing/2014/main" id="{FF32DC87-C481-4991-8529-31CB03EBCCD5}"/>
              </a:ext>
            </a:extLst>
          </p:cNvPr>
          <p:cNvSpPr>
            <a:spLocks noGrp="1"/>
          </p:cNvSpPr>
          <p:nvPr/>
        </p:nvSpPr>
        <p:spPr>
          <a:xfrm>
            <a:off x="2000250" y="2743200"/>
            <a:ext cx="571500" cy="323850"/>
          </a:xfrm>
          <a:prstGeom prst="rect">
            <a:avLst/>
          </a:prstGeom>
          <a:noFill/>
          <a:ln w="0">
            <a:noFill/>
          </a:ln>
        </p:spPr>
        <p:txBody>
          <a:bodyPr lIns="0" tIns="0" rIns="0" bIns="0" anchor="t">
            <a:normAutofit/>
          </a:bodyPr>
          <a:lstStyle/>
          <a:p>
            <a:pPr algn="ctr">
              <a:defRPr sz="1875" b="1" i="0">
                <a:solidFill>
                  <a:srgbClr val="A33D2E"/>
                </a:solidFill>
                <a:latin typeface="Arial"/>
                <a:ea typeface="Arial"/>
                <a:cs typeface="Arial"/>
              </a:defRPr>
            </a:pPr>
            <a:r>
              <a:rPr sz="1875" b="1" i="0">
                <a:solidFill>
                  <a:srgbClr val="A33D2E"/>
                </a:solidFill>
                <a:latin typeface="Arial"/>
                <a:ea typeface="Arial"/>
                <a:cs typeface="Arial"/>
              </a:rPr>
              <a:t>↓</a:t>
            </a:r>
          </a:p>
        </p:txBody>
      </p:sp>
      <p:sp>
        <p:nvSpPr>
          <p:cNvPr id="12" name="Rectangle 11">
            <a:extLst>
              <a:ext uri="{FF2B5EF4-FFF2-40B4-BE49-F238E27FC236}">
                <a16:creationId xmlns:a16="http://schemas.microsoft.com/office/drawing/2014/main" id="{612136E1-0B36-4F57-B3AD-4913482B33DE}"/>
              </a:ext>
            </a:extLst>
          </p:cNvPr>
          <p:cNvSpPr>
            <a:spLocks noGrp="1"/>
          </p:cNvSpPr>
          <p:nvPr/>
        </p:nvSpPr>
        <p:spPr>
          <a:xfrm>
            <a:off x="4267200" y="1628775"/>
            <a:ext cx="3352800" cy="1095375"/>
          </a:xfrm>
          <a:prstGeom prst="rect">
            <a:avLst/>
          </a:prstGeom>
          <a:solidFill>
            <a:srgbClr val="FFFFFF"/>
          </a:solidFill>
          <a:ln w="14288">
            <a:solidFill>
              <a:srgbClr val="1A1A1A"/>
            </a:solidFill>
            <a:prstDash val="solid"/>
          </a:ln>
        </p:spPr>
        <p:txBody>
          <a:bodyPr/>
          <a:lstStyle/>
          <a:p>
            <a:endParaRPr lang="en-US"/>
          </a:p>
        </p:txBody>
      </p:sp>
      <p:sp>
        <p:nvSpPr>
          <p:cNvPr id="13" name="Rectangle 12">
            <a:extLst>
              <a:ext uri="{FF2B5EF4-FFF2-40B4-BE49-F238E27FC236}">
                <a16:creationId xmlns:a16="http://schemas.microsoft.com/office/drawing/2014/main" id="{910DC15F-B578-472D-BE95-90CAC32AF957}"/>
              </a:ext>
            </a:extLst>
          </p:cNvPr>
          <p:cNvSpPr>
            <a:spLocks noGrp="1"/>
          </p:cNvSpPr>
          <p:nvPr/>
        </p:nvSpPr>
        <p:spPr>
          <a:xfrm>
            <a:off x="4438650" y="1771650"/>
            <a:ext cx="2000250" cy="190500"/>
          </a:xfrm>
          <a:prstGeom prst="rect">
            <a:avLst/>
          </a:prstGeom>
          <a:noFill/>
          <a:ln w="0">
            <a:noFill/>
          </a:ln>
        </p:spPr>
        <p:txBody>
          <a:bodyPr lIns="0" tIns="0" rIns="0" bIns="0" anchor="t">
            <a:normAutofit/>
          </a:bodyPr>
          <a:lstStyle/>
          <a:p>
            <a:pPr algn="l">
              <a:defRPr sz="825" b="1" i="0">
                <a:solidFill>
                  <a:srgbClr val="A33D2E"/>
                </a:solidFill>
                <a:latin typeface="Arial"/>
                <a:ea typeface="Arial"/>
                <a:cs typeface="Arial"/>
              </a:defRPr>
            </a:pPr>
            <a:r>
              <a:rPr sz="825" b="1" i="0">
                <a:solidFill>
                  <a:srgbClr val="A33D2E"/>
                </a:solidFill>
                <a:latin typeface="Arial"/>
                <a:ea typeface="Arial"/>
                <a:cs typeface="Arial"/>
              </a:rPr>
              <a:t>WALLET ACTIVITY</a:t>
            </a:r>
          </a:p>
        </p:txBody>
      </p:sp>
      <p:sp>
        <p:nvSpPr>
          <p:cNvPr id="14" name="Rectangle 13">
            <a:extLst>
              <a:ext uri="{FF2B5EF4-FFF2-40B4-BE49-F238E27FC236}">
                <a16:creationId xmlns:a16="http://schemas.microsoft.com/office/drawing/2014/main" id="{6B7C3AC4-137C-48CB-917F-1099873D0246}"/>
              </a:ext>
            </a:extLst>
          </p:cNvPr>
          <p:cNvSpPr>
            <a:spLocks noGrp="1"/>
          </p:cNvSpPr>
          <p:nvPr/>
        </p:nvSpPr>
        <p:spPr>
          <a:xfrm>
            <a:off x="4438650" y="2009775"/>
            <a:ext cx="3009900" cy="285750"/>
          </a:xfrm>
          <a:prstGeom prst="rect">
            <a:avLst/>
          </a:prstGeom>
          <a:noFill/>
          <a:ln w="0">
            <a:noFill/>
          </a:ln>
        </p:spPr>
        <p:txBody>
          <a:bodyPr lIns="0" tIns="0" rIns="0" bIns="0" anchor="t">
            <a:normAutofit/>
          </a:bodyPr>
          <a:lstStyle/>
          <a:p>
            <a:pPr algn="l">
              <a:defRPr sz="1500" b="1" i="0">
                <a:solidFill>
                  <a:srgbClr val="1A1A1A"/>
                </a:solidFill>
                <a:latin typeface="Arial"/>
                <a:ea typeface="Arial"/>
                <a:cs typeface="Arial"/>
              </a:defRPr>
            </a:pPr>
            <a:r>
              <a:rPr sz="1500" b="1" i="0">
                <a:solidFill>
                  <a:srgbClr val="1A1A1A"/>
                </a:solidFill>
                <a:latin typeface="Arial"/>
                <a:ea typeface="Arial"/>
                <a:cs typeface="Arial"/>
              </a:rPr>
              <a:t>Polygon and Goldsky</a:t>
            </a:r>
          </a:p>
        </p:txBody>
      </p:sp>
      <p:sp>
        <p:nvSpPr>
          <p:cNvPr id="15" name="Rectangle 14">
            <a:extLst>
              <a:ext uri="{FF2B5EF4-FFF2-40B4-BE49-F238E27FC236}">
                <a16:creationId xmlns:a16="http://schemas.microsoft.com/office/drawing/2014/main" id="{A6B4E3F0-CF45-4F72-A88A-77F81DF0DAEB}"/>
              </a:ext>
            </a:extLst>
          </p:cNvPr>
          <p:cNvSpPr>
            <a:spLocks noGrp="1"/>
          </p:cNvSpPr>
          <p:nvPr/>
        </p:nvSpPr>
        <p:spPr>
          <a:xfrm>
            <a:off x="4438650" y="2343150"/>
            <a:ext cx="3009900" cy="295275"/>
          </a:xfrm>
          <a:prstGeom prst="rect">
            <a:avLst/>
          </a:prstGeom>
          <a:noFill/>
          <a:ln w="0">
            <a:noFill/>
          </a:ln>
        </p:spPr>
        <p:txBody>
          <a:bodyPr lIns="0" tIns="0" rIns="0" bIns="0" anchor="t">
            <a:normAutofit fontScale="92262" lnSpcReduction="10000"/>
          </a:bodyPr>
          <a:lstStyle/>
          <a:p>
            <a:pPr algn="l">
              <a:defRPr sz="1050" b="0" i="0">
                <a:solidFill>
                  <a:srgbClr val="555555"/>
                </a:solidFill>
                <a:latin typeface="Arial"/>
                <a:ea typeface="Arial"/>
                <a:cs typeface="Arial"/>
              </a:defRPr>
            </a:pPr>
            <a:r>
              <a:rPr sz="1050" b="0" i="0">
                <a:solidFill>
                  <a:srgbClr val="555555"/>
                </a:solidFill>
                <a:latin typeface="Arial"/>
                <a:ea typeface="Arial"/>
                <a:cs typeface="Arial"/>
              </a:rPr>
              <a:t>Fills, positions, transfers, redemptions and receipt checks</a:t>
            </a:r>
          </a:p>
        </p:txBody>
      </p:sp>
      <p:sp>
        <p:nvSpPr>
          <p:cNvPr id="16" name="Rectangle 15">
            <a:extLst>
              <a:ext uri="{FF2B5EF4-FFF2-40B4-BE49-F238E27FC236}">
                <a16:creationId xmlns:a16="http://schemas.microsoft.com/office/drawing/2014/main" id="{9B2E5890-D8A9-4C6B-9242-06013451ED22}"/>
              </a:ext>
            </a:extLst>
          </p:cNvPr>
          <p:cNvSpPr>
            <a:spLocks noGrp="1"/>
          </p:cNvSpPr>
          <p:nvPr/>
        </p:nvSpPr>
        <p:spPr>
          <a:xfrm>
            <a:off x="5657850" y="2743200"/>
            <a:ext cx="571500" cy="323850"/>
          </a:xfrm>
          <a:prstGeom prst="rect">
            <a:avLst/>
          </a:prstGeom>
          <a:noFill/>
          <a:ln w="0">
            <a:noFill/>
          </a:ln>
        </p:spPr>
        <p:txBody>
          <a:bodyPr lIns="0" tIns="0" rIns="0" bIns="0" anchor="t">
            <a:normAutofit/>
          </a:bodyPr>
          <a:lstStyle/>
          <a:p>
            <a:pPr algn="ctr">
              <a:defRPr sz="1875" b="1" i="0">
                <a:solidFill>
                  <a:srgbClr val="A33D2E"/>
                </a:solidFill>
                <a:latin typeface="Arial"/>
                <a:ea typeface="Arial"/>
                <a:cs typeface="Arial"/>
              </a:defRPr>
            </a:pPr>
            <a:r>
              <a:rPr sz="1875" b="1" i="0">
                <a:solidFill>
                  <a:srgbClr val="A33D2E"/>
                </a:solidFill>
                <a:latin typeface="Arial"/>
                <a:ea typeface="Arial"/>
                <a:cs typeface="Arial"/>
              </a:rPr>
              <a:t>↓</a:t>
            </a:r>
          </a:p>
        </p:txBody>
      </p:sp>
      <p:sp>
        <p:nvSpPr>
          <p:cNvPr id="17" name="Rectangle 16">
            <a:extLst>
              <a:ext uri="{FF2B5EF4-FFF2-40B4-BE49-F238E27FC236}">
                <a16:creationId xmlns:a16="http://schemas.microsoft.com/office/drawing/2014/main" id="{4C1B2F2E-7788-4233-851D-B22E99E0F3E8}"/>
              </a:ext>
            </a:extLst>
          </p:cNvPr>
          <p:cNvSpPr>
            <a:spLocks noGrp="1"/>
          </p:cNvSpPr>
          <p:nvPr/>
        </p:nvSpPr>
        <p:spPr>
          <a:xfrm>
            <a:off x="7924800" y="1628775"/>
            <a:ext cx="3352800" cy="1095375"/>
          </a:xfrm>
          <a:prstGeom prst="rect">
            <a:avLst/>
          </a:prstGeom>
          <a:solidFill>
            <a:srgbClr val="FFFFFF"/>
          </a:solidFill>
          <a:ln w="14288">
            <a:solidFill>
              <a:srgbClr val="1A1A1A"/>
            </a:solidFill>
            <a:prstDash val="solid"/>
          </a:ln>
        </p:spPr>
        <p:txBody>
          <a:bodyPr/>
          <a:lstStyle/>
          <a:p>
            <a:endParaRPr lang="en-US"/>
          </a:p>
        </p:txBody>
      </p:sp>
      <p:sp>
        <p:nvSpPr>
          <p:cNvPr id="18" name="Rectangle 17">
            <a:extLst>
              <a:ext uri="{FF2B5EF4-FFF2-40B4-BE49-F238E27FC236}">
                <a16:creationId xmlns:a16="http://schemas.microsoft.com/office/drawing/2014/main" id="{D2D3DE35-981A-44C4-AF6D-2C247BF97390}"/>
              </a:ext>
            </a:extLst>
          </p:cNvPr>
          <p:cNvSpPr>
            <a:spLocks noGrp="1"/>
          </p:cNvSpPr>
          <p:nvPr/>
        </p:nvSpPr>
        <p:spPr>
          <a:xfrm>
            <a:off x="8096250" y="1771650"/>
            <a:ext cx="2000250" cy="190500"/>
          </a:xfrm>
          <a:prstGeom prst="rect">
            <a:avLst/>
          </a:prstGeom>
          <a:noFill/>
          <a:ln w="0">
            <a:noFill/>
          </a:ln>
        </p:spPr>
        <p:txBody>
          <a:bodyPr lIns="0" tIns="0" rIns="0" bIns="0" anchor="t">
            <a:normAutofit/>
          </a:bodyPr>
          <a:lstStyle/>
          <a:p>
            <a:pPr algn="l">
              <a:defRPr sz="825" b="1" i="0">
                <a:solidFill>
                  <a:srgbClr val="A33D2E"/>
                </a:solidFill>
                <a:latin typeface="Arial"/>
                <a:ea typeface="Arial"/>
                <a:cs typeface="Arial"/>
              </a:defRPr>
            </a:pPr>
            <a:r>
              <a:rPr sz="825" b="1" i="0">
                <a:solidFill>
                  <a:srgbClr val="A33D2E"/>
                </a:solidFill>
                <a:latin typeface="Arial"/>
                <a:ea typeface="Arial"/>
                <a:cs typeface="Arial"/>
              </a:rPr>
              <a:t>FINANCIAL CONTEXT</a:t>
            </a:r>
          </a:p>
        </p:txBody>
      </p:sp>
      <p:sp>
        <p:nvSpPr>
          <p:cNvPr id="19" name="Rectangle 18">
            <a:extLst>
              <a:ext uri="{FF2B5EF4-FFF2-40B4-BE49-F238E27FC236}">
                <a16:creationId xmlns:a16="http://schemas.microsoft.com/office/drawing/2014/main" id="{885D8444-E4E1-448A-8F52-998F40CC07C5}"/>
              </a:ext>
            </a:extLst>
          </p:cNvPr>
          <p:cNvSpPr>
            <a:spLocks noGrp="1"/>
          </p:cNvSpPr>
          <p:nvPr/>
        </p:nvSpPr>
        <p:spPr>
          <a:xfrm>
            <a:off x="8096250" y="2009775"/>
            <a:ext cx="3009900" cy="285750"/>
          </a:xfrm>
          <a:prstGeom prst="rect">
            <a:avLst/>
          </a:prstGeom>
          <a:noFill/>
          <a:ln w="0">
            <a:noFill/>
          </a:ln>
        </p:spPr>
        <p:txBody>
          <a:bodyPr lIns="0" tIns="0" rIns="0" bIns="0" anchor="t">
            <a:normAutofit/>
          </a:bodyPr>
          <a:lstStyle/>
          <a:p>
            <a:pPr algn="l">
              <a:defRPr sz="1500" b="1" i="0">
                <a:solidFill>
                  <a:srgbClr val="1A1A1A"/>
                </a:solidFill>
                <a:latin typeface="Arial"/>
                <a:ea typeface="Arial"/>
                <a:cs typeface="Arial"/>
              </a:defRPr>
            </a:pPr>
            <a:r>
              <a:rPr sz="1500" b="1" i="0">
                <a:solidFill>
                  <a:srgbClr val="1A1A1A"/>
                </a:solidFill>
                <a:latin typeface="Arial"/>
                <a:ea typeface="Arial"/>
                <a:cs typeface="Arial"/>
              </a:rPr>
              <a:t>ETF and event data</a:t>
            </a:r>
          </a:p>
        </p:txBody>
      </p:sp>
      <p:sp>
        <p:nvSpPr>
          <p:cNvPr id="20" name="Rectangle 19">
            <a:extLst>
              <a:ext uri="{FF2B5EF4-FFF2-40B4-BE49-F238E27FC236}">
                <a16:creationId xmlns:a16="http://schemas.microsoft.com/office/drawing/2014/main" id="{BA87E9BB-B231-4A8F-8D38-74FBAA190DCB}"/>
              </a:ext>
            </a:extLst>
          </p:cNvPr>
          <p:cNvSpPr>
            <a:spLocks noGrp="1"/>
          </p:cNvSpPr>
          <p:nvPr/>
        </p:nvSpPr>
        <p:spPr>
          <a:xfrm>
            <a:off x="8096250" y="2343150"/>
            <a:ext cx="3009900" cy="295275"/>
          </a:xfrm>
          <a:prstGeom prst="rect">
            <a:avLst/>
          </a:prstGeom>
          <a:noFill/>
          <a:ln w="0">
            <a:noFill/>
          </a:ln>
        </p:spPr>
        <p:txBody>
          <a:bodyPr lIns="0" tIns="0" rIns="0" bIns="0" anchor="t">
            <a:normAutofit fontScale="92262" lnSpcReduction="10000"/>
          </a:bodyPr>
          <a:lstStyle/>
          <a:p>
            <a:pPr algn="l">
              <a:defRPr sz="1050" b="0" i="0">
                <a:solidFill>
                  <a:srgbClr val="555555"/>
                </a:solidFill>
                <a:latin typeface="Arial"/>
                <a:ea typeface="Arial"/>
                <a:cs typeface="Arial"/>
              </a:defRPr>
            </a:pPr>
            <a:r>
              <a:rPr sz="1050" b="0" i="0">
                <a:solidFill>
                  <a:srgbClr val="555555"/>
                </a:solidFill>
                <a:latin typeface="Arial"/>
                <a:ea typeface="Arial"/>
                <a:cs typeface="Arial"/>
              </a:rPr>
              <a:t>Adjusted returns, supported assets and Federal Reserve timing</a:t>
            </a:r>
          </a:p>
        </p:txBody>
      </p:sp>
      <p:sp>
        <p:nvSpPr>
          <p:cNvPr id="21" name="Rectangle 20">
            <a:extLst>
              <a:ext uri="{FF2B5EF4-FFF2-40B4-BE49-F238E27FC236}">
                <a16:creationId xmlns:a16="http://schemas.microsoft.com/office/drawing/2014/main" id="{F9299CCD-DD3D-4DD9-AF5F-E978F508E8F1}"/>
              </a:ext>
            </a:extLst>
          </p:cNvPr>
          <p:cNvSpPr>
            <a:spLocks noGrp="1"/>
          </p:cNvSpPr>
          <p:nvPr/>
        </p:nvSpPr>
        <p:spPr>
          <a:xfrm>
            <a:off x="9315450" y="2743200"/>
            <a:ext cx="571500" cy="323850"/>
          </a:xfrm>
          <a:prstGeom prst="rect">
            <a:avLst/>
          </a:prstGeom>
          <a:noFill/>
          <a:ln w="0">
            <a:noFill/>
          </a:ln>
        </p:spPr>
        <p:txBody>
          <a:bodyPr lIns="0" tIns="0" rIns="0" bIns="0" anchor="t">
            <a:normAutofit/>
          </a:bodyPr>
          <a:lstStyle/>
          <a:p>
            <a:pPr algn="ctr">
              <a:defRPr sz="1875" b="1" i="0">
                <a:solidFill>
                  <a:srgbClr val="A33D2E"/>
                </a:solidFill>
                <a:latin typeface="Arial"/>
                <a:ea typeface="Arial"/>
                <a:cs typeface="Arial"/>
              </a:defRPr>
            </a:pPr>
            <a:r>
              <a:rPr sz="1875" b="1" i="0">
                <a:solidFill>
                  <a:srgbClr val="A33D2E"/>
                </a:solidFill>
                <a:latin typeface="Arial"/>
                <a:ea typeface="Arial"/>
                <a:cs typeface="Arial"/>
              </a:rPr>
              <a:t>↓</a:t>
            </a:r>
          </a:p>
        </p:txBody>
      </p:sp>
      <p:sp>
        <p:nvSpPr>
          <p:cNvPr id="22" name="Rectangle 21">
            <a:extLst>
              <a:ext uri="{FF2B5EF4-FFF2-40B4-BE49-F238E27FC236}">
                <a16:creationId xmlns:a16="http://schemas.microsoft.com/office/drawing/2014/main" id="{F84C5C42-4080-45ED-9D4D-17F9E45D7556}"/>
              </a:ext>
            </a:extLst>
          </p:cNvPr>
          <p:cNvSpPr>
            <a:spLocks noGrp="1"/>
          </p:cNvSpPr>
          <p:nvPr/>
        </p:nvSpPr>
        <p:spPr>
          <a:xfrm>
            <a:off x="609600" y="3105150"/>
            <a:ext cx="10972800" cy="638175"/>
          </a:xfrm>
          <a:prstGeom prst="rect">
            <a:avLst/>
          </a:prstGeom>
          <a:solidFill>
            <a:srgbClr val="F3E6E1"/>
          </a:solidFill>
          <a:ln w="14288">
            <a:solidFill>
              <a:srgbClr val="A33D2E"/>
            </a:solidFill>
            <a:prstDash val="solid"/>
          </a:ln>
        </p:spPr>
        <p:txBody>
          <a:bodyPr/>
          <a:lstStyle/>
          <a:p>
            <a:endParaRPr lang="en-US"/>
          </a:p>
        </p:txBody>
      </p:sp>
      <p:sp>
        <p:nvSpPr>
          <p:cNvPr id="23" name="Rectangle 22">
            <a:extLst>
              <a:ext uri="{FF2B5EF4-FFF2-40B4-BE49-F238E27FC236}">
                <a16:creationId xmlns:a16="http://schemas.microsoft.com/office/drawing/2014/main" id="{2AC3AF2B-A2CF-4C62-8DB9-5E94B0D14E16}"/>
              </a:ext>
            </a:extLst>
          </p:cNvPr>
          <p:cNvSpPr>
            <a:spLocks noGrp="1"/>
          </p:cNvSpPr>
          <p:nvPr/>
        </p:nvSpPr>
        <p:spPr>
          <a:xfrm>
            <a:off x="800100" y="3257550"/>
            <a:ext cx="2333625" cy="190500"/>
          </a:xfrm>
          <a:prstGeom prst="rect">
            <a:avLst/>
          </a:prstGeom>
          <a:noFill/>
          <a:ln w="0">
            <a:noFill/>
          </a:ln>
        </p:spPr>
        <p:txBody>
          <a:bodyPr lIns="0" tIns="0" rIns="0" bIns="0" anchor="t">
            <a:normAutofit/>
          </a:bodyPr>
          <a:lstStyle/>
          <a:p>
            <a:pPr algn="l">
              <a:defRPr sz="825" b="1" i="0">
                <a:solidFill>
                  <a:srgbClr val="A33D2E"/>
                </a:solidFill>
                <a:latin typeface="Arial"/>
                <a:ea typeface="Arial"/>
                <a:cs typeface="Arial"/>
              </a:defRPr>
            </a:pPr>
            <a:r>
              <a:rPr sz="825" b="1" i="0">
                <a:solidFill>
                  <a:srgbClr val="A33D2E"/>
                </a:solidFill>
                <a:latin typeface="Arial"/>
                <a:ea typeface="Arial"/>
                <a:cs typeface="Arial"/>
              </a:rPr>
              <a:t>VERSIONED EVIDENCE LAYER</a:t>
            </a:r>
          </a:p>
        </p:txBody>
      </p:sp>
      <p:sp>
        <p:nvSpPr>
          <p:cNvPr id="24" name="Rectangle 23">
            <a:extLst>
              <a:ext uri="{FF2B5EF4-FFF2-40B4-BE49-F238E27FC236}">
                <a16:creationId xmlns:a16="http://schemas.microsoft.com/office/drawing/2014/main" id="{3E667070-B28E-41EE-A01A-22DDBAE5ACDD}"/>
              </a:ext>
            </a:extLst>
          </p:cNvPr>
          <p:cNvSpPr>
            <a:spLocks noGrp="1"/>
          </p:cNvSpPr>
          <p:nvPr/>
        </p:nvSpPr>
        <p:spPr>
          <a:xfrm>
            <a:off x="3143250" y="3228975"/>
            <a:ext cx="8229600" cy="323850"/>
          </a:xfrm>
          <a:prstGeom prst="rect">
            <a:avLst/>
          </a:prstGeom>
          <a:noFill/>
          <a:ln w="0">
            <a:noFill/>
          </a:ln>
        </p:spPr>
        <p:txBody>
          <a:bodyPr lIns="0" tIns="0" rIns="0" bIns="0" anchor="t">
            <a:normAutofit/>
          </a:bodyPr>
          <a:lstStyle/>
          <a:p>
            <a:pPr algn="l">
              <a:defRPr sz="1425" b="1" i="0">
                <a:solidFill>
                  <a:srgbClr val="173A5E"/>
                </a:solidFill>
                <a:latin typeface="Arial"/>
                <a:ea typeface="Arial"/>
                <a:cs typeface="Arial"/>
              </a:defRPr>
            </a:pPr>
            <a:r>
              <a:rPr sz="1425" b="1" i="0">
                <a:solidFill>
                  <a:srgbClr val="173A5E"/>
                </a:solidFill>
                <a:latin typeface="Arial"/>
                <a:ea typeface="Arial"/>
                <a:cs typeface="Arial"/>
              </a:rPr>
              <a:t>Normalise identifiers and timestamps, apply historical cut-offs, preserve provenance</a:t>
            </a:r>
          </a:p>
        </p:txBody>
      </p:sp>
      <p:sp>
        <p:nvSpPr>
          <p:cNvPr id="25" name="Rectangle 24">
            <a:extLst>
              <a:ext uri="{FF2B5EF4-FFF2-40B4-BE49-F238E27FC236}">
                <a16:creationId xmlns:a16="http://schemas.microsoft.com/office/drawing/2014/main" id="{1B3776F8-EA6F-4096-8C7F-5FEE6EF74DD9}"/>
              </a:ext>
            </a:extLst>
          </p:cNvPr>
          <p:cNvSpPr>
            <a:spLocks noGrp="1"/>
          </p:cNvSpPr>
          <p:nvPr/>
        </p:nvSpPr>
        <p:spPr>
          <a:xfrm>
            <a:off x="5810250" y="3762375"/>
            <a:ext cx="571500" cy="295275"/>
          </a:xfrm>
          <a:prstGeom prst="rect">
            <a:avLst/>
          </a:prstGeom>
          <a:noFill/>
          <a:ln w="0">
            <a:noFill/>
          </a:ln>
        </p:spPr>
        <p:txBody>
          <a:bodyPr lIns="0" tIns="0" rIns="0" bIns="0" anchor="t">
            <a:normAutofit/>
          </a:bodyPr>
          <a:lstStyle/>
          <a:p>
            <a:pPr algn="ctr">
              <a:defRPr sz="1725" b="1" i="0">
                <a:solidFill>
                  <a:srgbClr val="A33D2E"/>
                </a:solidFill>
                <a:latin typeface="Arial"/>
                <a:ea typeface="Arial"/>
                <a:cs typeface="Arial"/>
              </a:defRPr>
            </a:pPr>
            <a:r>
              <a:rPr sz="1725" b="1" i="0">
                <a:solidFill>
                  <a:srgbClr val="A33D2E"/>
                </a:solidFill>
                <a:latin typeface="Arial"/>
                <a:ea typeface="Arial"/>
                <a:cs typeface="Arial"/>
              </a:rPr>
              <a:t>↓</a:t>
            </a:r>
          </a:p>
        </p:txBody>
      </p:sp>
      <p:sp>
        <p:nvSpPr>
          <p:cNvPr id="26" name="Rectangle 25">
            <a:extLst>
              <a:ext uri="{FF2B5EF4-FFF2-40B4-BE49-F238E27FC236}">
                <a16:creationId xmlns:a16="http://schemas.microsoft.com/office/drawing/2014/main" id="{9D233B0B-D358-4486-9A9C-DE900CC2A916}"/>
              </a:ext>
            </a:extLst>
          </p:cNvPr>
          <p:cNvSpPr>
            <a:spLocks noGrp="1"/>
          </p:cNvSpPr>
          <p:nvPr/>
        </p:nvSpPr>
        <p:spPr>
          <a:xfrm>
            <a:off x="609600" y="4076700"/>
            <a:ext cx="2400300" cy="1304925"/>
          </a:xfrm>
          <a:prstGeom prst="rect">
            <a:avLst/>
          </a:prstGeom>
          <a:solidFill>
            <a:srgbClr val="FFFFFF"/>
          </a:solidFill>
          <a:ln w="14288">
            <a:solidFill>
              <a:srgbClr val="1A1A1A"/>
            </a:solidFill>
            <a:prstDash val="solid"/>
          </a:ln>
        </p:spPr>
        <p:txBody>
          <a:bodyPr/>
          <a:lstStyle/>
          <a:p>
            <a:endParaRPr lang="en-US"/>
          </a:p>
        </p:txBody>
      </p:sp>
      <p:sp>
        <p:nvSpPr>
          <p:cNvPr id="27" name="Rectangle 26">
            <a:extLst>
              <a:ext uri="{FF2B5EF4-FFF2-40B4-BE49-F238E27FC236}">
                <a16:creationId xmlns:a16="http://schemas.microsoft.com/office/drawing/2014/main" id="{6C4E78FE-F2BC-43D0-833E-143F9CC5BAD9}"/>
              </a:ext>
            </a:extLst>
          </p:cNvPr>
          <p:cNvSpPr>
            <a:spLocks noGrp="1"/>
          </p:cNvSpPr>
          <p:nvPr/>
        </p:nvSpPr>
        <p:spPr>
          <a:xfrm>
            <a:off x="762000" y="4210050"/>
            <a:ext cx="571500" cy="190500"/>
          </a:xfrm>
          <a:prstGeom prst="rect">
            <a:avLst/>
          </a:prstGeom>
          <a:noFill/>
          <a:ln w="0">
            <a:noFill/>
          </a:ln>
        </p:spPr>
        <p:txBody>
          <a:bodyPr lIns="0" tIns="0" rIns="0" bIns="0" anchor="t">
            <a:normAutofit/>
          </a:bodyPr>
          <a:lstStyle/>
          <a:p>
            <a:pPr algn="l">
              <a:defRPr sz="825" b="1" i="0">
                <a:solidFill>
                  <a:srgbClr val="A33D2E"/>
                </a:solidFill>
                <a:latin typeface="Arial"/>
                <a:ea typeface="Arial"/>
                <a:cs typeface="Arial"/>
              </a:defRPr>
            </a:pPr>
            <a:r>
              <a:rPr sz="825" b="1" i="0">
                <a:solidFill>
                  <a:srgbClr val="A33D2E"/>
                </a:solidFill>
                <a:latin typeface="Arial"/>
                <a:ea typeface="Arial"/>
                <a:cs typeface="Arial"/>
              </a:rPr>
              <a:t>01</a:t>
            </a:r>
          </a:p>
        </p:txBody>
      </p:sp>
      <p:sp>
        <p:nvSpPr>
          <p:cNvPr id="28" name="Rectangle 27">
            <a:extLst>
              <a:ext uri="{FF2B5EF4-FFF2-40B4-BE49-F238E27FC236}">
                <a16:creationId xmlns:a16="http://schemas.microsoft.com/office/drawing/2014/main" id="{66C9A69B-3C52-44E3-BAC8-E9787C8624F5}"/>
              </a:ext>
            </a:extLst>
          </p:cNvPr>
          <p:cNvSpPr>
            <a:spLocks noGrp="1"/>
          </p:cNvSpPr>
          <p:nvPr/>
        </p:nvSpPr>
        <p:spPr>
          <a:xfrm>
            <a:off x="762000" y="4457700"/>
            <a:ext cx="2095500" cy="323850"/>
          </a:xfrm>
          <a:prstGeom prst="rect">
            <a:avLst/>
          </a:prstGeom>
          <a:noFill/>
          <a:ln w="0">
            <a:noFill/>
          </a:ln>
        </p:spPr>
        <p:txBody>
          <a:bodyPr lIns="0" tIns="0" rIns="0" bIns="0" anchor="t">
            <a:normAutofit/>
          </a:bodyPr>
          <a:lstStyle/>
          <a:p>
            <a:pPr algn="l">
              <a:defRPr sz="1425" b="1" i="0">
                <a:solidFill>
                  <a:srgbClr val="1A1A1A"/>
                </a:solidFill>
                <a:latin typeface="Arial"/>
                <a:ea typeface="Arial"/>
                <a:cs typeface="Arial"/>
              </a:defRPr>
            </a:pPr>
            <a:r>
              <a:rPr sz="1425" b="1" i="0">
                <a:solidFill>
                  <a:srgbClr val="1A1A1A"/>
                </a:solidFill>
                <a:latin typeface="Arial"/>
                <a:ea typeface="Arial"/>
                <a:cs typeface="Arial"/>
              </a:rPr>
              <a:t>Wallet intelligence</a:t>
            </a:r>
          </a:p>
        </p:txBody>
      </p:sp>
      <p:sp>
        <p:nvSpPr>
          <p:cNvPr id="29" name="Rectangle 28">
            <a:extLst>
              <a:ext uri="{FF2B5EF4-FFF2-40B4-BE49-F238E27FC236}">
                <a16:creationId xmlns:a16="http://schemas.microsoft.com/office/drawing/2014/main" id="{968C1204-2A2D-4AC4-A053-D03A3360B3A8}"/>
              </a:ext>
            </a:extLst>
          </p:cNvPr>
          <p:cNvSpPr>
            <a:spLocks noGrp="1"/>
          </p:cNvSpPr>
          <p:nvPr/>
        </p:nvSpPr>
        <p:spPr>
          <a:xfrm>
            <a:off x="762000" y="4848225"/>
            <a:ext cx="2095500" cy="428625"/>
          </a:xfrm>
          <a:prstGeom prst="rect">
            <a:avLst/>
          </a:prstGeom>
          <a:noFill/>
          <a:ln w="0">
            <a:noFill/>
          </a:ln>
        </p:spPr>
        <p:txBody>
          <a:bodyPr lIns="0" tIns="0" rIns="0" bIns="0" anchor="t">
            <a:normAutofit/>
          </a:bodyPr>
          <a:lstStyle/>
          <a:p>
            <a:pPr algn="l">
              <a:defRPr sz="1050" b="0" i="0">
                <a:solidFill>
                  <a:srgbClr val="555555"/>
                </a:solidFill>
                <a:latin typeface="Arial"/>
                <a:ea typeface="Arial"/>
                <a:cs typeface="Arial"/>
              </a:defRPr>
            </a:pPr>
            <a:r>
              <a:rPr sz="1050" b="0" i="0">
                <a:solidFill>
                  <a:srgbClr val="555555"/>
                </a:solidFill>
                <a:latin typeface="Arial"/>
                <a:ea typeface="Arial"/>
                <a:cs typeface="Arial"/>
              </a:rPr>
              <a:t>Dated eligibility and informativeness scores</a:t>
            </a:r>
          </a:p>
        </p:txBody>
      </p:sp>
      <p:sp>
        <p:nvSpPr>
          <p:cNvPr id="30" name="Rectangle 29">
            <a:extLst>
              <a:ext uri="{FF2B5EF4-FFF2-40B4-BE49-F238E27FC236}">
                <a16:creationId xmlns:a16="http://schemas.microsoft.com/office/drawing/2014/main" id="{8201BE54-11AE-403B-82FD-2453660A3AEB}"/>
              </a:ext>
            </a:extLst>
          </p:cNvPr>
          <p:cNvSpPr>
            <a:spLocks noGrp="1"/>
          </p:cNvSpPr>
          <p:nvPr/>
        </p:nvSpPr>
        <p:spPr>
          <a:xfrm>
            <a:off x="3028950" y="4457700"/>
            <a:ext cx="285750" cy="476250"/>
          </a:xfrm>
          <a:prstGeom prst="rect">
            <a:avLst/>
          </a:prstGeom>
          <a:noFill/>
          <a:ln w="0">
            <a:noFill/>
          </a:ln>
        </p:spPr>
        <p:txBody>
          <a:bodyPr lIns="0" tIns="0" rIns="0" bIns="0" anchor="t">
            <a:normAutofit/>
          </a:bodyPr>
          <a:lstStyle/>
          <a:p>
            <a:pPr algn="ctr">
              <a:defRPr sz="2700" b="1" i="0">
                <a:solidFill>
                  <a:srgbClr val="A33D2E"/>
                </a:solidFill>
                <a:latin typeface="Arial"/>
                <a:ea typeface="Arial"/>
                <a:cs typeface="Arial"/>
              </a:defRPr>
            </a:pPr>
            <a:r>
              <a:rPr sz="2700" b="1" i="0">
                <a:solidFill>
                  <a:srgbClr val="A33D2E"/>
                </a:solidFill>
                <a:latin typeface="Arial"/>
                <a:ea typeface="Arial"/>
                <a:cs typeface="Arial"/>
              </a:rPr>
              <a:t>›</a:t>
            </a:r>
          </a:p>
        </p:txBody>
      </p:sp>
      <p:sp>
        <p:nvSpPr>
          <p:cNvPr id="31" name="Rectangle 30">
            <a:extLst>
              <a:ext uri="{FF2B5EF4-FFF2-40B4-BE49-F238E27FC236}">
                <a16:creationId xmlns:a16="http://schemas.microsoft.com/office/drawing/2014/main" id="{A77C9709-952D-4A9D-A7B5-0DCD4A2E12F0}"/>
              </a:ext>
            </a:extLst>
          </p:cNvPr>
          <p:cNvSpPr>
            <a:spLocks noGrp="1"/>
          </p:cNvSpPr>
          <p:nvPr/>
        </p:nvSpPr>
        <p:spPr>
          <a:xfrm>
            <a:off x="3352800" y="4076700"/>
            <a:ext cx="2400300" cy="1304925"/>
          </a:xfrm>
          <a:prstGeom prst="rect">
            <a:avLst/>
          </a:prstGeom>
          <a:solidFill>
            <a:srgbClr val="FFFFFF"/>
          </a:solidFill>
          <a:ln w="14288">
            <a:solidFill>
              <a:srgbClr val="1A1A1A"/>
            </a:solidFill>
            <a:prstDash val="solid"/>
          </a:ln>
        </p:spPr>
        <p:txBody>
          <a:bodyPr/>
          <a:lstStyle/>
          <a:p>
            <a:endParaRPr lang="en-US"/>
          </a:p>
        </p:txBody>
      </p:sp>
      <p:sp>
        <p:nvSpPr>
          <p:cNvPr id="32" name="Rectangle 31">
            <a:extLst>
              <a:ext uri="{FF2B5EF4-FFF2-40B4-BE49-F238E27FC236}">
                <a16:creationId xmlns:a16="http://schemas.microsoft.com/office/drawing/2014/main" id="{D2F26961-C27E-48A3-92D0-EC1D8CDA09B8}"/>
              </a:ext>
            </a:extLst>
          </p:cNvPr>
          <p:cNvSpPr>
            <a:spLocks noGrp="1"/>
          </p:cNvSpPr>
          <p:nvPr/>
        </p:nvSpPr>
        <p:spPr>
          <a:xfrm>
            <a:off x="3505200" y="4210050"/>
            <a:ext cx="571500" cy="190500"/>
          </a:xfrm>
          <a:prstGeom prst="rect">
            <a:avLst/>
          </a:prstGeom>
          <a:noFill/>
          <a:ln w="0">
            <a:noFill/>
          </a:ln>
        </p:spPr>
        <p:txBody>
          <a:bodyPr lIns="0" tIns="0" rIns="0" bIns="0" anchor="t">
            <a:normAutofit/>
          </a:bodyPr>
          <a:lstStyle/>
          <a:p>
            <a:pPr algn="l">
              <a:defRPr sz="825" b="1" i="0">
                <a:solidFill>
                  <a:srgbClr val="A33D2E"/>
                </a:solidFill>
                <a:latin typeface="Arial"/>
                <a:ea typeface="Arial"/>
                <a:cs typeface="Arial"/>
              </a:defRPr>
            </a:pPr>
            <a:r>
              <a:rPr sz="825" b="1" i="0">
                <a:solidFill>
                  <a:srgbClr val="A33D2E"/>
                </a:solidFill>
                <a:latin typeface="Arial"/>
                <a:ea typeface="Arial"/>
                <a:cs typeface="Arial"/>
              </a:rPr>
              <a:t>02</a:t>
            </a:r>
          </a:p>
        </p:txBody>
      </p:sp>
      <p:sp>
        <p:nvSpPr>
          <p:cNvPr id="33" name="Rectangle 32">
            <a:extLst>
              <a:ext uri="{FF2B5EF4-FFF2-40B4-BE49-F238E27FC236}">
                <a16:creationId xmlns:a16="http://schemas.microsoft.com/office/drawing/2014/main" id="{DA6AB249-D1C3-4901-8D8E-8D1AEAE76F6B}"/>
              </a:ext>
            </a:extLst>
          </p:cNvPr>
          <p:cNvSpPr>
            <a:spLocks noGrp="1"/>
          </p:cNvSpPr>
          <p:nvPr/>
        </p:nvSpPr>
        <p:spPr>
          <a:xfrm>
            <a:off x="3505200" y="4457700"/>
            <a:ext cx="2095500" cy="323850"/>
          </a:xfrm>
          <a:prstGeom prst="rect">
            <a:avLst/>
          </a:prstGeom>
          <a:noFill/>
          <a:ln w="0">
            <a:noFill/>
          </a:ln>
        </p:spPr>
        <p:txBody>
          <a:bodyPr lIns="0" tIns="0" rIns="0" bIns="0" anchor="t">
            <a:normAutofit/>
          </a:bodyPr>
          <a:lstStyle/>
          <a:p>
            <a:pPr algn="l">
              <a:defRPr sz="1425" b="1" i="0">
                <a:solidFill>
                  <a:srgbClr val="1A1A1A"/>
                </a:solidFill>
                <a:latin typeface="Arial"/>
                <a:ea typeface="Arial"/>
                <a:cs typeface="Arial"/>
              </a:defRPr>
            </a:pPr>
            <a:r>
              <a:rPr sz="1425" b="1" i="0">
                <a:solidFill>
                  <a:srgbClr val="1A1A1A"/>
                </a:solidFill>
                <a:latin typeface="Arial"/>
                <a:ea typeface="Arial"/>
                <a:cs typeface="Arial"/>
              </a:rPr>
              <a:t>Probability research</a:t>
            </a:r>
          </a:p>
        </p:txBody>
      </p:sp>
      <p:sp>
        <p:nvSpPr>
          <p:cNvPr id="34" name="Rectangle 33">
            <a:extLst>
              <a:ext uri="{FF2B5EF4-FFF2-40B4-BE49-F238E27FC236}">
                <a16:creationId xmlns:a16="http://schemas.microsoft.com/office/drawing/2014/main" id="{93810786-3BDE-45AA-A4F9-3F58705687E1}"/>
              </a:ext>
            </a:extLst>
          </p:cNvPr>
          <p:cNvSpPr>
            <a:spLocks noGrp="1"/>
          </p:cNvSpPr>
          <p:nvPr/>
        </p:nvSpPr>
        <p:spPr>
          <a:xfrm>
            <a:off x="3505200" y="4848225"/>
            <a:ext cx="2095500" cy="428625"/>
          </a:xfrm>
          <a:prstGeom prst="rect">
            <a:avLst/>
          </a:prstGeom>
          <a:noFill/>
          <a:ln w="0">
            <a:noFill/>
          </a:ln>
        </p:spPr>
        <p:txBody>
          <a:bodyPr lIns="0" tIns="0" rIns="0" bIns="0" anchor="t">
            <a:normAutofit/>
          </a:bodyPr>
          <a:lstStyle/>
          <a:p>
            <a:pPr algn="l">
              <a:defRPr sz="1050" b="0" i="0">
                <a:solidFill>
                  <a:srgbClr val="555555"/>
                </a:solidFill>
                <a:latin typeface="Arial"/>
                <a:ea typeface="Arial"/>
                <a:cs typeface="Arial"/>
              </a:defRPr>
            </a:pPr>
            <a:r>
              <a:rPr sz="1050" b="0" i="0">
                <a:solidFill>
                  <a:srgbClr val="555555"/>
                </a:solidFill>
                <a:latin typeface="Arial"/>
                <a:ea typeface="Arial"/>
                <a:cs typeface="Arial"/>
              </a:rPr>
              <a:t>Raw and wallet-informed event probabilities</a:t>
            </a:r>
          </a:p>
        </p:txBody>
      </p:sp>
      <p:sp>
        <p:nvSpPr>
          <p:cNvPr id="35" name="Rectangle 34">
            <a:extLst>
              <a:ext uri="{FF2B5EF4-FFF2-40B4-BE49-F238E27FC236}">
                <a16:creationId xmlns:a16="http://schemas.microsoft.com/office/drawing/2014/main" id="{02784CE3-52CC-4172-BE0D-2F7D2C85FAE5}"/>
              </a:ext>
            </a:extLst>
          </p:cNvPr>
          <p:cNvSpPr>
            <a:spLocks noGrp="1"/>
          </p:cNvSpPr>
          <p:nvPr/>
        </p:nvSpPr>
        <p:spPr>
          <a:xfrm>
            <a:off x="5772150" y="4457700"/>
            <a:ext cx="285750" cy="476250"/>
          </a:xfrm>
          <a:prstGeom prst="rect">
            <a:avLst/>
          </a:prstGeom>
          <a:noFill/>
          <a:ln w="0">
            <a:noFill/>
          </a:ln>
        </p:spPr>
        <p:txBody>
          <a:bodyPr lIns="0" tIns="0" rIns="0" bIns="0" anchor="t">
            <a:normAutofit/>
          </a:bodyPr>
          <a:lstStyle/>
          <a:p>
            <a:pPr algn="ctr">
              <a:defRPr sz="2700" b="1" i="0">
                <a:solidFill>
                  <a:srgbClr val="A33D2E"/>
                </a:solidFill>
                <a:latin typeface="Arial"/>
                <a:ea typeface="Arial"/>
                <a:cs typeface="Arial"/>
              </a:defRPr>
            </a:pPr>
            <a:r>
              <a:rPr sz="2700" b="1" i="0">
                <a:solidFill>
                  <a:srgbClr val="A33D2E"/>
                </a:solidFill>
                <a:latin typeface="Arial"/>
                <a:ea typeface="Arial"/>
                <a:cs typeface="Arial"/>
              </a:rPr>
              <a:t>›</a:t>
            </a:r>
          </a:p>
        </p:txBody>
      </p:sp>
      <p:sp>
        <p:nvSpPr>
          <p:cNvPr id="36" name="Rectangle 35">
            <a:extLst>
              <a:ext uri="{FF2B5EF4-FFF2-40B4-BE49-F238E27FC236}">
                <a16:creationId xmlns:a16="http://schemas.microsoft.com/office/drawing/2014/main" id="{9B05F590-7C69-4888-A23A-5A618D43119D}"/>
              </a:ext>
            </a:extLst>
          </p:cNvPr>
          <p:cNvSpPr>
            <a:spLocks noGrp="1"/>
          </p:cNvSpPr>
          <p:nvPr/>
        </p:nvSpPr>
        <p:spPr>
          <a:xfrm>
            <a:off x="6096000" y="4076700"/>
            <a:ext cx="2400300" cy="1304925"/>
          </a:xfrm>
          <a:prstGeom prst="rect">
            <a:avLst/>
          </a:prstGeom>
          <a:solidFill>
            <a:srgbClr val="FFFFFF"/>
          </a:solidFill>
          <a:ln w="14288">
            <a:solidFill>
              <a:srgbClr val="1A1A1A"/>
            </a:solidFill>
            <a:prstDash val="solid"/>
          </a:ln>
        </p:spPr>
        <p:txBody>
          <a:bodyPr/>
          <a:lstStyle/>
          <a:p>
            <a:endParaRPr lang="en-US"/>
          </a:p>
        </p:txBody>
      </p:sp>
      <p:sp>
        <p:nvSpPr>
          <p:cNvPr id="37" name="Rectangle 36">
            <a:extLst>
              <a:ext uri="{FF2B5EF4-FFF2-40B4-BE49-F238E27FC236}">
                <a16:creationId xmlns:a16="http://schemas.microsoft.com/office/drawing/2014/main" id="{222E6175-67CA-4173-A658-6288D0B85B05}"/>
              </a:ext>
            </a:extLst>
          </p:cNvPr>
          <p:cNvSpPr>
            <a:spLocks noGrp="1"/>
          </p:cNvSpPr>
          <p:nvPr/>
        </p:nvSpPr>
        <p:spPr>
          <a:xfrm>
            <a:off x="6248400" y="4210050"/>
            <a:ext cx="571500" cy="190500"/>
          </a:xfrm>
          <a:prstGeom prst="rect">
            <a:avLst/>
          </a:prstGeom>
          <a:noFill/>
          <a:ln w="0">
            <a:noFill/>
          </a:ln>
        </p:spPr>
        <p:txBody>
          <a:bodyPr lIns="0" tIns="0" rIns="0" bIns="0" anchor="t">
            <a:normAutofit/>
          </a:bodyPr>
          <a:lstStyle/>
          <a:p>
            <a:pPr algn="l">
              <a:defRPr sz="825" b="1" i="0">
                <a:solidFill>
                  <a:srgbClr val="A33D2E"/>
                </a:solidFill>
                <a:latin typeface="Arial"/>
                <a:ea typeface="Arial"/>
                <a:cs typeface="Arial"/>
              </a:defRPr>
            </a:pPr>
            <a:r>
              <a:rPr sz="825" b="1" i="0">
                <a:solidFill>
                  <a:srgbClr val="A33D2E"/>
                </a:solidFill>
                <a:latin typeface="Arial"/>
                <a:ea typeface="Arial"/>
                <a:cs typeface="Arial"/>
              </a:rPr>
              <a:t>03</a:t>
            </a:r>
          </a:p>
        </p:txBody>
      </p:sp>
      <p:sp>
        <p:nvSpPr>
          <p:cNvPr id="38" name="Rectangle 37">
            <a:extLst>
              <a:ext uri="{FF2B5EF4-FFF2-40B4-BE49-F238E27FC236}">
                <a16:creationId xmlns:a16="http://schemas.microsoft.com/office/drawing/2014/main" id="{57F6C90E-79A7-40B6-A36A-883B188FDA36}"/>
              </a:ext>
            </a:extLst>
          </p:cNvPr>
          <p:cNvSpPr>
            <a:spLocks noGrp="1"/>
          </p:cNvSpPr>
          <p:nvPr/>
        </p:nvSpPr>
        <p:spPr>
          <a:xfrm>
            <a:off x="6248400" y="4457700"/>
            <a:ext cx="2095500" cy="323850"/>
          </a:xfrm>
          <a:prstGeom prst="rect">
            <a:avLst/>
          </a:prstGeom>
          <a:noFill/>
          <a:ln w="0">
            <a:noFill/>
          </a:ln>
        </p:spPr>
        <p:txBody>
          <a:bodyPr lIns="0" tIns="0" rIns="0" bIns="0" anchor="t">
            <a:normAutofit/>
          </a:bodyPr>
          <a:lstStyle/>
          <a:p>
            <a:pPr algn="l">
              <a:defRPr sz="1425" b="1" i="0">
                <a:solidFill>
                  <a:srgbClr val="1A1A1A"/>
                </a:solidFill>
                <a:latin typeface="Arial"/>
                <a:ea typeface="Arial"/>
                <a:cs typeface="Arial"/>
              </a:defRPr>
            </a:pPr>
            <a:r>
              <a:rPr sz="1425" b="1" i="0">
                <a:solidFill>
                  <a:srgbClr val="1A1A1A"/>
                </a:solidFill>
                <a:latin typeface="Arial"/>
                <a:ea typeface="Arial"/>
                <a:cs typeface="Arial"/>
              </a:rPr>
              <a:t>Event-to-asset mapping</a:t>
            </a:r>
          </a:p>
        </p:txBody>
      </p:sp>
      <p:sp>
        <p:nvSpPr>
          <p:cNvPr id="39" name="Rectangle 38">
            <a:extLst>
              <a:ext uri="{FF2B5EF4-FFF2-40B4-BE49-F238E27FC236}">
                <a16:creationId xmlns:a16="http://schemas.microsoft.com/office/drawing/2014/main" id="{6D37C27D-E963-48D9-9581-0E35DD2C647C}"/>
              </a:ext>
            </a:extLst>
          </p:cNvPr>
          <p:cNvSpPr>
            <a:spLocks noGrp="1"/>
          </p:cNvSpPr>
          <p:nvPr/>
        </p:nvSpPr>
        <p:spPr>
          <a:xfrm>
            <a:off x="6248400" y="4848225"/>
            <a:ext cx="2095500" cy="428625"/>
          </a:xfrm>
          <a:prstGeom prst="rect">
            <a:avLst/>
          </a:prstGeom>
          <a:noFill/>
          <a:ln w="0">
            <a:noFill/>
          </a:ln>
        </p:spPr>
        <p:txBody>
          <a:bodyPr lIns="0" tIns="0" rIns="0" bIns="0" anchor="t">
            <a:normAutofit/>
          </a:bodyPr>
          <a:lstStyle/>
          <a:p>
            <a:pPr algn="l">
              <a:defRPr sz="1050" b="0" i="0">
                <a:solidFill>
                  <a:srgbClr val="555555"/>
                </a:solidFill>
                <a:latin typeface="Arial"/>
                <a:ea typeface="Arial"/>
                <a:cs typeface="Arial"/>
              </a:defRPr>
            </a:pPr>
            <a:r>
              <a:rPr sz="1050" b="0" i="0">
                <a:solidFill>
                  <a:srgbClr val="555555"/>
                </a:solidFill>
                <a:latin typeface="Arial"/>
                <a:ea typeface="Arial"/>
                <a:cs typeface="Arial"/>
              </a:rPr>
              <a:t>Reviewed links and matched historical windows</a:t>
            </a:r>
          </a:p>
        </p:txBody>
      </p:sp>
      <p:sp>
        <p:nvSpPr>
          <p:cNvPr id="40" name="Rectangle 39">
            <a:extLst>
              <a:ext uri="{FF2B5EF4-FFF2-40B4-BE49-F238E27FC236}">
                <a16:creationId xmlns:a16="http://schemas.microsoft.com/office/drawing/2014/main" id="{04A4C2D3-6C38-45B8-A680-BA868938EB7F}"/>
              </a:ext>
            </a:extLst>
          </p:cNvPr>
          <p:cNvSpPr>
            <a:spLocks noGrp="1"/>
          </p:cNvSpPr>
          <p:nvPr/>
        </p:nvSpPr>
        <p:spPr>
          <a:xfrm>
            <a:off x="8515350" y="4457700"/>
            <a:ext cx="285750" cy="476250"/>
          </a:xfrm>
          <a:prstGeom prst="rect">
            <a:avLst/>
          </a:prstGeom>
          <a:noFill/>
          <a:ln w="0">
            <a:noFill/>
          </a:ln>
        </p:spPr>
        <p:txBody>
          <a:bodyPr lIns="0" tIns="0" rIns="0" bIns="0" anchor="t">
            <a:normAutofit/>
          </a:bodyPr>
          <a:lstStyle/>
          <a:p>
            <a:pPr algn="ctr">
              <a:defRPr sz="2700" b="1" i="0">
                <a:solidFill>
                  <a:srgbClr val="A33D2E"/>
                </a:solidFill>
                <a:latin typeface="Arial"/>
                <a:ea typeface="Arial"/>
                <a:cs typeface="Arial"/>
              </a:defRPr>
            </a:pPr>
            <a:r>
              <a:rPr sz="2700" b="1" i="0">
                <a:solidFill>
                  <a:srgbClr val="A33D2E"/>
                </a:solidFill>
                <a:latin typeface="Arial"/>
                <a:ea typeface="Arial"/>
                <a:cs typeface="Arial"/>
              </a:rPr>
              <a:t>›</a:t>
            </a:r>
          </a:p>
        </p:txBody>
      </p:sp>
      <p:sp>
        <p:nvSpPr>
          <p:cNvPr id="41" name="Rectangle 40">
            <a:extLst>
              <a:ext uri="{FF2B5EF4-FFF2-40B4-BE49-F238E27FC236}">
                <a16:creationId xmlns:a16="http://schemas.microsoft.com/office/drawing/2014/main" id="{D14FB1DE-C05E-4180-8682-93AA881FA1C1}"/>
              </a:ext>
            </a:extLst>
          </p:cNvPr>
          <p:cNvSpPr>
            <a:spLocks noGrp="1"/>
          </p:cNvSpPr>
          <p:nvPr/>
        </p:nvSpPr>
        <p:spPr>
          <a:xfrm>
            <a:off x="8839200" y="4076700"/>
            <a:ext cx="2400300" cy="1304925"/>
          </a:xfrm>
          <a:prstGeom prst="rect">
            <a:avLst/>
          </a:prstGeom>
          <a:solidFill>
            <a:srgbClr val="A33D2E"/>
          </a:solidFill>
          <a:ln w="14288">
            <a:solidFill>
              <a:srgbClr val="A33D2E"/>
            </a:solidFill>
            <a:prstDash val="solid"/>
          </a:ln>
        </p:spPr>
        <p:txBody>
          <a:bodyPr/>
          <a:lstStyle/>
          <a:p>
            <a:endParaRPr lang="en-US"/>
          </a:p>
        </p:txBody>
      </p:sp>
      <p:sp>
        <p:nvSpPr>
          <p:cNvPr id="42" name="Rectangle 41">
            <a:extLst>
              <a:ext uri="{FF2B5EF4-FFF2-40B4-BE49-F238E27FC236}">
                <a16:creationId xmlns:a16="http://schemas.microsoft.com/office/drawing/2014/main" id="{C21CC75F-4E16-4143-844F-20AEE19371E4}"/>
              </a:ext>
            </a:extLst>
          </p:cNvPr>
          <p:cNvSpPr>
            <a:spLocks noGrp="1"/>
          </p:cNvSpPr>
          <p:nvPr/>
        </p:nvSpPr>
        <p:spPr>
          <a:xfrm>
            <a:off x="8991600" y="4210050"/>
            <a:ext cx="571500" cy="190500"/>
          </a:xfrm>
          <a:prstGeom prst="rect">
            <a:avLst/>
          </a:prstGeom>
          <a:noFill/>
          <a:ln w="0">
            <a:noFill/>
          </a:ln>
        </p:spPr>
        <p:txBody>
          <a:bodyPr lIns="0" tIns="0" rIns="0" bIns="0" anchor="t">
            <a:normAutofit/>
          </a:bodyPr>
          <a:lstStyle/>
          <a:p>
            <a:pPr algn="l">
              <a:defRPr sz="825" b="1" i="0">
                <a:solidFill>
                  <a:srgbClr val="F5CFC6"/>
                </a:solidFill>
                <a:latin typeface="Arial"/>
                <a:ea typeface="Arial"/>
                <a:cs typeface="Arial"/>
              </a:defRPr>
            </a:pPr>
            <a:r>
              <a:rPr sz="825" b="1" i="0">
                <a:solidFill>
                  <a:srgbClr val="F5CFC6"/>
                </a:solidFill>
                <a:latin typeface="Arial"/>
                <a:ea typeface="Arial"/>
                <a:cs typeface="Arial"/>
              </a:rPr>
              <a:t>04</a:t>
            </a:r>
          </a:p>
        </p:txBody>
      </p:sp>
      <p:sp>
        <p:nvSpPr>
          <p:cNvPr id="43" name="Rectangle 42">
            <a:extLst>
              <a:ext uri="{FF2B5EF4-FFF2-40B4-BE49-F238E27FC236}">
                <a16:creationId xmlns:a16="http://schemas.microsoft.com/office/drawing/2014/main" id="{6E34CCF7-9E35-4B76-A42A-27D2E46A1C3B}"/>
              </a:ext>
            </a:extLst>
          </p:cNvPr>
          <p:cNvSpPr>
            <a:spLocks noGrp="1"/>
          </p:cNvSpPr>
          <p:nvPr/>
        </p:nvSpPr>
        <p:spPr>
          <a:xfrm>
            <a:off x="8991600" y="4457700"/>
            <a:ext cx="2095500" cy="323850"/>
          </a:xfrm>
          <a:prstGeom prst="rect">
            <a:avLst/>
          </a:prstGeom>
          <a:noFill/>
          <a:ln w="0">
            <a:noFill/>
          </a:ln>
        </p:spPr>
        <p:txBody>
          <a:bodyPr lIns="0" tIns="0" rIns="0" bIns="0" anchor="t">
            <a:normAutofit/>
          </a:bodyPr>
          <a:lstStyle/>
          <a:p>
            <a:pPr algn="l">
              <a:defRPr sz="1425" b="1" i="0">
                <a:solidFill>
                  <a:srgbClr val="FFFFFF"/>
                </a:solidFill>
                <a:latin typeface="Arial"/>
                <a:ea typeface="Arial"/>
                <a:cs typeface="Arial"/>
              </a:defRPr>
            </a:pPr>
            <a:r>
              <a:rPr sz="1425" b="1" i="0">
                <a:solidFill>
                  <a:srgbClr val="FFFFFF"/>
                </a:solidFill>
                <a:latin typeface="Arial"/>
                <a:ea typeface="Arial"/>
                <a:cs typeface="Arial"/>
              </a:rPr>
              <a:t>Financial risk engine</a:t>
            </a:r>
          </a:p>
        </p:txBody>
      </p:sp>
      <p:sp>
        <p:nvSpPr>
          <p:cNvPr id="44" name="Rectangle 43">
            <a:extLst>
              <a:ext uri="{FF2B5EF4-FFF2-40B4-BE49-F238E27FC236}">
                <a16:creationId xmlns:a16="http://schemas.microsoft.com/office/drawing/2014/main" id="{62672419-B5C6-4334-9010-F7BD7E357A2B}"/>
              </a:ext>
            </a:extLst>
          </p:cNvPr>
          <p:cNvSpPr>
            <a:spLocks noGrp="1"/>
          </p:cNvSpPr>
          <p:nvPr/>
        </p:nvSpPr>
        <p:spPr>
          <a:xfrm>
            <a:off x="8991600" y="4848225"/>
            <a:ext cx="2095500" cy="428625"/>
          </a:xfrm>
          <a:prstGeom prst="rect">
            <a:avLst/>
          </a:prstGeom>
          <a:noFill/>
          <a:ln w="0">
            <a:noFill/>
          </a:ln>
        </p:spPr>
        <p:txBody>
          <a:bodyPr lIns="0" tIns="0" rIns="0" bIns="0" anchor="t">
            <a:normAutofit/>
          </a:bodyPr>
          <a:lstStyle/>
          <a:p>
            <a:pPr algn="l">
              <a:defRPr sz="1050" b="0" i="0">
                <a:solidFill>
                  <a:srgbClr val="F7EAE7"/>
                </a:solidFill>
                <a:latin typeface="Arial"/>
                <a:ea typeface="Arial"/>
                <a:cs typeface="Arial"/>
              </a:defRPr>
            </a:pPr>
            <a:r>
              <a:rPr sz="1050" b="0" i="0">
                <a:solidFill>
                  <a:srgbClr val="F7EAE7"/>
                </a:solidFill>
                <a:latin typeface="Arial"/>
                <a:ea typeface="Arial"/>
                <a:cs typeface="Arial"/>
              </a:rPr>
              <a:t>Volatility forecasts, scenarios, VaR and expected shortfall</a:t>
            </a:r>
          </a:p>
        </p:txBody>
      </p:sp>
      <p:sp>
        <p:nvSpPr>
          <p:cNvPr id="45" name="Straight Connector 44">
            <a:extLst>
              <a:ext uri="{FF2B5EF4-FFF2-40B4-BE49-F238E27FC236}">
                <a16:creationId xmlns:a16="http://schemas.microsoft.com/office/drawing/2014/main" id="{07B33F9C-D609-40C8-B6A2-A6E1906B5A42}"/>
              </a:ext>
            </a:extLst>
          </p:cNvPr>
          <p:cNvSpPr>
            <a:spLocks noGrp="1"/>
          </p:cNvSpPr>
          <p:nvPr/>
        </p:nvSpPr>
        <p:spPr>
          <a:xfrm>
            <a:off x="609600" y="5676900"/>
            <a:ext cx="10972800" cy="0"/>
          </a:xfrm>
          <a:prstGeom prst="line">
            <a:avLst/>
          </a:prstGeom>
          <a:noFill/>
          <a:ln w="14288">
            <a:solidFill>
              <a:srgbClr val="1A1A1A"/>
            </a:solidFill>
            <a:prstDash val="solid"/>
          </a:ln>
        </p:spPr>
        <p:txBody>
          <a:bodyPr/>
          <a:lstStyle/>
          <a:p>
            <a:endParaRPr lang="en-US"/>
          </a:p>
        </p:txBody>
      </p:sp>
      <p:sp>
        <p:nvSpPr>
          <p:cNvPr id="46" name="Rectangle 45">
            <a:extLst>
              <a:ext uri="{FF2B5EF4-FFF2-40B4-BE49-F238E27FC236}">
                <a16:creationId xmlns:a16="http://schemas.microsoft.com/office/drawing/2014/main" id="{EFA1C85F-C0F0-439D-A1E1-1726D5F3F997}"/>
              </a:ext>
            </a:extLst>
          </p:cNvPr>
          <p:cNvSpPr>
            <a:spLocks noGrp="1"/>
          </p:cNvSpPr>
          <p:nvPr/>
        </p:nvSpPr>
        <p:spPr>
          <a:xfrm>
            <a:off x="609600" y="5829300"/>
            <a:ext cx="1714500" cy="190500"/>
          </a:xfrm>
          <a:prstGeom prst="rect">
            <a:avLst/>
          </a:prstGeom>
          <a:noFill/>
          <a:ln w="0">
            <a:noFill/>
          </a:ln>
        </p:spPr>
        <p:txBody>
          <a:bodyPr lIns="0" tIns="0" rIns="0" bIns="0" anchor="t">
            <a:normAutofit/>
          </a:bodyPr>
          <a:lstStyle/>
          <a:p>
            <a:pPr algn="l">
              <a:defRPr sz="825" b="1" i="0">
                <a:solidFill>
                  <a:srgbClr val="A33D2E"/>
                </a:solidFill>
                <a:latin typeface="Arial"/>
                <a:ea typeface="Arial"/>
                <a:cs typeface="Arial"/>
              </a:defRPr>
            </a:pPr>
            <a:r>
              <a:rPr sz="825" b="1" i="0">
                <a:solidFill>
                  <a:srgbClr val="A33D2E"/>
                </a:solidFill>
                <a:latin typeface="Arial"/>
                <a:ea typeface="Arial"/>
                <a:cs typeface="Arial"/>
              </a:rPr>
              <a:t>RESEARCH OUTPUT</a:t>
            </a:r>
          </a:p>
        </p:txBody>
      </p:sp>
      <p:sp>
        <p:nvSpPr>
          <p:cNvPr id="47" name="Rectangle 46">
            <a:extLst>
              <a:ext uri="{FF2B5EF4-FFF2-40B4-BE49-F238E27FC236}">
                <a16:creationId xmlns:a16="http://schemas.microsoft.com/office/drawing/2014/main" id="{FB6C1D00-620C-4483-BF14-BBBAEE3E57E7}"/>
              </a:ext>
            </a:extLst>
          </p:cNvPr>
          <p:cNvSpPr>
            <a:spLocks noGrp="1"/>
          </p:cNvSpPr>
          <p:nvPr/>
        </p:nvSpPr>
        <p:spPr>
          <a:xfrm>
            <a:off x="2266950" y="5781675"/>
            <a:ext cx="9315450" cy="419100"/>
          </a:xfrm>
          <a:prstGeom prst="rect">
            <a:avLst/>
          </a:prstGeom>
          <a:noFill/>
          <a:ln w="0">
            <a:noFill/>
          </a:ln>
        </p:spPr>
        <p:txBody>
          <a:bodyPr lIns="0" tIns="0" rIns="0" bIns="0" anchor="t">
            <a:normAutofit/>
          </a:bodyPr>
          <a:lstStyle/>
          <a:p>
            <a:pPr algn="l">
              <a:defRPr sz="1575" b="1" i="0">
                <a:solidFill>
                  <a:srgbClr val="1A1A1A"/>
                </a:solidFill>
                <a:latin typeface="Arial"/>
                <a:ea typeface="Arial"/>
                <a:cs typeface="Arial"/>
              </a:defRPr>
            </a:pPr>
            <a:r>
              <a:rPr sz="1575" b="1" i="0">
                <a:solidFill>
                  <a:srgbClr val="1A1A1A"/>
                </a:solidFill>
                <a:latin typeface="Arial"/>
                <a:ea typeface="Arial"/>
                <a:cs typeface="Arial"/>
              </a:rPr>
              <a:t>Does prediction-market information improve out-of-sample asset volatility forecasts?</a:t>
            </a:r>
          </a:p>
        </p:txBody>
      </p:sp>
    </p:spTree>
    <p:extLst>
      <p:ext uri="{BB962C8B-B14F-4D97-AF65-F5344CB8AC3E}">
        <p14:creationId xmlns:p14="http://schemas.microsoft.com/office/powerpoint/2010/main" val="12428601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3EEE5"/>
        </a:solidFill>
        <a:effectLst/>
      </p:bgPr>
    </p:bg>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33BE47E2-6993-4132-BE64-B7A1CF257CA7}"/>
              </a:ext>
            </a:extLst>
          </p:cNvPr>
          <p:cNvSpPr>
            <a:spLocks noGrp="1"/>
          </p:cNvSpPr>
          <p:nvPr/>
        </p:nvSpPr>
        <p:spPr>
          <a:xfrm>
            <a:off x="609600" y="400050"/>
            <a:ext cx="7239000" cy="228600"/>
          </a:xfrm>
          <a:prstGeom prst="rect">
            <a:avLst/>
          </a:prstGeom>
          <a:noFill/>
          <a:ln w="0">
            <a:noFill/>
          </a:ln>
        </p:spPr>
        <p:txBody>
          <a:bodyPr lIns="0" tIns="0" rIns="0" bIns="0" anchor="t">
            <a:normAutofit/>
          </a:bodyPr>
          <a:lstStyle/>
          <a:p>
            <a:pPr algn="l">
              <a:defRPr sz="975" b="1" i="0">
                <a:solidFill>
                  <a:srgbClr val="A33D2E"/>
                </a:solidFill>
                <a:latin typeface="Arial"/>
                <a:ea typeface="Arial"/>
                <a:cs typeface="Arial"/>
              </a:defRPr>
            </a:pPr>
            <a:r>
              <a:rPr sz="975" b="1" i="0">
                <a:solidFill>
                  <a:srgbClr val="A33D2E"/>
                </a:solidFill>
                <a:latin typeface="Arial"/>
                <a:ea typeface="Arial"/>
                <a:cs typeface="Arial"/>
              </a:rPr>
              <a:t>RESEARCH BOUNDARY</a:t>
            </a:r>
          </a:p>
        </p:txBody>
      </p:sp>
      <p:sp>
        <p:nvSpPr>
          <p:cNvPr id="2" name="Rectangle 1">
            <a:extLst>
              <a:ext uri="{FF2B5EF4-FFF2-40B4-BE49-F238E27FC236}">
                <a16:creationId xmlns:a16="http://schemas.microsoft.com/office/drawing/2014/main" id="{779C0405-368D-420E-B039-BE7A9C037B2B}"/>
              </a:ext>
            </a:extLst>
          </p:cNvPr>
          <p:cNvSpPr>
            <a:spLocks noGrp="1"/>
          </p:cNvSpPr>
          <p:nvPr/>
        </p:nvSpPr>
        <p:spPr>
          <a:xfrm>
            <a:off x="609600" y="666750"/>
            <a:ext cx="10668000" cy="666750"/>
          </a:xfrm>
          <a:prstGeom prst="rect">
            <a:avLst/>
          </a:prstGeom>
          <a:noFill/>
          <a:ln w="0">
            <a:noFill/>
          </a:ln>
        </p:spPr>
        <p:txBody>
          <a:bodyPr lIns="0" tIns="0" rIns="0" bIns="0" anchor="t">
            <a:normAutofit/>
          </a:bodyPr>
          <a:lstStyle/>
          <a:p>
            <a:pPr algn="l">
              <a:defRPr sz="3525" b="1" i="0">
                <a:solidFill>
                  <a:srgbClr val="1A1A1A"/>
                </a:solidFill>
                <a:latin typeface="Arial"/>
                <a:ea typeface="Arial"/>
                <a:cs typeface="Arial"/>
              </a:defRPr>
            </a:pPr>
            <a:r>
              <a:rPr sz="3525" b="1" i="0">
                <a:solidFill>
                  <a:srgbClr val="1A1A1A"/>
                </a:solidFill>
                <a:latin typeface="Arial"/>
                <a:ea typeface="Arial"/>
                <a:cs typeface="Arial"/>
              </a:rPr>
              <a:t>A narrow MVP keeps the test credible</a:t>
            </a:r>
          </a:p>
        </p:txBody>
      </p:sp>
      <p:sp>
        <p:nvSpPr>
          <p:cNvPr id="3" name="Straight Connector 2">
            <a:extLst>
              <a:ext uri="{FF2B5EF4-FFF2-40B4-BE49-F238E27FC236}">
                <a16:creationId xmlns:a16="http://schemas.microsoft.com/office/drawing/2014/main" id="{77CAD464-60AB-455B-97C4-B2F9EA34F064}"/>
              </a:ext>
            </a:extLst>
          </p:cNvPr>
          <p:cNvSpPr>
            <a:spLocks noGrp="1"/>
          </p:cNvSpPr>
          <p:nvPr/>
        </p:nvSpPr>
        <p:spPr>
          <a:xfrm>
            <a:off x="609600" y="1428750"/>
            <a:ext cx="10972800" cy="0"/>
          </a:xfrm>
          <a:prstGeom prst="line">
            <a:avLst/>
          </a:prstGeom>
          <a:noFill/>
          <a:ln w="9525">
            <a:solidFill>
              <a:srgbClr val="CEC8BE"/>
            </a:solidFill>
            <a:prstDash val="solid"/>
          </a:ln>
        </p:spPr>
        <p:txBody>
          <a:bodyPr/>
          <a:lstStyle/>
          <a:p>
            <a:endParaRPr lang="en-US"/>
          </a:p>
        </p:txBody>
      </p:sp>
      <p:sp>
        <p:nvSpPr>
          <p:cNvPr id="4" name="Straight Connector 3">
            <a:extLst>
              <a:ext uri="{FF2B5EF4-FFF2-40B4-BE49-F238E27FC236}">
                <a16:creationId xmlns:a16="http://schemas.microsoft.com/office/drawing/2014/main" id="{A112D688-0618-4383-B41D-6EEFF1A6A075}"/>
              </a:ext>
            </a:extLst>
          </p:cNvPr>
          <p:cNvSpPr>
            <a:spLocks noGrp="1"/>
          </p:cNvSpPr>
          <p:nvPr/>
        </p:nvSpPr>
        <p:spPr>
          <a:xfrm>
            <a:off x="609600" y="6438900"/>
            <a:ext cx="10972800" cy="0"/>
          </a:xfrm>
          <a:prstGeom prst="line">
            <a:avLst/>
          </a:prstGeom>
          <a:noFill/>
          <a:ln w="9525">
            <a:solidFill>
              <a:srgbClr val="CEC8BE"/>
            </a:solidFill>
            <a:prstDash val="solid"/>
          </a:ln>
        </p:spPr>
        <p:txBody>
          <a:bodyPr/>
          <a:lstStyle/>
          <a:p>
            <a:endParaRPr lang="en-US"/>
          </a:p>
        </p:txBody>
      </p:sp>
      <p:sp>
        <p:nvSpPr>
          <p:cNvPr id="5" name="Rectangle 4">
            <a:extLst>
              <a:ext uri="{FF2B5EF4-FFF2-40B4-BE49-F238E27FC236}">
                <a16:creationId xmlns:a16="http://schemas.microsoft.com/office/drawing/2014/main" id="{4AA73086-0E21-4E87-B64A-2BF129E7FDD8}"/>
              </a:ext>
            </a:extLst>
          </p:cNvPr>
          <p:cNvSpPr>
            <a:spLocks noGrp="1"/>
          </p:cNvSpPr>
          <p:nvPr/>
        </p:nvSpPr>
        <p:spPr>
          <a:xfrm>
            <a:off x="609600" y="6543675"/>
            <a:ext cx="6667500" cy="152400"/>
          </a:xfrm>
          <a:prstGeom prst="rect">
            <a:avLst/>
          </a:prstGeom>
          <a:noFill/>
          <a:ln w="0">
            <a:noFill/>
          </a:ln>
        </p:spPr>
        <p:txBody>
          <a:bodyPr lIns="0" tIns="0" rIns="0" bIns="0" anchor="t">
            <a:normAutofit/>
          </a:bodyPr>
          <a:lstStyle/>
          <a:p>
            <a:pPr algn="l">
              <a:defRPr sz="750" b="1" i="0">
                <a:solidFill>
                  <a:srgbClr val="8E887F"/>
                </a:solidFill>
                <a:latin typeface="Arial"/>
                <a:ea typeface="Arial"/>
                <a:cs typeface="Arial"/>
              </a:defRPr>
            </a:pPr>
            <a:r>
              <a:rPr sz="750" b="1" i="0">
                <a:solidFill>
                  <a:srgbClr val="8E887F"/>
                </a:solidFill>
                <a:latin typeface="Arial"/>
                <a:ea typeface="Arial"/>
                <a:cs typeface="Arial"/>
              </a:rPr>
              <a:t>EVENTLENS   FINAL YEAR PROJECT PROPOSAL</a:t>
            </a:r>
          </a:p>
        </p:txBody>
      </p:sp>
      <p:sp>
        <p:nvSpPr>
          <p:cNvPr id="6" name="Rectangle 5">
            <a:extLst>
              <a:ext uri="{FF2B5EF4-FFF2-40B4-BE49-F238E27FC236}">
                <a16:creationId xmlns:a16="http://schemas.microsoft.com/office/drawing/2014/main" id="{96981CB8-DD51-4A27-86B2-A18A32D95FA1}"/>
              </a:ext>
            </a:extLst>
          </p:cNvPr>
          <p:cNvSpPr>
            <a:spLocks noGrp="1"/>
          </p:cNvSpPr>
          <p:nvPr/>
        </p:nvSpPr>
        <p:spPr>
          <a:xfrm>
            <a:off x="10287000" y="6543675"/>
            <a:ext cx="1295400" cy="152400"/>
          </a:xfrm>
          <a:prstGeom prst="rect">
            <a:avLst/>
          </a:prstGeom>
          <a:noFill/>
          <a:ln w="0">
            <a:noFill/>
          </a:ln>
        </p:spPr>
        <p:txBody>
          <a:bodyPr lIns="0" tIns="0" rIns="0" bIns="0" anchor="t">
            <a:normAutofit/>
          </a:bodyPr>
          <a:lstStyle/>
          <a:p>
            <a:pPr algn="r">
              <a:defRPr sz="750" b="1" i="0">
                <a:solidFill>
                  <a:srgbClr val="8E887F"/>
                </a:solidFill>
                <a:latin typeface="Arial"/>
                <a:ea typeface="Arial"/>
                <a:cs typeface="Arial"/>
              </a:defRPr>
            </a:pPr>
            <a:r>
              <a:rPr sz="750" b="1" i="0">
                <a:solidFill>
                  <a:srgbClr val="8E887F"/>
                </a:solidFill>
                <a:latin typeface="Arial"/>
                <a:ea typeface="Arial"/>
                <a:cs typeface="Arial"/>
              </a:rPr>
              <a:t>04 / 08</a:t>
            </a:r>
          </a:p>
        </p:txBody>
      </p:sp>
      <p:sp>
        <p:nvSpPr>
          <p:cNvPr id="7" name="Straight Connector 6">
            <a:extLst>
              <a:ext uri="{FF2B5EF4-FFF2-40B4-BE49-F238E27FC236}">
                <a16:creationId xmlns:a16="http://schemas.microsoft.com/office/drawing/2014/main" id="{A56051C2-B98B-442A-8D2A-92F510A51EF2}"/>
              </a:ext>
            </a:extLst>
          </p:cNvPr>
          <p:cNvSpPr>
            <a:spLocks noGrp="1"/>
          </p:cNvSpPr>
          <p:nvPr/>
        </p:nvSpPr>
        <p:spPr>
          <a:xfrm>
            <a:off x="609600" y="1790700"/>
            <a:ext cx="6705600" cy="0"/>
          </a:xfrm>
          <a:prstGeom prst="line">
            <a:avLst/>
          </a:prstGeom>
          <a:noFill/>
          <a:ln w="19050">
            <a:solidFill>
              <a:srgbClr val="1A1A1A"/>
            </a:solidFill>
            <a:prstDash val="solid"/>
          </a:ln>
        </p:spPr>
        <p:txBody>
          <a:bodyPr/>
          <a:lstStyle/>
          <a:p>
            <a:endParaRPr lang="en-US"/>
          </a:p>
        </p:txBody>
      </p:sp>
      <p:sp>
        <p:nvSpPr>
          <p:cNvPr id="8" name="Rectangle 7">
            <a:extLst>
              <a:ext uri="{FF2B5EF4-FFF2-40B4-BE49-F238E27FC236}">
                <a16:creationId xmlns:a16="http://schemas.microsoft.com/office/drawing/2014/main" id="{750D3969-3AE8-48F3-9DE5-2B6C4C5FEE17}"/>
              </a:ext>
            </a:extLst>
          </p:cNvPr>
          <p:cNvSpPr>
            <a:spLocks noGrp="1"/>
          </p:cNvSpPr>
          <p:nvPr/>
        </p:nvSpPr>
        <p:spPr>
          <a:xfrm>
            <a:off x="647700" y="1971675"/>
            <a:ext cx="1524000" cy="190500"/>
          </a:xfrm>
          <a:prstGeom prst="rect">
            <a:avLst/>
          </a:prstGeom>
          <a:noFill/>
          <a:ln w="0">
            <a:noFill/>
          </a:ln>
        </p:spPr>
        <p:txBody>
          <a:bodyPr lIns="0" tIns="0" rIns="0" bIns="0" anchor="t">
            <a:normAutofit/>
          </a:bodyPr>
          <a:lstStyle/>
          <a:p>
            <a:pPr algn="l">
              <a:defRPr sz="825" b="1" i="0">
                <a:solidFill>
                  <a:srgbClr val="A33D2E"/>
                </a:solidFill>
                <a:latin typeface="Arial"/>
                <a:ea typeface="Arial"/>
                <a:cs typeface="Arial"/>
              </a:defRPr>
            </a:pPr>
            <a:r>
              <a:rPr sz="825" b="1" i="0">
                <a:solidFill>
                  <a:srgbClr val="A33D2E"/>
                </a:solidFill>
                <a:latin typeface="Arial"/>
                <a:ea typeface="Arial"/>
                <a:cs typeface="Arial"/>
              </a:rPr>
              <a:t>VENUE</a:t>
            </a:r>
          </a:p>
        </p:txBody>
      </p:sp>
      <p:sp>
        <p:nvSpPr>
          <p:cNvPr id="9" name="Rectangle 8">
            <a:extLst>
              <a:ext uri="{FF2B5EF4-FFF2-40B4-BE49-F238E27FC236}">
                <a16:creationId xmlns:a16="http://schemas.microsoft.com/office/drawing/2014/main" id="{D24A8E26-A250-4D99-A536-3A9B91609AED}"/>
              </a:ext>
            </a:extLst>
          </p:cNvPr>
          <p:cNvSpPr>
            <a:spLocks noGrp="1"/>
          </p:cNvSpPr>
          <p:nvPr/>
        </p:nvSpPr>
        <p:spPr>
          <a:xfrm>
            <a:off x="2324100" y="1905000"/>
            <a:ext cx="4857750" cy="457200"/>
          </a:xfrm>
          <a:prstGeom prst="rect">
            <a:avLst/>
          </a:prstGeom>
          <a:noFill/>
          <a:ln w="0">
            <a:noFill/>
          </a:ln>
        </p:spPr>
        <p:txBody>
          <a:bodyPr lIns="0" tIns="0" rIns="0" bIns="0" anchor="t">
            <a:normAutofit/>
          </a:bodyPr>
          <a:lstStyle/>
          <a:p>
            <a:pPr algn="l">
              <a:defRPr sz="1800" b="1" i="0">
                <a:solidFill>
                  <a:srgbClr val="1A1A1A"/>
                </a:solidFill>
                <a:latin typeface="Arial"/>
                <a:ea typeface="Arial"/>
                <a:cs typeface="Arial"/>
              </a:defRPr>
            </a:pPr>
            <a:r>
              <a:rPr sz="1800" b="1" i="0">
                <a:solidFill>
                  <a:srgbClr val="1A1A1A"/>
                </a:solidFill>
                <a:latin typeface="Arial"/>
                <a:ea typeface="Arial"/>
                <a:cs typeface="Arial"/>
              </a:rPr>
              <a:t>Polymarket on Polygon</a:t>
            </a:r>
          </a:p>
        </p:txBody>
      </p:sp>
      <p:sp>
        <p:nvSpPr>
          <p:cNvPr id="10" name="Straight Connector 9">
            <a:extLst>
              <a:ext uri="{FF2B5EF4-FFF2-40B4-BE49-F238E27FC236}">
                <a16:creationId xmlns:a16="http://schemas.microsoft.com/office/drawing/2014/main" id="{91B182CF-3231-4937-B342-B7215D355367}"/>
              </a:ext>
            </a:extLst>
          </p:cNvPr>
          <p:cNvSpPr>
            <a:spLocks noGrp="1"/>
          </p:cNvSpPr>
          <p:nvPr/>
        </p:nvSpPr>
        <p:spPr>
          <a:xfrm>
            <a:off x="609600" y="2495550"/>
            <a:ext cx="6705600" cy="0"/>
          </a:xfrm>
          <a:prstGeom prst="line">
            <a:avLst/>
          </a:prstGeom>
          <a:noFill/>
          <a:ln w="9525">
            <a:solidFill>
              <a:srgbClr val="CEC8BE"/>
            </a:solidFill>
            <a:prstDash val="solid"/>
          </a:ln>
        </p:spPr>
        <p:txBody>
          <a:bodyPr/>
          <a:lstStyle/>
          <a:p>
            <a:endParaRPr lang="en-US"/>
          </a:p>
        </p:txBody>
      </p:sp>
      <p:sp>
        <p:nvSpPr>
          <p:cNvPr id="11" name="Rectangle 10">
            <a:extLst>
              <a:ext uri="{FF2B5EF4-FFF2-40B4-BE49-F238E27FC236}">
                <a16:creationId xmlns:a16="http://schemas.microsoft.com/office/drawing/2014/main" id="{57B0FD69-958E-49A2-BEB8-ECF709251E0C}"/>
              </a:ext>
            </a:extLst>
          </p:cNvPr>
          <p:cNvSpPr>
            <a:spLocks noGrp="1"/>
          </p:cNvSpPr>
          <p:nvPr/>
        </p:nvSpPr>
        <p:spPr>
          <a:xfrm>
            <a:off x="647700" y="2676525"/>
            <a:ext cx="1524000" cy="190500"/>
          </a:xfrm>
          <a:prstGeom prst="rect">
            <a:avLst/>
          </a:prstGeom>
          <a:noFill/>
          <a:ln w="0">
            <a:noFill/>
          </a:ln>
        </p:spPr>
        <p:txBody>
          <a:bodyPr lIns="0" tIns="0" rIns="0" bIns="0" anchor="t">
            <a:normAutofit/>
          </a:bodyPr>
          <a:lstStyle/>
          <a:p>
            <a:pPr algn="l">
              <a:defRPr sz="825" b="1" i="0">
                <a:solidFill>
                  <a:srgbClr val="A33D2E"/>
                </a:solidFill>
                <a:latin typeface="Arial"/>
                <a:ea typeface="Arial"/>
                <a:cs typeface="Arial"/>
              </a:defRPr>
            </a:pPr>
            <a:r>
              <a:rPr sz="825" b="1" i="0">
                <a:solidFill>
                  <a:srgbClr val="A33D2E"/>
                </a:solidFill>
                <a:latin typeface="Arial"/>
                <a:ea typeface="Arial"/>
                <a:cs typeface="Arial"/>
              </a:rPr>
              <a:t>EVENTS</a:t>
            </a:r>
          </a:p>
        </p:txBody>
      </p:sp>
      <p:sp>
        <p:nvSpPr>
          <p:cNvPr id="12" name="Rectangle 11">
            <a:extLst>
              <a:ext uri="{FF2B5EF4-FFF2-40B4-BE49-F238E27FC236}">
                <a16:creationId xmlns:a16="http://schemas.microsoft.com/office/drawing/2014/main" id="{90BAEDA9-4430-4EDD-A68E-E90B41BE8FE7}"/>
              </a:ext>
            </a:extLst>
          </p:cNvPr>
          <p:cNvSpPr>
            <a:spLocks noGrp="1"/>
          </p:cNvSpPr>
          <p:nvPr/>
        </p:nvSpPr>
        <p:spPr>
          <a:xfrm>
            <a:off x="2324100" y="2609850"/>
            <a:ext cx="4857750" cy="457200"/>
          </a:xfrm>
          <a:prstGeom prst="rect">
            <a:avLst/>
          </a:prstGeom>
          <a:noFill/>
          <a:ln w="0">
            <a:noFill/>
          </a:ln>
        </p:spPr>
        <p:txBody>
          <a:bodyPr lIns="0" tIns="0" rIns="0" bIns="0" anchor="t">
            <a:normAutofit/>
          </a:bodyPr>
          <a:lstStyle/>
          <a:p>
            <a:pPr algn="l">
              <a:defRPr sz="1800" b="1" i="0">
                <a:solidFill>
                  <a:srgbClr val="1A1A1A"/>
                </a:solidFill>
                <a:latin typeface="Arial"/>
                <a:ea typeface="Arial"/>
                <a:cs typeface="Arial"/>
              </a:defRPr>
            </a:pPr>
            <a:r>
              <a:rPr sz="1800" b="1" i="0">
                <a:solidFill>
                  <a:srgbClr val="1A1A1A"/>
                </a:solidFill>
                <a:latin typeface="Arial"/>
                <a:ea typeface="Arial"/>
                <a:cs typeface="Arial"/>
              </a:rPr>
              <a:t>Federal Reserve rate decisions</a:t>
            </a:r>
          </a:p>
        </p:txBody>
      </p:sp>
      <p:sp>
        <p:nvSpPr>
          <p:cNvPr id="13" name="Straight Connector 12">
            <a:extLst>
              <a:ext uri="{FF2B5EF4-FFF2-40B4-BE49-F238E27FC236}">
                <a16:creationId xmlns:a16="http://schemas.microsoft.com/office/drawing/2014/main" id="{0053D89F-1E4C-4F31-9026-F9C8A2FFD9F4}"/>
              </a:ext>
            </a:extLst>
          </p:cNvPr>
          <p:cNvSpPr>
            <a:spLocks noGrp="1"/>
          </p:cNvSpPr>
          <p:nvPr/>
        </p:nvSpPr>
        <p:spPr>
          <a:xfrm>
            <a:off x="609600" y="3200400"/>
            <a:ext cx="6705600" cy="0"/>
          </a:xfrm>
          <a:prstGeom prst="line">
            <a:avLst/>
          </a:prstGeom>
          <a:noFill/>
          <a:ln w="9525">
            <a:solidFill>
              <a:srgbClr val="CEC8BE"/>
            </a:solidFill>
            <a:prstDash val="solid"/>
          </a:ln>
        </p:spPr>
        <p:txBody>
          <a:bodyPr/>
          <a:lstStyle/>
          <a:p>
            <a:endParaRPr lang="en-US"/>
          </a:p>
        </p:txBody>
      </p:sp>
      <p:sp>
        <p:nvSpPr>
          <p:cNvPr id="14" name="Rectangle 13">
            <a:extLst>
              <a:ext uri="{FF2B5EF4-FFF2-40B4-BE49-F238E27FC236}">
                <a16:creationId xmlns:a16="http://schemas.microsoft.com/office/drawing/2014/main" id="{D453D9C4-2215-4317-A934-EFB7F0D4469B}"/>
              </a:ext>
            </a:extLst>
          </p:cNvPr>
          <p:cNvSpPr>
            <a:spLocks noGrp="1"/>
          </p:cNvSpPr>
          <p:nvPr/>
        </p:nvSpPr>
        <p:spPr>
          <a:xfrm>
            <a:off x="647700" y="3381375"/>
            <a:ext cx="1524000" cy="190500"/>
          </a:xfrm>
          <a:prstGeom prst="rect">
            <a:avLst/>
          </a:prstGeom>
          <a:noFill/>
          <a:ln w="0">
            <a:noFill/>
          </a:ln>
        </p:spPr>
        <p:txBody>
          <a:bodyPr lIns="0" tIns="0" rIns="0" bIns="0" anchor="t">
            <a:normAutofit/>
          </a:bodyPr>
          <a:lstStyle/>
          <a:p>
            <a:pPr algn="l">
              <a:defRPr sz="825" b="1" i="0">
                <a:solidFill>
                  <a:srgbClr val="A33D2E"/>
                </a:solidFill>
                <a:latin typeface="Arial"/>
                <a:ea typeface="Arial"/>
                <a:cs typeface="Arial"/>
              </a:defRPr>
            </a:pPr>
            <a:r>
              <a:rPr sz="825" b="1" i="0">
                <a:solidFill>
                  <a:srgbClr val="A33D2E"/>
                </a:solidFill>
                <a:latin typeface="Arial"/>
                <a:ea typeface="Arial"/>
                <a:cs typeface="Arial"/>
              </a:rPr>
              <a:t>ASSETS</a:t>
            </a:r>
          </a:p>
        </p:txBody>
      </p:sp>
      <p:sp>
        <p:nvSpPr>
          <p:cNvPr id="15" name="Rectangle 14">
            <a:extLst>
              <a:ext uri="{FF2B5EF4-FFF2-40B4-BE49-F238E27FC236}">
                <a16:creationId xmlns:a16="http://schemas.microsoft.com/office/drawing/2014/main" id="{3E37EC34-E014-4EE4-A2ED-FD052C785828}"/>
              </a:ext>
            </a:extLst>
          </p:cNvPr>
          <p:cNvSpPr>
            <a:spLocks noGrp="1"/>
          </p:cNvSpPr>
          <p:nvPr/>
        </p:nvSpPr>
        <p:spPr>
          <a:xfrm>
            <a:off x="2324100" y="3314700"/>
            <a:ext cx="4857750" cy="457200"/>
          </a:xfrm>
          <a:prstGeom prst="rect">
            <a:avLst/>
          </a:prstGeom>
          <a:noFill/>
          <a:ln w="0">
            <a:noFill/>
          </a:ln>
        </p:spPr>
        <p:txBody>
          <a:bodyPr lIns="0" tIns="0" rIns="0" bIns="0" anchor="t">
            <a:normAutofit/>
          </a:bodyPr>
          <a:lstStyle/>
          <a:p>
            <a:pPr algn="l">
              <a:defRPr sz="1800" b="1" i="0">
                <a:solidFill>
                  <a:srgbClr val="1A1A1A"/>
                </a:solidFill>
                <a:latin typeface="Arial"/>
                <a:ea typeface="Arial"/>
                <a:cs typeface="Arial"/>
              </a:defRPr>
            </a:pPr>
            <a:r>
              <a:rPr sz="1800" b="1" i="0">
                <a:solidFill>
                  <a:srgbClr val="1A1A1A"/>
                </a:solidFill>
                <a:latin typeface="Arial"/>
                <a:ea typeface="Arial"/>
                <a:cs typeface="Arial"/>
              </a:rPr>
              <a:t>Major indices and ETFs</a:t>
            </a:r>
          </a:p>
        </p:txBody>
      </p:sp>
      <p:sp>
        <p:nvSpPr>
          <p:cNvPr id="16" name="Straight Connector 15">
            <a:extLst>
              <a:ext uri="{FF2B5EF4-FFF2-40B4-BE49-F238E27FC236}">
                <a16:creationId xmlns:a16="http://schemas.microsoft.com/office/drawing/2014/main" id="{70C8F9FC-96A5-47B6-95A2-31EC8E9CFB5F}"/>
              </a:ext>
            </a:extLst>
          </p:cNvPr>
          <p:cNvSpPr>
            <a:spLocks noGrp="1"/>
          </p:cNvSpPr>
          <p:nvPr/>
        </p:nvSpPr>
        <p:spPr>
          <a:xfrm>
            <a:off x="609600" y="3905250"/>
            <a:ext cx="6705600" cy="0"/>
          </a:xfrm>
          <a:prstGeom prst="line">
            <a:avLst/>
          </a:prstGeom>
          <a:noFill/>
          <a:ln w="9525">
            <a:solidFill>
              <a:srgbClr val="CEC8BE"/>
            </a:solidFill>
            <a:prstDash val="solid"/>
          </a:ln>
        </p:spPr>
        <p:txBody>
          <a:bodyPr/>
          <a:lstStyle/>
          <a:p>
            <a:endParaRPr lang="en-US"/>
          </a:p>
        </p:txBody>
      </p:sp>
      <p:sp>
        <p:nvSpPr>
          <p:cNvPr id="17" name="Rectangle 16">
            <a:extLst>
              <a:ext uri="{FF2B5EF4-FFF2-40B4-BE49-F238E27FC236}">
                <a16:creationId xmlns:a16="http://schemas.microsoft.com/office/drawing/2014/main" id="{44ADCFA4-1905-40E7-904F-EDE2663BF9D3}"/>
              </a:ext>
            </a:extLst>
          </p:cNvPr>
          <p:cNvSpPr>
            <a:spLocks noGrp="1"/>
          </p:cNvSpPr>
          <p:nvPr/>
        </p:nvSpPr>
        <p:spPr>
          <a:xfrm>
            <a:off x="647700" y="4086225"/>
            <a:ext cx="1524000" cy="190500"/>
          </a:xfrm>
          <a:prstGeom prst="rect">
            <a:avLst/>
          </a:prstGeom>
          <a:noFill/>
          <a:ln w="0">
            <a:noFill/>
          </a:ln>
        </p:spPr>
        <p:txBody>
          <a:bodyPr lIns="0" tIns="0" rIns="0" bIns="0" anchor="t">
            <a:normAutofit/>
          </a:bodyPr>
          <a:lstStyle/>
          <a:p>
            <a:pPr algn="l">
              <a:defRPr sz="825" b="1" i="0">
                <a:solidFill>
                  <a:srgbClr val="A33D2E"/>
                </a:solidFill>
                <a:latin typeface="Arial"/>
                <a:ea typeface="Arial"/>
                <a:cs typeface="Arial"/>
              </a:defRPr>
            </a:pPr>
            <a:r>
              <a:rPr sz="825" b="1" i="0">
                <a:solidFill>
                  <a:srgbClr val="A33D2E"/>
                </a:solidFill>
                <a:latin typeface="Arial"/>
                <a:ea typeface="Arial"/>
                <a:cs typeface="Arial"/>
              </a:rPr>
              <a:t>HORIZONS</a:t>
            </a:r>
          </a:p>
        </p:txBody>
      </p:sp>
      <p:sp>
        <p:nvSpPr>
          <p:cNvPr id="18" name="Rectangle 17">
            <a:extLst>
              <a:ext uri="{FF2B5EF4-FFF2-40B4-BE49-F238E27FC236}">
                <a16:creationId xmlns:a16="http://schemas.microsoft.com/office/drawing/2014/main" id="{D5E42479-A146-4C8C-A0D1-6E4099BB6257}"/>
              </a:ext>
            </a:extLst>
          </p:cNvPr>
          <p:cNvSpPr>
            <a:spLocks noGrp="1"/>
          </p:cNvSpPr>
          <p:nvPr/>
        </p:nvSpPr>
        <p:spPr>
          <a:xfrm>
            <a:off x="2324100" y="4019550"/>
            <a:ext cx="4857750" cy="457200"/>
          </a:xfrm>
          <a:prstGeom prst="rect">
            <a:avLst/>
          </a:prstGeom>
          <a:noFill/>
          <a:ln w="0">
            <a:noFill/>
          </a:ln>
        </p:spPr>
        <p:txBody>
          <a:bodyPr lIns="0" tIns="0" rIns="0" bIns="0" anchor="t">
            <a:normAutofit/>
          </a:bodyPr>
          <a:lstStyle/>
          <a:p>
            <a:pPr algn="l">
              <a:defRPr sz="1800" b="1" i="0">
                <a:solidFill>
                  <a:srgbClr val="1A1A1A"/>
                </a:solidFill>
                <a:latin typeface="Arial"/>
                <a:ea typeface="Arial"/>
                <a:cs typeface="Arial"/>
              </a:defRPr>
            </a:pPr>
            <a:r>
              <a:rPr sz="1800" b="1" i="0">
                <a:solidFill>
                  <a:srgbClr val="1A1A1A"/>
                </a:solidFill>
                <a:latin typeface="Arial"/>
                <a:ea typeface="Arial"/>
                <a:cs typeface="Arial"/>
              </a:rPr>
              <a:t>1, 5 and 20 trading days</a:t>
            </a:r>
          </a:p>
        </p:txBody>
      </p:sp>
      <p:sp>
        <p:nvSpPr>
          <p:cNvPr id="19" name="Straight Connector 18">
            <a:extLst>
              <a:ext uri="{FF2B5EF4-FFF2-40B4-BE49-F238E27FC236}">
                <a16:creationId xmlns:a16="http://schemas.microsoft.com/office/drawing/2014/main" id="{E48F188B-1F5C-4683-93F0-F80F8A9286FA}"/>
              </a:ext>
            </a:extLst>
          </p:cNvPr>
          <p:cNvSpPr>
            <a:spLocks noGrp="1"/>
          </p:cNvSpPr>
          <p:nvPr/>
        </p:nvSpPr>
        <p:spPr>
          <a:xfrm>
            <a:off x="609600" y="4610100"/>
            <a:ext cx="6705600" cy="0"/>
          </a:xfrm>
          <a:prstGeom prst="line">
            <a:avLst/>
          </a:prstGeom>
          <a:noFill/>
          <a:ln w="9525">
            <a:solidFill>
              <a:srgbClr val="CEC8BE"/>
            </a:solidFill>
            <a:prstDash val="solid"/>
          </a:ln>
        </p:spPr>
        <p:txBody>
          <a:bodyPr/>
          <a:lstStyle/>
          <a:p>
            <a:endParaRPr lang="en-US"/>
          </a:p>
        </p:txBody>
      </p:sp>
      <p:sp>
        <p:nvSpPr>
          <p:cNvPr id="20" name="Rectangle 19">
            <a:extLst>
              <a:ext uri="{FF2B5EF4-FFF2-40B4-BE49-F238E27FC236}">
                <a16:creationId xmlns:a16="http://schemas.microsoft.com/office/drawing/2014/main" id="{C3A58937-CD5E-4380-A8B3-A249EE91A1A8}"/>
              </a:ext>
            </a:extLst>
          </p:cNvPr>
          <p:cNvSpPr>
            <a:spLocks noGrp="1"/>
          </p:cNvSpPr>
          <p:nvPr/>
        </p:nvSpPr>
        <p:spPr>
          <a:xfrm>
            <a:off x="647700" y="4791075"/>
            <a:ext cx="1524000" cy="190500"/>
          </a:xfrm>
          <a:prstGeom prst="rect">
            <a:avLst/>
          </a:prstGeom>
          <a:noFill/>
          <a:ln w="0">
            <a:noFill/>
          </a:ln>
        </p:spPr>
        <p:txBody>
          <a:bodyPr lIns="0" tIns="0" rIns="0" bIns="0" anchor="t">
            <a:normAutofit/>
          </a:bodyPr>
          <a:lstStyle/>
          <a:p>
            <a:pPr algn="l">
              <a:defRPr sz="825" b="1" i="0">
                <a:solidFill>
                  <a:srgbClr val="A33D2E"/>
                </a:solidFill>
                <a:latin typeface="Arial"/>
                <a:ea typeface="Arial"/>
                <a:cs typeface="Arial"/>
              </a:defRPr>
            </a:pPr>
            <a:r>
              <a:rPr sz="825" b="1" i="0">
                <a:solidFill>
                  <a:srgbClr val="A33D2E"/>
                </a:solidFill>
                <a:latin typeface="Arial"/>
                <a:ea typeface="Arial"/>
                <a:cs typeface="Arial"/>
              </a:rPr>
              <a:t>WALLET MODEL</a:t>
            </a:r>
          </a:p>
        </p:txBody>
      </p:sp>
      <p:sp>
        <p:nvSpPr>
          <p:cNvPr id="21" name="Rectangle 20">
            <a:extLst>
              <a:ext uri="{FF2B5EF4-FFF2-40B4-BE49-F238E27FC236}">
                <a16:creationId xmlns:a16="http://schemas.microsoft.com/office/drawing/2014/main" id="{DA1771CC-5FAC-424A-BA58-491F07C1B5AE}"/>
              </a:ext>
            </a:extLst>
          </p:cNvPr>
          <p:cNvSpPr>
            <a:spLocks noGrp="1"/>
          </p:cNvSpPr>
          <p:nvPr/>
        </p:nvSpPr>
        <p:spPr>
          <a:xfrm>
            <a:off x="2324100" y="4724400"/>
            <a:ext cx="4857750" cy="457200"/>
          </a:xfrm>
          <a:prstGeom prst="rect">
            <a:avLst/>
          </a:prstGeom>
          <a:noFill/>
          <a:ln w="0">
            <a:noFill/>
          </a:ln>
        </p:spPr>
        <p:txBody>
          <a:bodyPr lIns="0" tIns="0" rIns="0" bIns="0" anchor="t">
            <a:normAutofit/>
          </a:bodyPr>
          <a:lstStyle/>
          <a:p>
            <a:pPr algn="l">
              <a:defRPr sz="1800" b="1" i="0">
                <a:solidFill>
                  <a:srgbClr val="1A1A1A"/>
                </a:solidFill>
                <a:latin typeface="Arial"/>
                <a:ea typeface="Arial"/>
                <a:cs typeface="Arial"/>
              </a:defRPr>
            </a:pPr>
            <a:r>
              <a:rPr sz="1800" b="1" i="0">
                <a:solidFill>
                  <a:srgbClr val="1A1A1A"/>
                </a:solidFill>
                <a:latin typeface="Arial"/>
                <a:ea typeface="Arial"/>
                <a:cs typeface="Arial"/>
              </a:rPr>
              <a:t>Address-level, past-only scoring</a:t>
            </a:r>
          </a:p>
        </p:txBody>
      </p:sp>
      <p:sp>
        <p:nvSpPr>
          <p:cNvPr id="22" name="Straight Connector 21">
            <a:extLst>
              <a:ext uri="{FF2B5EF4-FFF2-40B4-BE49-F238E27FC236}">
                <a16:creationId xmlns:a16="http://schemas.microsoft.com/office/drawing/2014/main" id="{434CE279-6F6D-4422-B5CA-799C0F623929}"/>
              </a:ext>
            </a:extLst>
          </p:cNvPr>
          <p:cNvSpPr>
            <a:spLocks noGrp="1"/>
          </p:cNvSpPr>
          <p:nvPr/>
        </p:nvSpPr>
        <p:spPr>
          <a:xfrm>
            <a:off x="609600" y="5314950"/>
            <a:ext cx="6705600" cy="0"/>
          </a:xfrm>
          <a:prstGeom prst="line">
            <a:avLst/>
          </a:prstGeom>
          <a:noFill/>
          <a:ln w="9525">
            <a:solidFill>
              <a:srgbClr val="CEC8BE"/>
            </a:solidFill>
            <a:prstDash val="solid"/>
          </a:ln>
        </p:spPr>
        <p:txBody>
          <a:bodyPr/>
          <a:lstStyle/>
          <a:p>
            <a:endParaRPr lang="en-US"/>
          </a:p>
        </p:txBody>
      </p:sp>
      <p:sp>
        <p:nvSpPr>
          <p:cNvPr id="23" name="Rectangle 22">
            <a:extLst>
              <a:ext uri="{FF2B5EF4-FFF2-40B4-BE49-F238E27FC236}">
                <a16:creationId xmlns:a16="http://schemas.microsoft.com/office/drawing/2014/main" id="{8BB10E61-78F0-4FF1-AC0E-D767AEFA7FED}"/>
              </a:ext>
            </a:extLst>
          </p:cNvPr>
          <p:cNvSpPr>
            <a:spLocks noGrp="1"/>
          </p:cNvSpPr>
          <p:nvPr/>
        </p:nvSpPr>
        <p:spPr>
          <a:xfrm>
            <a:off x="7791450" y="1809750"/>
            <a:ext cx="3790950" cy="1552575"/>
          </a:xfrm>
          <a:prstGeom prst="rect">
            <a:avLst/>
          </a:prstGeom>
          <a:solidFill>
            <a:srgbClr val="A33D2E"/>
          </a:solidFill>
          <a:ln w="14288">
            <a:solidFill>
              <a:srgbClr val="A33D2E"/>
            </a:solidFill>
            <a:prstDash val="solid"/>
          </a:ln>
        </p:spPr>
        <p:txBody>
          <a:bodyPr/>
          <a:lstStyle/>
          <a:p>
            <a:endParaRPr lang="en-US"/>
          </a:p>
        </p:txBody>
      </p:sp>
      <p:sp>
        <p:nvSpPr>
          <p:cNvPr id="24" name="Rectangle 23">
            <a:extLst>
              <a:ext uri="{FF2B5EF4-FFF2-40B4-BE49-F238E27FC236}">
                <a16:creationId xmlns:a16="http://schemas.microsoft.com/office/drawing/2014/main" id="{FF7989B6-52A8-411B-BF7C-A9EE4EA1BB74}"/>
              </a:ext>
            </a:extLst>
          </p:cNvPr>
          <p:cNvSpPr>
            <a:spLocks noGrp="1"/>
          </p:cNvSpPr>
          <p:nvPr/>
        </p:nvSpPr>
        <p:spPr>
          <a:xfrm>
            <a:off x="8039100" y="2038350"/>
            <a:ext cx="2095500" cy="190500"/>
          </a:xfrm>
          <a:prstGeom prst="rect">
            <a:avLst/>
          </a:prstGeom>
          <a:noFill/>
          <a:ln w="0">
            <a:noFill/>
          </a:ln>
        </p:spPr>
        <p:txBody>
          <a:bodyPr lIns="0" tIns="0" rIns="0" bIns="0" anchor="t">
            <a:normAutofit/>
          </a:bodyPr>
          <a:lstStyle/>
          <a:p>
            <a:pPr algn="l">
              <a:defRPr sz="825" b="1" i="0">
                <a:solidFill>
                  <a:srgbClr val="F5CFC6"/>
                </a:solidFill>
                <a:latin typeface="Arial"/>
                <a:ea typeface="Arial"/>
                <a:cs typeface="Arial"/>
              </a:defRPr>
            </a:pPr>
            <a:r>
              <a:rPr sz="825" b="1" i="0">
                <a:solidFill>
                  <a:srgbClr val="F5CFC6"/>
                </a:solidFill>
                <a:latin typeface="Arial"/>
                <a:ea typeface="Arial"/>
                <a:cs typeface="Arial"/>
              </a:rPr>
              <a:t>SUCCESS CRITERION</a:t>
            </a:r>
          </a:p>
        </p:txBody>
      </p:sp>
      <p:sp>
        <p:nvSpPr>
          <p:cNvPr id="25" name="Rectangle 24">
            <a:extLst>
              <a:ext uri="{FF2B5EF4-FFF2-40B4-BE49-F238E27FC236}">
                <a16:creationId xmlns:a16="http://schemas.microsoft.com/office/drawing/2014/main" id="{2249D008-F16A-4E05-A915-328543E12E25}"/>
              </a:ext>
            </a:extLst>
          </p:cNvPr>
          <p:cNvSpPr>
            <a:spLocks noGrp="1"/>
          </p:cNvSpPr>
          <p:nvPr/>
        </p:nvSpPr>
        <p:spPr>
          <a:xfrm>
            <a:off x="8039100" y="2409825"/>
            <a:ext cx="3295650" cy="762000"/>
          </a:xfrm>
          <a:prstGeom prst="rect">
            <a:avLst/>
          </a:prstGeom>
          <a:noFill/>
          <a:ln w="0">
            <a:noFill/>
          </a:ln>
        </p:spPr>
        <p:txBody>
          <a:bodyPr lIns="0" tIns="0" rIns="0" bIns="0" anchor="t">
            <a:normAutofit fontScale="85644" lnSpcReduction="10000"/>
          </a:bodyPr>
          <a:lstStyle/>
          <a:p>
            <a:pPr algn="l">
              <a:defRPr sz="1950" b="1" i="0">
                <a:solidFill>
                  <a:srgbClr val="FFFFFF"/>
                </a:solidFill>
                <a:latin typeface="Arial"/>
                <a:ea typeface="Arial"/>
                <a:cs typeface="Arial"/>
              </a:defRPr>
            </a:pPr>
            <a:r>
              <a:rPr sz="1950" b="1" i="0">
                <a:solidFill>
                  <a:srgbClr val="FFFFFF"/>
                </a:solidFill>
                <a:latin typeface="Arial"/>
                <a:ea typeface="Arial"/>
                <a:cs typeface="Arial"/>
              </a:rPr>
              <a:t>Incremental predictive value against a fixed volatility baseline</a:t>
            </a:r>
          </a:p>
        </p:txBody>
      </p:sp>
      <p:sp>
        <p:nvSpPr>
          <p:cNvPr id="26" name="Straight Connector 25">
            <a:extLst>
              <a:ext uri="{FF2B5EF4-FFF2-40B4-BE49-F238E27FC236}">
                <a16:creationId xmlns:a16="http://schemas.microsoft.com/office/drawing/2014/main" id="{AA64C43F-084E-49AD-AAFE-E3643F8C3F01}"/>
              </a:ext>
            </a:extLst>
          </p:cNvPr>
          <p:cNvSpPr>
            <a:spLocks noGrp="1"/>
          </p:cNvSpPr>
          <p:nvPr/>
        </p:nvSpPr>
        <p:spPr>
          <a:xfrm>
            <a:off x="7791450" y="3724275"/>
            <a:ext cx="3790950" cy="0"/>
          </a:xfrm>
          <a:prstGeom prst="line">
            <a:avLst/>
          </a:prstGeom>
          <a:noFill/>
          <a:ln w="19050">
            <a:solidFill>
              <a:srgbClr val="1A1A1A"/>
            </a:solidFill>
            <a:prstDash val="solid"/>
          </a:ln>
        </p:spPr>
        <p:txBody>
          <a:bodyPr/>
          <a:lstStyle/>
          <a:p>
            <a:endParaRPr lang="en-US"/>
          </a:p>
        </p:txBody>
      </p:sp>
      <p:sp>
        <p:nvSpPr>
          <p:cNvPr id="27" name="Rectangle 26">
            <a:extLst>
              <a:ext uri="{FF2B5EF4-FFF2-40B4-BE49-F238E27FC236}">
                <a16:creationId xmlns:a16="http://schemas.microsoft.com/office/drawing/2014/main" id="{A890039A-C29B-4BC2-9995-46B64D1A9043}"/>
              </a:ext>
            </a:extLst>
          </p:cNvPr>
          <p:cNvSpPr>
            <a:spLocks noGrp="1"/>
          </p:cNvSpPr>
          <p:nvPr/>
        </p:nvSpPr>
        <p:spPr>
          <a:xfrm>
            <a:off x="7791450" y="3914775"/>
            <a:ext cx="3790950" cy="361950"/>
          </a:xfrm>
          <a:prstGeom prst="rect">
            <a:avLst/>
          </a:prstGeom>
          <a:noFill/>
          <a:ln w="0">
            <a:noFill/>
          </a:ln>
        </p:spPr>
        <p:txBody>
          <a:bodyPr lIns="0" tIns="0" rIns="0" bIns="0" anchor="t">
            <a:normAutofit/>
          </a:bodyPr>
          <a:lstStyle/>
          <a:p>
            <a:pPr algn="l">
              <a:defRPr sz="1725" b="1" i="0">
                <a:solidFill>
                  <a:srgbClr val="1A1A1A"/>
                </a:solidFill>
                <a:latin typeface="Arial"/>
                <a:ea typeface="Arial"/>
                <a:cs typeface="Arial"/>
              </a:defRPr>
            </a:pPr>
            <a:r>
              <a:rPr sz="1725" b="1" i="0">
                <a:solidFill>
                  <a:srgbClr val="1A1A1A"/>
                </a:solidFill>
                <a:latin typeface="Arial"/>
                <a:ea typeface="Arial"/>
                <a:cs typeface="Arial"/>
              </a:rPr>
              <a:t>Extensions wait for evidence</a:t>
            </a:r>
          </a:p>
        </p:txBody>
      </p:sp>
      <p:sp>
        <p:nvSpPr>
          <p:cNvPr id="28" name="Rectangle 27">
            <a:extLst>
              <a:ext uri="{FF2B5EF4-FFF2-40B4-BE49-F238E27FC236}">
                <a16:creationId xmlns:a16="http://schemas.microsoft.com/office/drawing/2014/main" id="{9FB6F71F-3010-4096-A10E-15AAB56DDA3E}"/>
              </a:ext>
            </a:extLst>
          </p:cNvPr>
          <p:cNvSpPr>
            <a:spLocks noGrp="1"/>
          </p:cNvSpPr>
          <p:nvPr/>
        </p:nvSpPr>
        <p:spPr>
          <a:xfrm>
            <a:off x="7791450" y="4400550"/>
            <a:ext cx="3790950" cy="952500"/>
          </a:xfrm>
          <a:prstGeom prst="rect">
            <a:avLst/>
          </a:prstGeom>
          <a:noFill/>
          <a:ln w="0">
            <a:noFill/>
          </a:ln>
        </p:spPr>
        <p:txBody>
          <a:bodyPr lIns="0" tIns="0" rIns="0" bIns="0" anchor="t">
            <a:normAutofit/>
          </a:bodyPr>
          <a:lstStyle/>
          <a:p>
            <a:pPr algn="l">
              <a:defRPr sz="1350" b="0" i="0">
                <a:solidFill>
                  <a:srgbClr val="555555"/>
                </a:solidFill>
                <a:latin typeface="Arial"/>
                <a:ea typeface="Arial"/>
                <a:cs typeface="Arial"/>
              </a:defRPr>
            </a:pPr>
            <a:r>
              <a:rPr sz="1350" b="0" i="0">
                <a:solidFill>
                  <a:srgbClr val="555555"/>
                </a:solidFill>
                <a:latin typeface="Arial"/>
                <a:ea typeface="Arial"/>
                <a:cs typeface="Arial"/>
              </a:rPr>
              <a:t>Other event classes, individual equities, cross-platform data and entity clustering remain outside the first validation cycle.</a:t>
            </a:r>
          </a:p>
        </p:txBody>
      </p:sp>
    </p:spTree>
    <p:extLst>
      <p:ext uri="{BB962C8B-B14F-4D97-AF65-F5344CB8AC3E}">
        <p14:creationId xmlns:p14="http://schemas.microsoft.com/office/powerpoint/2010/main" val="7401837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3EEE5"/>
        </a:solidFill>
        <a:effectLst/>
      </p:bgPr>
    </p:bg>
    <p:spTree>
      <p:nvGrpSpPr>
        <p:cNvPr id="1" name=""/>
        <p:cNvGrpSpPr/>
        <p:nvPr/>
      </p:nvGrpSpPr>
      <p:grpSpPr>
        <a:xfrm>
          <a:off x="0" y="0"/>
          <a:ext cx="0" cy="0"/>
          <a:chOff x="0" y="0"/>
          <a:chExt cx="0" cy="0"/>
        </a:xfrm>
      </p:grpSpPr>
      <p:sp>
        <p:nvSpPr>
          <p:cNvPr id="35" name="Rectangle 34">
            <a:extLst>
              <a:ext uri="{FF2B5EF4-FFF2-40B4-BE49-F238E27FC236}">
                <a16:creationId xmlns:a16="http://schemas.microsoft.com/office/drawing/2014/main" id="{146B13B0-82B2-427F-B303-BC8D889E246A}"/>
              </a:ext>
            </a:extLst>
          </p:cNvPr>
          <p:cNvSpPr>
            <a:spLocks noGrp="1"/>
          </p:cNvSpPr>
          <p:nvPr/>
        </p:nvSpPr>
        <p:spPr>
          <a:xfrm>
            <a:off x="609600" y="400050"/>
            <a:ext cx="7239000" cy="228600"/>
          </a:xfrm>
          <a:prstGeom prst="rect">
            <a:avLst/>
          </a:prstGeom>
          <a:noFill/>
          <a:ln w="0">
            <a:noFill/>
          </a:ln>
        </p:spPr>
        <p:txBody>
          <a:bodyPr lIns="0" tIns="0" rIns="0" bIns="0" anchor="t">
            <a:normAutofit/>
          </a:bodyPr>
          <a:lstStyle/>
          <a:p>
            <a:pPr algn="l">
              <a:defRPr sz="975" b="1" i="0">
                <a:solidFill>
                  <a:srgbClr val="A33D2E"/>
                </a:solidFill>
                <a:latin typeface="Arial"/>
                <a:ea typeface="Arial"/>
                <a:cs typeface="Arial"/>
              </a:defRPr>
            </a:pPr>
            <a:r>
              <a:rPr sz="975" b="1" i="0">
                <a:solidFill>
                  <a:srgbClr val="A33D2E"/>
                </a:solidFill>
                <a:latin typeface="Arial"/>
                <a:ea typeface="Arial"/>
                <a:cs typeface="Arial"/>
              </a:rPr>
              <a:t>PROBABILITY RESEARCH</a:t>
            </a:r>
          </a:p>
        </p:txBody>
      </p:sp>
      <p:sp>
        <p:nvSpPr>
          <p:cNvPr id="2" name="Rectangle 1">
            <a:extLst>
              <a:ext uri="{FF2B5EF4-FFF2-40B4-BE49-F238E27FC236}">
                <a16:creationId xmlns:a16="http://schemas.microsoft.com/office/drawing/2014/main" id="{3BBA3C50-F838-4119-8C56-224FC92CD900}"/>
              </a:ext>
            </a:extLst>
          </p:cNvPr>
          <p:cNvSpPr>
            <a:spLocks noGrp="1"/>
          </p:cNvSpPr>
          <p:nvPr/>
        </p:nvSpPr>
        <p:spPr>
          <a:xfrm>
            <a:off x="609600" y="666750"/>
            <a:ext cx="10668000" cy="666750"/>
          </a:xfrm>
          <a:prstGeom prst="rect">
            <a:avLst/>
          </a:prstGeom>
          <a:noFill/>
          <a:ln w="0">
            <a:noFill/>
          </a:ln>
        </p:spPr>
        <p:txBody>
          <a:bodyPr lIns="0" tIns="0" rIns="0" bIns="0" anchor="t">
            <a:normAutofit/>
          </a:bodyPr>
          <a:lstStyle/>
          <a:p>
            <a:pPr algn="l">
              <a:defRPr sz="3525" b="1" i="0">
                <a:solidFill>
                  <a:srgbClr val="1A1A1A"/>
                </a:solidFill>
                <a:latin typeface="Arial"/>
                <a:ea typeface="Arial"/>
                <a:cs typeface="Arial"/>
              </a:defRPr>
            </a:pPr>
            <a:r>
              <a:rPr sz="3525" b="1" i="0">
                <a:solidFill>
                  <a:srgbClr val="1A1A1A"/>
                </a:solidFill>
                <a:latin typeface="Arial"/>
                <a:ea typeface="Arial"/>
                <a:cs typeface="Arial"/>
              </a:rPr>
              <a:t>Wallet evidence must earn its weight</a:t>
            </a:r>
          </a:p>
        </p:txBody>
      </p:sp>
      <p:sp>
        <p:nvSpPr>
          <p:cNvPr id="3" name="Straight Connector 2">
            <a:extLst>
              <a:ext uri="{FF2B5EF4-FFF2-40B4-BE49-F238E27FC236}">
                <a16:creationId xmlns:a16="http://schemas.microsoft.com/office/drawing/2014/main" id="{981A6177-C67D-407C-B9DF-766CB7472313}"/>
              </a:ext>
            </a:extLst>
          </p:cNvPr>
          <p:cNvSpPr>
            <a:spLocks noGrp="1"/>
          </p:cNvSpPr>
          <p:nvPr/>
        </p:nvSpPr>
        <p:spPr>
          <a:xfrm>
            <a:off x="609600" y="1428750"/>
            <a:ext cx="10972800" cy="0"/>
          </a:xfrm>
          <a:prstGeom prst="line">
            <a:avLst/>
          </a:prstGeom>
          <a:noFill/>
          <a:ln w="9525">
            <a:solidFill>
              <a:srgbClr val="CEC8BE"/>
            </a:solidFill>
            <a:prstDash val="solid"/>
          </a:ln>
        </p:spPr>
        <p:txBody>
          <a:bodyPr/>
          <a:lstStyle/>
          <a:p>
            <a:endParaRPr lang="en-US"/>
          </a:p>
        </p:txBody>
      </p:sp>
      <p:sp>
        <p:nvSpPr>
          <p:cNvPr id="4" name="Straight Connector 3">
            <a:extLst>
              <a:ext uri="{FF2B5EF4-FFF2-40B4-BE49-F238E27FC236}">
                <a16:creationId xmlns:a16="http://schemas.microsoft.com/office/drawing/2014/main" id="{A0F1527B-E32D-424F-82AC-849EEE15C59D}"/>
              </a:ext>
            </a:extLst>
          </p:cNvPr>
          <p:cNvSpPr>
            <a:spLocks noGrp="1"/>
          </p:cNvSpPr>
          <p:nvPr/>
        </p:nvSpPr>
        <p:spPr>
          <a:xfrm>
            <a:off x="609600" y="6438900"/>
            <a:ext cx="10972800" cy="0"/>
          </a:xfrm>
          <a:prstGeom prst="line">
            <a:avLst/>
          </a:prstGeom>
          <a:noFill/>
          <a:ln w="9525">
            <a:solidFill>
              <a:srgbClr val="CEC8BE"/>
            </a:solidFill>
            <a:prstDash val="solid"/>
          </a:ln>
        </p:spPr>
        <p:txBody>
          <a:bodyPr/>
          <a:lstStyle/>
          <a:p>
            <a:endParaRPr lang="en-US"/>
          </a:p>
        </p:txBody>
      </p:sp>
      <p:sp>
        <p:nvSpPr>
          <p:cNvPr id="5" name="Rectangle 4">
            <a:extLst>
              <a:ext uri="{FF2B5EF4-FFF2-40B4-BE49-F238E27FC236}">
                <a16:creationId xmlns:a16="http://schemas.microsoft.com/office/drawing/2014/main" id="{8DFEF161-F000-485F-8C4D-8D684ECE99A0}"/>
              </a:ext>
            </a:extLst>
          </p:cNvPr>
          <p:cNvSpPr>
            <a:spLocks noGrp="1"/>
          </p:cNvSpPr>
          <p:nvPr/>
        </p:nvSpPr>
        <p:spPr>
          <a:xfrm>
            <a:off x="609600" y="6543675"/>
            <a:ext cx="6667500" cy="152400"/>
          </a:xfrm>
          <a:prstGeom prst="rect">
            <a:avLst/>
          </a:prstGeom>
          <a:noFill/>
          <a:ln w="0">
            <a:noFill/>
          </a:ln>
        </p:spPr>
        <p:txBody>
          <a:bodyPr lIns="0" tIns="0" rIns="0" bIns="0" anchor="t">
            <a:normAutofit/>
          </a:bodyPr>
          <a:lstStyle/>
          <a:p>
            <a:pPr algn="l">
              <a:defRPr sz="750" b="1" i="0">
                <a:solidFill>
                  <a:srgbClr val="8E887F"/>
                </a:solidFill>
                <a:latin typeface="Arial"/>
                <a:ea typeface="Arial"/>
                <a:cs typeface="Arial"/>
              </a:defRPr>
            </a:pPr>
            <a:r>
              <a:rPr sz="750" b="1" i="0">
                <a:solidFill>
                  <a:srgbClr val="8E887F"/>
                </a:solidFill>
                <a:latin typeface="Arial"/>
                <a:ea typeface="Arial"/>
                <a:cs typeface="Arial"/>
              </a:rPr>
              <a:t>EVENTLENS   FINAL YEAR PROJECT PROPOSAL</a:t>
            </a:r>
          </a:p>
        </p:txBody>
      </p:sp>
      <p:sp>
        <p:nvSpPr>
          <p:cNvPr id="6" name="Rectangle 5">
            <a:extLst>
              <a:ext uri="{FF2B5EF4-FFF2-40B4-BE49-F238E27FC236}">
                <a16:creationId xmlns:a16="http://schemas.microsoft.com/office/drawing/2014/main" id="{652E945E-0626-4E1B-BF7C-48C014CB834A}"/>
              </a:ext>
            </a:extLst>
          </p:cNvPr>
          <p:cNvSpPr>
            <a:spLocks noGrp="1"/>
          </p:cNvSpPr>
          <p:nvPr/>
        </p:nvSpPr>
        <p:spPr>
          <a:xfrm>
            <a:off x="10287000" y="6543675"/>
            <a:ext cx="1295400" cy="152400"/>
          </a:xfrm>
          <a:prstGeom prst="rect">
            <a:avLst/>
          </a:prstGeom>
          <a:noFill/>
          <a:ln w="0">
            <a:noFill/>
          </a:ln>
        </p:spPr>
        <p:txBody>
          <a:bodyPr lIns="0" tIns="0" rIns="0" bIns="0" anchor="t">
            <a:normAutofit/>
          </a:bodyPr>
          <a:lstStyle/>
          <a:p>
            <a:pPr algn="r">
              <a:defRPr sz="750" b="1" i="0">
                <a:solidFill>
                  <a:srgbClr val="8E887F"/>
                </a:solidFill>
                <a:latin typeface="Arial"/>
                <a:ea typeface="Arial"/>
                <a:cs typeface="Arial"/>
              </a:defRPr>
            </a:pPr>
            <a:r>
              <a:rPr sz="750" b="1" i="0">
                <a:solidFill>
                  <a:srgbClr val="8E887F"/>
                </a:solidFill>
                <a:latin typeface="Arial"/>
                <a:ea typeface="Arial"/>
                <a:cs typeface="Arial"/>
              </a:rPr>
              <a:t>05 / 08</a:t>
            </a:r>
          </a:p>
        </p:txBody>
      </p:sp>
      <p:sp>
        <p:nvSpPr>
          <p:cNvPr id="7" name="Straight Connector 6">
            <a:extLst>
              <a:ext uri="{FF2B5EF4-FFF2-40B4-BE49-F238E27FC236}">
                <a16:creationId xmlns:a16="http://schemas.microsoft.com/office/drawing/2014/main" id="{143E8EFD-4DBB-4EFD-BB0D-F4C36DC5062B}"/>
              </a:ext>
            </a:extLst>
          </p:cNvPr>
          <p:cNvSpPr>
            <a:spLocks noGrp="1"/>
          </p:cNvSpPr>
          <p:nvPr/>
        </p:nvSpPr>
        <p:spPr>
          <a:xfrm>
            <a:off x="609600" y="1838325"/>
            <a:ext cx="2476500" cy="0"/>
          </a:xfrm>
          <a:prstGeom prst="line">
            <a:avLst/>
          </a:prstGeom>
          <a:noFill/>
          <a:ln w="23813">
            <a:solidFill>
              <a:srgbClr val="1A1A1A"/>
            </a:solidFill>
            <a:prstDash val="solid"/>
          </a:ln>
        </p:spPr>
        <p:txBody>
          <a:bodyPr/>
          <a:lstStyle/>
          <a:p>
            <a:endParaRPr lang="en-US"/>
          </a:p>
        </p:txBody>
      </p:sp>
      <p:sp>
        <p:nvSpPr>
          <p:cNvPr id="8" name="Rectangle 7">
            <a:extLst>
              <a:ext uri="{FF2B5EF4-FFF2-40B4-BE49-F238E27FC236}">
                <a16:creationId xmlns:a16="http://schemas.microsoft.com/office/drawing/2014/main" id="{B9AF4C69-CF6B-4B19-80E0-1A2317C3C7F4}"/>
              </a:ext>
            </a:extLst>
          </p:cNvPr>
          <p:cNvSpPr>
            <a:spLocks noGrp="1"/>
          </p:cNvSpPr>
          <p:nvPr/>
        </p:nvSpPr>
        <p:spPr>
          <a:xfrm>
            <a:off x="609600" y="2009775"/>
            <a:ext cx="762000" cy="190500"/>
          </a:xfrm>
          <a:prstGeom prst="rect">
            <a:avLst/>
          </a:prstGeom>
          <a:noFill/>
          <a:ln w="0">
            <a:noFill/>
          </a:ln>
        </p:spPr>
        <p:txBody>
          <a:bodyPr lIns="0" tIns="0" rIns="0" bIns="0" anchor="t">
            <a:normAutofit/>
          </a:bodyPr>
          <a:lstStyle/>
          <a:p>
            <a:pPr algn="l">
              <a:defRPr sz="825" b="1" i="0">
                <a:solidFill>
                  <a:srgbClr val="A33D2E"/>
                </a:solidFill>
                <a:latin typeface="Arial"/>
                <a:ea typeface="Arial"/>
                <a:cs typeface="Arial"/>
              </a:defRPr>
            </a:pPr>
            <a:r>
              <a:rPr sz="825" b="1" i="0">
                <a:solidFill>
                  <a:srgbClr val="A33D2E"/>
                </a:solidFill>
                <a:latin typeface="Arial"/>
                <a:ea typeface="Arial"/>
                <a:cs typeface="Arial"/>
              </a:rPr>
              <a:t>01</a:t>
            </a:r>
          </a:p>
        </p:txBody>
      </p:sp>
      <p:sp>
        <p:nvSpPr>
          <p:cNvPr id="9" name="Rectangle 8">
            <a:extLst>
              <a:ext uri="{FF2B5EF4-FFF2-40B4-BE49-F238E27FC236}">
                <a16:creationId xmlns:a16="http://schemas.microsoft.com/office/drawing/2014/main" id="{AFC1C28D-3AEB-418C-83F5-D3A1EEF9B5AB}"/>
              </a:ext>
            </a:extLst>
          </p:cNvPr>
          <p:cNvSpPr>
            <a:spLocks noGrp="1"/>
          </p:cNvSpPr>
          <p:nvPr/>
        </p:nvSpPr>
        <p:spPr>
          <a:xfrm>
            <a:off x="609600" y="2324100"/>
            <a:ext cx="2476500" cy="552450"/>
          </a:xfrm>
          <a:prstGeom prst="rect">
            <a:avLst/>
          </a:prstGeom>
          <a:noFill/>
          <a:ln w="0">
            <a:noFill/>
          </a:ln>
        </p:spPr>
        <p:txBody>
          <a:bodyPr lIns="0" tIns="0" rIns="0" bIns="0" anchor="t">
            <a:normAutofit/>
          </a:bodyPr>
          <a:lstStyle/>
          <a:p>
            <a:pPr algn="l">
              <a:defRPr sz="1650" b="1" i="0">
                <a:solidFill>
                  <a:srgbClr val="1A1A1A"/>
                </a:solidFill>
                <a:latin typeface="Arial"/>
                <a:ea typeface="Arial"/>
                <a:cs typeface="Arial"/>
              </a:defRPr>
            </a:pPr>
            <a:r>
              <a:rPr sz="1650" b="1" i="0">
                <a:solidFill>
                  <a:srgbClr val="1A1A1A"/>
                </a:solidFill>
                <a:latin typeface="Arial"/>
                <a:ea typeface="Arial"/>
                <a:cs typeface="Arial"/>
              </a:rPr>
              <a:t>Consolidate decisions</a:t>
            </a:r>
          </a:p>
        </p:txBody>
      </p:sp>
      <p:sp>
        <p:nvSpPr>
          <p:cNvPr id="10" name="Rectangle 9">
            <a:extLst>
              <a:ext uri="{FF2B5EF4-FFF2-40B4-BE49-F238E27FC236}">
                <a16:creationId xmlns:a16="http://schemas.microsoft.com/office/drawing/2014/main" id="{51A696F7-6E30-46C3-ACE5-35EDE1ED13AB}"/>
              </a:ext>
            </a:extLst>
          </p:cNvPr>
          <p:cNvSpPr>
            <a:spLocks noGrp="1"/>
          </p:cNvSpPr>
          <p:nvPr/>
        </p:nvSpPr>
        <p:spPr>
          <a:xfrm>
            <a:off x="609600" y="3028950"/>
            <a:ext cx="2476500" cy="723900"/>
          </a:xfrm>
          <a:prstGeom prst="rect">
            <a:avLst/>
          </a:prstGeom>
          <a:noFill/>
          <a:ln w="0">
            <a:noFill/>
          </a:ln>
        </p:spPr>
        <p:txBody>
          <a:bodyPr lIns="0" tIns="0" rIns="0" bIns="0" anchor="t">
            <a:normAutofit/>
          </a:bodyPr>
          <a:lstStyle/>
          <a:p>
            <a:pPr>
              <a:defRPr sz="1200" b="0" i="0">
                <a:solidFill>
                  <a:srgbClr val="555555"/>
                </a:solidFill>
                <a:latin typeface="Arial"/>
                <a:ea typeface="Arial"/>
                <a:cs typeface="Arial"/>
              </a:defRPr>
            </a:pPr>
            <a:r>
              <a:rPr lang="en-US" sz="1200">
                <a:solidFill>
                  <a:srgbClr val="555555"/>
                </a:solidFill>
                <a:latin typeface="Arial"/>
                <a:ea typeface="Arial"/>
                <a:cs typeface="Arial"/>
              </a:rPr>
              <a:t>Merge repeated fills into wallet-event decisions. </a:t>
            </a:r>
            <a:r>
              <a:rPr lang="en-US" sz="1200" dirty="0">
                <a:solidFill>
                  <a:srgbClr val="555555"/>
                </a:solidFill>
                <a:latin typeface="Arial"/>
                <a:ea typeface="Arial"/>
                <a:cs typeface="Arial"/>
              </a:rPr>
              <a:t>Separate directional from balanced holdings.</a:t>
            </a:r>
            <a:endParaRPr sz="1200" b="0" i="0" dirty="0">
              <a:solidFill>
                <a:srgbClr val="555555"/>
              </a:solidFill>
              <a:latin typeface="Arial"/>
              <a:ea typeface="Arial"/>
              <a:cs typeface="Arial"/>
            </a:endParaRPr>
          </a:p>
        </p:txBody>
      </p:sp>
      <p:sp>
        <p:nvSpPr>
          <p:cNvPr id="11" name="Straight Connector 10">
            <a:extLst>
              <a:ext uri="{FF2B5EF4-FFF2-40B4-BE49-F238E27FC236}">
                <a16:creationId xmlns:a16="http://schemas.microsoft.com/office/drawing/2014/main" id="{1B16E806-8FDC-46A7-A889-6C916FC7F27C}"/>
              </a:ext>
            </a:extLst>
          </p:cNvPr>
          <p:cNvSpPr>
            <a:spLocks noGrp="1"/>
          </p:cNvSpPr>
          <p:nvPr/>
        </p:nvSpPr>
        <p:spPr>
          <a:xfrm>
            <a:off x="3352800" y="1838325"/>
            <a:ext cx="2476500" cy="0"/>
          </a:xfrm>
          <a:prstGeom prst="line">
            <a:avLst/>
          </a:prstGeom>
          <a:noFill/>
          <a:ln w="23813">
            <a:solidFill>
              <a:srgbClr val="A33D2E"/>
            </a:solidFill>
            <a:prstDash val="solid"/>
          </a:ln>
        </p:spPr>
        <p:txBody>
          <a:bodyPr/>
          <a:lstStyle/>
          <a:p>
            <a:endParaRPr lang="en-US"/>
          </a:p>
        </p:txBody>
      </p:sp>
      <p:sp>
        <p:nvSpPr>
          <p:cNvPr id="12" name="Rectangle 11">
            <a:extLst>
              <a:ext uri="{FF2B5EF4-FFF2-40B4-BE49-F238E27FC236}">
                <a16:creationId xmlns:a16="http://schemas.microsoft.com/office/drawing/2014/main" id="{F89D44C1-E8C7-42D6-9013-73822269CFC4}"/>
              </a:ext>
            </a:extLst>
          </p:cNvPr>
          <p:cNvSpPr>
            <a:spLocks noGrp="1"/>
          </p:cNvSpPr>
          <p:nvPr/>
        </p:nvSpPr>
        <p:spPr>
          <a:xfrm>
            <a:off x="3352800" y="2009775"/>
            <a:ext cx="762000" cy="190500"/>
          </a:xfrm>
          <a:prstGeom prst="rect">
            <a:avLst/>
          </a:prstGeom>
          <a:noFill/>
          <a:ln w="0">
            <a:noFill/>
          </a:ln>
        </p:spPr>
        <p:txBody>
          <a:bodyPr lIns="0" tIns="0" rIns="0" bIns="0" anchor="t">
            <a:normAutofit/>
          </a:bodyPr>
          <a:lstStyle/>
          <a:p>
            <a:pPr algn="l">
              <a:defRPr sz="825" b="1" i="0">
                <a:solidFill>
                  <a:srgbClr val="A33D2E"/>
                </a:solidFill>
                <a:latin typeface="Arial"/>
                <a:ea typeface="Arial"/>
                <a:cs typeface="Arial"/>
              </a:defRPr>
            </a:pPr>
            <a:r>
              <a:rPr sz="825" b="1" i="0">
                <a:solidFill>
                  <a:srgbClr val="A33D2E"/>
                </a:solidFill>
                <a:latin typeface="Arial"/>
                <a:ea typeface="Arial"/>
                <a:cs typeface="Arial"/>
              </a:rPr>
              <a:t>02</a:t>
            </a:r>
          </a:p>
        </p:txBody>
      </p:sp>
      <p:sp>
        <p:nvSpPr>
          <p:cNvPr id="13" name="Rectangle 12">
            <a:extLst>
              <a:ext uri="{FF2B5EF4-FFF2-40B4-BE49-F238E27FC236}">
                <a16:creationId xmlns:a16="http://schemas.microsoft.com/office/drawing/2014/main" id="{0C4D8B48-132E-4A21-839F-329DCA1449CB}"/>
              </a:ext>
            </a:extLst>
          </p:cNvPr>
          <p:cNvSpPr>
            <a:spLocks noGrp="1"/>
          </p:cNvSpPr>
          <p:nvPr/>
        </p:nvSpPr>
        <p:spPr>
          <a:xfrm>
            <a:off x="3352800" y="2324100"/>
            <a:ext cx="2476500" cy="552450"/>
          </a:xfrm>
          <a:prstGeom prst="rect">
            <a:avLst/>
          </a:prstGeom>
          <a:noFill/>
          <a:ln w="0">
            <a:noFill/>
          </a:ln>
        </p:spPr>
        <p:txBody>
          <a:bodyPr lIns="0" tIns="0" rIns="0" bIns="0" anchor="t">
            <a:normAutofit/>
          </a:bodyPr>
          <a:lstStyle/>
          <a:p>
            <a:pPr algn="l">
              <a:defRPr sz="1650" b="1" i="0">
                <a:solidFill>
                  <a:srgbClr val="1A1A1A"/>
                </a:solidFill>
                <a:latin typeface="Arial"/>
                <a:ea typeface="Arial"/>
                <a:cs typeface="Arial"/>
              </a:defRPr>
            </a:pPr>
            <a:r>
              <a:rPr sz="1650" b="1" i="0">
                <a:solidFill>
                  <a:srgbClr val="1A1A1A"/>
                </a:solidFill>
                <a:latin typeface="Arial"/>
                <a:ea typeface="Arial"/>
                <a:cs typeface="Arial"/>
              </a:rPr>
              <a:t>Score past informativeness</a:t>
            </a:r>
          </a:p>
        </p:txBody>
      </p:sp>
      <p:sp>
        <p:nvSpPr>
          <p:cNvPr id="14" name="Rectangle 13">
            <a:extLst>
              <a:ext uri="{FF2B5EF4-FFF2-40B4-BE49-F238E27FC236}">
                <a16:creationId xmlns:a16="http://schemas.microsoft.com/office/drawing/2014/main" id="{EE30D3F6-4B80-4CDD-8E9F-6E6E9804E231}"/>
              </a:ext>
            </a:extLst>
          </p:cNvPr>
          <p:cNvSpPr>
            <a:spLocks noGrp="1"/>
          </p:cNvSpPr>
          <p:nvPr/>
        </p:nvSpPr>
        <p:spPr>
          <a:xfrm>
            <a:off x="3352800" y="3028950"/>
            <a:ext cx="2476500" cy="723900"/>
          </a:xfrm>
          <a:prstGeom prst="rect">
            <a:avLst/>
          </a:prstGeom>
          <a:noFill/>
          <a:ln w="0">
            <a:noFill/>
          </a:ln>
        </p:spPr>
        <p:txBody>
          <a:bodyPr lIns="0" tIns="0" rIns="0" bIns="0" anchor="t">
            <a:normAutofit/>
          </a:bodyPr>
          <a:lstStyle/>
          <a:p>
            <a:pPr>
              <a:defRPr sz="1200" b="0" i="0">
                <a:solidFill>
                  <a:srgbClr val="555555"/>
                </a:solidFill>
                <a:latin typeface="Arial"/>
                <a:ea typeface="Arial"/>
                <a:cs typeface="Arial"/>
              </a:defRPr>
            </a:pPr>
            <a:r>
              <a:rPr lang="en-US" sz="1200">
                <a:solidFill>
                  <a:srgbClr val="555555"/>
                </a:solidFill>
                <a:latin typeface="Arial"/>
                <a:ea typeface="Arial"/>
                <a:cs typeface="Arial"/>
              </a:rPr>
              <a:t>Score prior resolved events using only evidence available at each forecast date.</a:t>
            </a:r>
            <a:endParaRPr sz="1200" b="0" i="0">
              <a:solidFill>
                <a:srgbClr val="555555"/>
              </a:solidFill>
              <a:latin typeface="Arial"/>
              <a:ea typeface="Arial"/>
              <a:cs typeface="Arial"/>
            </a:endParaRPr>
          </a:p>
        </p:txBody>
      </p:sp>
      <p:sp>
        <p:nvSpPr>
          <p:cNvPr id="15" name="Straight Connector 14">
            <a:extLst>
              <a:ext uri="{FF2B5EF4-FFF2-40B4-BE49-F238E27FC236}">
                <a16:creationId xmlns:a16="http://schemas.microsoft.com/office/drawing/2014/main" id="{198636A0-7EB5-413C-9942-92E13E42DD2D}"/>
              </a:ext>
            </a:extLst>
          </p:cNvPr>
          <p:cNvSpPr>
            <a:spLocks noGrp="1"/>
          </p:cNvSpPr>
          <p:nvPr/>
        </p:nvSpPr>
        <p:spPr>
          <a:xfrm>
            <a:off x="6096000" y="1838325"/>
            <a:ext cx="2476500" cy="0"/>
          </a:xfrm>
          <a:prstGeom prst="line">
            <a:avLst/>
          </a:prstGeom>
          <a:noFill/>
          <a:ln w="23813">
            <a:solidFill>
              <a:srgbClr val="1A1A1A"/>
            </a:solidFill>
            <a:prstDash val="solid"/>
          </a:ln>
        </p:spPr>
        <p:txBody>
          <a:bodyPr/>
          <a:lstStyle/>
          <a:p>
            <a:endParaRPr lang="en-US"/>
          </a:p>
        </p:txBody>
      </p:sp>
      <p:sp>
        <p:nvSpPr>
          <p:cNvPr id="16" name="Rectangle 15">
            <a:extLst>
              <a:ext uri="{FF2B5EF4-FFF2-40B4-BE49-F238E27FC236}">
                <a16:creationId xmlns:a16="http://schemas.microsoft.com/office/drawing/2014/main" id="{E65E85FE-783B-4EE2-B314-788FC9EE3A92}"/>
              </a:ext>
            </a:extLst>
          </p:cNvPr>
          <p:cNvSpPr>
            <a:spLocks noGrp="1"/>
          </p:cNvSpPr>
          <p:nvPr/>
        </p:nvSpPr>
        <p:spPr>
          <a:xfrm>
            <a:off x="6096000" y="2009775"/>
            <a:ext cx="762000" cy="190500"/>
          </a:xfrm>
          <a:prstGeom prst="rect">
            <a:avLst/>
          </a:prstGeom>
          <a:noFill/>
          <a:ln w="0">
            <a:noFill/>
          </a:ln>
        </p:spPr>
        <p:txBody>
          <a:bodyPr lIns="0" tIns="0" rIns="0" bIns="0" anchor="t">
            <a:normAutofit/>
          </a:bodyPr>
          <a:lstStyle/>
          <a:p>
            <a:pPr algn="l">
              <a:defRPr sz="825" b="1" i="0">
                <a:solidFill>
                  <a:srgbClr val="A33D2E"/>
                </a:solidFill>
                <a:latin typeface="Arial"/>
                <a:ea typeface="Arial"/>
                <a:cs typeface="Arial"/>
              </a:defRPr>
            </a:pPr>
            <a:r>
              <a:rPr sz="825" b="1" i="0">
                <a:solidFill>
                  <a:srgbClr val="A33D2E"/>
                </a:solidFill>
                <a:latin typeface="Arial"/>
                <a:ea typeface="Arial"/>
                <a:cs typeface="Arial"/>
              </a:rPr>
              <a:t>03</a:t>
            </a:r>
          </a:p>
        </p:txBody>
      </p:sp>
      <p:sp>
        <p:nvSpPr>
          <p:cNvPr id="17" name="Rectangle 16">
            <a:extLst>
              <a:ext uri="{FF2B5EF4-FFF2-40B4-BE49-F238E27FC236}">
                <a16:creationId xmlns:a16="http://schemas.microsoft.com/office/drawing/2014/main" id="{5EAAC8D2-7CE9-46FE-B7E0-9CD1EC940953}"/>
              </a:ext>
            </a:extLst>
          </p:cNvPr>
          <p:cNvSpPr>
            <a:spLocks noGrp="1"/>
          </p:cNvSpPr>
          <p:nvPr/>
        </p:nvSpPr>
        <p:spPr>
          <a:xfrm>
            <a:off x="6096000" y="2324100"/>
            <a:ext cx="2476500" cy="552450"/>
          </a:xfrm>
          <a:prstGeom prst="rect">
            <a:avLst/>
          </a:prstGeom>
          <a:noFill/>
          <a:ln w="0">
            <a:noFill/>
          </a:ln>
        </p:spPr>
        <p:txBody>
          <a:bodyPr lIns="0" tIns="0" rIns="0" bIns="0" anchor="t">
            <a:normAutofit/>
          </a:bodyPr>
          <a:lstStyle/>
          <a:p>
            <a:pPr algn="l">
              <a:defRPr sz="1650" b="1" i="0">
                <a:solidFill>
                  <a:srgbClr val="1A1A1A"/>
                </a:solidFill>
                <a:latin typeface="Arial"/>
                <a:ea typeface="Arial"/>
                <a:cs typeface="Arial"/>
              </a:defRPr>
            </a:pPr>
            <a:r>
              <a:rPr sz="1650" b="1" i="0">
                <a:solidFill>
                  <a:srgbClr val="1A1A1A"/>
                </a:solidFill>
                <a:latin typeface="Arial"/>
                <a:ea typeface="Arial"/>
                <a:cs typeface="Arial"/>
              </a:rPr>
              <a:t>Shrink uncertain scores</a:t>
            </a:r>
          </a:p>
        </p:txBody>
      </p:sp>
      <p:sp>
        <p:nvSpPr>
          <p:cNvPr id="18" name="Rectangle 17">
            <a:extLst>
              <a:ext uri="{FF2B5EF4-FFF2-40B4-BE49-F238E27FC236}">
                <a16:creationId xmlns:a16="http://schemas.microsoft.com/office/drawing/2014/main" id="{F035F99C-FA24-4AD5-875F-12F0E4B8A9EF}"/>
              </a:ext>
            </a:extLst>
          </p:cNvPr>
          <p:cNvSpPr>
            <a:spLocks noGrp="1"/>
          </p:cNvSpPr>
          <p:nvPr/>
        </p:nvSpPr>
        <p:spPr>
          <a:xfrm>
            <a:off x="6096000" y="3028950"/>
            <a:ext cx="2476500" cy="723900"/>
          </a:xfrm>
          <a:prstGeom prst="rect">
            <a:avLst/>
          </a:prstGeom>
          <a:noFill/>
          <a:ln w="0">
            <a:noFill/>
          </a:ln>
        </p:spPr>
        <p:txBody>
          <a:bodyPr lIns="0" tIns="0" rIns="0" bIns="0" anchor="t">
            <a:normAutofit/>
          </a:bodyPr>
          <a:lstStyle/>
          <a:p>
            <a:pPr algn="l">
              <a:defRPr sz="1200" b="0" i="0">
                <a:solidFill>
                  <a:srgbClr val="555555"/>
                </a:solidFill>
                <a:latin typeface="Arial"/>
                <a:ea typeface="Arial"/>
                <a:cs typeface="Arial"/>
              </a:defRPr>
            </a:pPr>
            <a:r>
              <a:rPr sz="1200" b="0" i="0">
                <a:solidFill>
                  <a:srgbClr val="555555"/>
                </a:solidFill>
                <a:latin typeface="Arial"/>
                <a:ea typeface="Arial"/>
                <a:cs typeface="Arial"/>
              </a:rPr>
              <a:t>Pull sparse histories toward the population average.</a:t>
            </a:r>
          </a:p>
        </p:txBody>
      </p:sp>
      <p:sp>
        <p:nvSpPr>
          <p:cNvPr id="19" name="Straight Connector 18">
            <a:extLst>
              <a:ext uri="{FF2B5EF4-FFF2-40B4-BE49-F238E27FC236}">
                <a16:creationId xmlns:a16="http://schemas.microsoft.com/office/drawing/2014/main" id="{DEB1F540-3066-4D8E-B226-3C7546326EE4}"/>
              </a:ext>
            </a:extLst>
          </p:cNvPr>
          <p:cNvSpPr>
            <a:spLocks noGrp="1"/>
          </p:cNvSpPr>
          <p:nvPr/>
        </p:nvSpPr>
        <p:spPr>
          <a:xfrm>
            <a:off x="8839200" y="1838325"/>
            <a:ext cx="2476500" cy="0"/>
          </a:xfrm>
          <a:prstGeom prst="line">
            <a:avLst/>
          </a:prstGeom>
          <a:noFill/>
          <a:ln w="23813">
            <a:solidFill>
              <a:srgbClr val="1A1A1A"/>
            </a:solidFill>
            <a:prstDash val="solid"/>
          </a:ln>
        </p:spPr>
        <p:txBody>
          <a:bodyPr/>
          <a:lstStyle/>
          <a:p>
            <a:endParaRPr lang="en-US"/>
          </a:p>
        </p:txBody>
      </p:sp>
      <p:sp>
        <p:nvSpPr>
          <p:cNvPr id="20" name="Rectangle 19">
            <a:extLst>
              <a:ext uri="{FF2B5EF4-FFF2-40B4-BE49-F238E27FC236}">
                <a16:creationId xmlns:a16="http://schemas.microsoft.com/office/drawing/2014/main" id="{DBFF546F-83E5-44FE-992C-3E697C8490B8}"/>
              </a:ext>
            </a:extLst>
          </p:cNvPr>
          <p:cNvSpPr>
            <a:spLocks noGrp="1"/>
          </p:cNvSpPr>
          <p:nvPr/>
        </p:nvSpPr>
        <p:spPr>
          <a:xfrm>
            <a:off x="8839200" y="2009775"/>
            <a:ext cx="762000" cy="190500"/>
          </a:xfrm>
          <a:prstGeom prst="rect">
            <a:avLst/>
          </a:prstGeom>
          <a:noFill/>
          <a:ln w="0">
            <a:noFill/>
          </a:ln>
        </p:spPr>
        <p:txBody>
          <a:bodyPr lIns="0" tIns="0" rIns="0" bIns="0" anchor="t">
            <a:normAutofit/>
          </a:bodyPr>
          <a:lstStyle/>
          <a:p>
            <a:pPr algn="l">
              <a:defRPr sz="825" b="1" i="0">
                <a:solidFill>
                  <a:srgbClr val="A33D2E"/>
                </a:solidFill>
                <a:latin typeface="Arial"/>
                <a:ea typeface="Arial"/>
                <a:cs typeface="Arial"/>
              </a:defRPr>
            </a:pPr>
            <a:r>
              <a:rPr sz="825" b="1" i="0">
                <a:solidFill>
                  <a:srgbClr val="A33D2E"/>
                </a:solidFill>
                <a:latin typeface="Arial"/>
                <a:ea typeface="Arial"/>
                <a:cs typeface="Arial"/>
              </a:rPr>
              <a:t>04</a:t>
            </a:r>
          </a:p>
        </p:txBody>
      </p:sp>
      <p:sp>
        <p:nvSpPr>
          <p:cNvPr id="21" name="Rectangle 20">
            <a:extLst>
              <a:ext uri="{FF2B5EF4-FFF2-40B4-BE49-F238E27FC236}">
                <a16:creationId xmlns:a16="http://schemas.microsoft.com/office/drawing/2014/main" id="{E6C18C04-A486-45BA-9381-2543D33B71A8}"/>
              </a:ext>
            </a:extLst>
          </p:cNvPr>
          <p:cNvSpPr>
            <a:spLocks noGrp="1"/>
          </p:cNvSpPr>
          <p:nvPr/>
        </p:nvSpPr>
        <p:spPr>
          <a:xfrm>
            <a:off x="8839200" y="2324100"/>
            <a:ext cx="2476500" cy="552450"/>
          </a:xfrm>
          <a:prstGeom prst="rect">
            <a:avLst/>
          </a:prstGeom>
          <a:noFill/>
          <a:ln w="0">
            <a:noFill/>
          </a:ln>
        </p:spPr>
        <p:txBody>
          <a:bodyPr lIns="0" tIns="0" rIns="0" bIns="0" anchor="t">
            <a:normAutofit/>
          </a:bodyPr>
          <a:lstStyle/>
          <a:p>
            <a:pPr algn="l">
              <a:defRPr sz="1650" b="1" i="0">
                <a:solidFill>
                  <a:srgbClr val="1A1A1A"/>
                </a:solidFill>
                <a:latin typeface="Arial"/>
                <a:ea typeface="Arial"/>
                <a:cs typeface="Arial"/>
              </a:defRPr>
            </a:pPr>
            <a:r>
              <a:rPr sz="1650" b="1" i="0">
                <a:solidFill>
                  <a:srgbClr val="1A1A1A"/>
                </a:solidFill>
                <a:latin typeface="Arial"/>
                <a:ea typeface="Arial"/>
                <a:cs typeface="Arial"/>
              </a:rPr>
              <a:t>Calibrate probability</a:t>
            </a:r>
          </a:p>
        </p:txBody>
      </p:sp>
      <p:sp>
        <p:nvSpPr>
          <p:cNvPr id="22" name="Rectangle 21">
            <a:extLst>
              <a:ext uri="{FF2B5EF4-FFF2-40B4-BE49-F238E27FC236}">
                <a16:creationId xmlns:a16="http://schemas.microsoft.com/office/drawing/2014/main" id="{1047FDA1-B2C5-4C8A-8885-06FDA8648117}"/>
              </a:ext>
            </a:extLst>
          </p:cNvPr>
          <p:cNvSpPr>
            <a:spLocks noGrp="1"/>
          </p:cNvSpPr>
          <p:nvPr/>
        </p:nvSpPr>
        <p:spPr>
          <a:xfrm>
            <a:off x="8839200" y="3028950"/>
            <a:ext cx="2476500" cy="723900"/>
          </a:xfrm>
          <a:prstGeom prst="rect">
            <a:avLst/>
          </a:prstGeom>
          <a:noFill/>
          <a:ln w="0">
            <a:noFill/>
          </a:ln>
        </p:spPr>
        <p:txBody>
          <a:bodyPr lIns="0" tIns="0" rIns="0" bIns="0" anchor="t">
            <a:normAutofit/>
          </a:bodyPr>
          <a:lstStyle/>
          <a:p>
            <a:pPr algn="l">
              <a:defRPr sz="1200" b="0" i="0">
                <a:solidFill>
                  <a:srgbClr val="555555"/>
                </a:solidFill>
                <a:latin typeface="Arial"/>
                <a:ea typeface="Arial"/>
                <a:cs typeface="Arial"/>
              </a:defRPr>
            </a:pPr>
            <a:r>
              <a:rPr sz="1200" b="0" i="0">
                <a:solidFill>
                  <a:srgbClr val="555555"/>
                </a:solidFill>
                <a:latin typeface="Arial"/>
                <a:ea typeface="Arial"/>
                <a:cs typeface="Arial"/>
              </a:rPr>
              <a:t>Add wallet flow and market-quality controls to a regularised logistic model.</a:t>
            </a:r>
          </a:p>
        </p:txBody>
      </p:sp>
      <p:sp>
        <p:nvSpPr>
          <p:cNvPr id="23" name="Rectangle 22">
            <a:extLst>
              <a:ext uri="{FF2B5EF4-FFF2-40B4-BE49-F238E27FC236}">
                <a16:creationId xmlns:a16="http://schemas.microsoft.com/office/drawing/2014/main" id="{085C4C65-ECEF-4C29-89C8-FCFA14006936}"/>
              </a:ext>
            </a:extLst>
          </p:cNvPr>
          <p:cNvSpPr>
            <a:spLocks noGrp="1"/>
          </p:cNvSpPr>
          <p:nvPr/>
        </p:nvSpPr>
        <p:spPr>
          <a:xfrm>
            <a:off x="609600" y="4171950"/>
            <a:ext cx="2914650" cy="1457325"/>
          </a:xfrm>
          <a:prstGeom prst="rect">
            <a:avLst/>
          </a:prstGeom>
          <a:solidFill>
            <a:srgbClr val="FFFFFF"/>
          </a:solidFill>
          <a:ln w="14288">
            <a:solidFill>
              <a:srgbClr val="1A1A1A"/>
            </a:solidFill>
            <a:prstDash val="solid"/>
          </a:ln>
        </p:spPr>
        <p:txBody>
          <a:bodyPr/>
          <a:lstStyle/>
          <a:p>
            <a:endParaRPr lang="en-US"/>
          </a:p>
        </p:txBody>
      </p:sp>
      <p:sp>
        <p:nvSpPr>
          <p:cNvPr id="24" name="Rectangle 23">
            <a:extLst>
              <a:ext uri="{FF2B5EF4-FFF2-40B4-BE49-F238E27FC236}">
                <a16:creationId xmlns:a16="http://schemas.microsoft.com/office/drawing/2014/main" id="{3993C012-48F5-491A-A41F-5C8508A367A5}"/>
              </a:ext>
            </a:extLst>
          </p:cNvPr>
          <p:cNvSpPr>
            <a:spLocks noGrp="1"/>
          </p:cNvSpPr>
          <p:nvPr/>
        </p:nvSpPr>
        <p:spPr>
          <a:xfrm>
            <a:off x="800100" y="4362450"/>
            <a:ext cx="1905000" cy="190500"/>
          </a:xfrm>
          <a:prstGeom prst="rect">
            <a:avLst/>
          </a:prstGeom>
          <a:noFill/>
          <a:ln w="0">
            <a:noFill/>
          </a:ln>
        </p:spPr>
        <p:txBody>
          <a:bodyPr lIns="0" tIns="0" rIns="0" bIns="0" anchor="t">
            <a:normAutofit/>
          </a:bodyPr>
          <a:lstStyle/>
          <a:p>
            <a:pPr algn="l">
              <a:defRPr sz="825" b="1" i="0">
                <a:solidFill>
                  <a:srgbClr val="A33D2E"/>
                </a:solidFill>
                <a:latin typeface="Arial"/>
                <a:ea typeface="Arial"/>
                <a:cs typeface="Arial"/>
              </a:defRPr>
            </a:pPr>
            <a:r>
              <a:rPr sz="825" b="1" i="0">
                <a:solidFill>
                  <a:srgbClr val="A33D2E"/>
                </a:solidFill>
                <a:latin typeface="Arial"/>
                <a:ea typeface="Arial"/>
                <a:cs typeface="Arial"/>
              </a:rPr>
              <a:t>MARKET ESTIMATE</a:t>
            </a:r>
          </a:p>
        </p:txBody>
      </p:sp>
      <p:sp>
        <p:nvSpPr>
          <p:cNvPr id="25" name="Rectangle 24">
            <a:extLst>
              <a:ext uri="{FF2B5EF4-FFF2-40B4-BE49-F238E27FC236}">
                <a16:creationId xmlns:a16="http://schemas.microsoft.com/office/drawing/2014/main" id="{DA6B1552-7278-4DCA-8CD1-D0CE1D652347}"/>
              </a:ext>
            </a:extLst>
          </p:cNvPr>
          <p:cNvSpPr>
            <a:spLocks noGrp="1"/>
          </p:cNvSpPr>
          <p:nvPr/>
        </p:nvSpPr>
        <p:spPr>
          <a:xfrm>
            <a:off x="800100" y="4629150"/>
            <a:ext cx="1809750" cy="457200"/>
          </a:xfrm>
          <a:prstGeom prst="rect">
            <a:avLst/>
          </a:prstGeom>
          <a:noFill/>
          <a:ln w="0">
            <a:noFill/>
          </a:ln>
        </p:spPr>
        <p:txBody>
          <a:bodyPr lIns="0" tIns="0" rIns="0" bIns="0" anchor="t">
            <a:normAutofit/>
          </a:bodyPr>
          <a:lstStyle/>
          <a:p>
            <a:pPr algn="l">
              <a:defRPr sz="2850" b="1" i="0">
                <a:solidFill>
                  <a:srgbClr val="A33D2E"/>
                </a:solidFill>
                <a:latin typeface="Arial"/>
                <a:ea typeface="Arial"/>
                <a:cs typeface="Arial"/>
              </a:defRPr>
            </a:pPr>
            <a:r>
              <a:rPr sz="2850" b="1" i="0">
                <a:solidFill>
                  <a:srgbClr val="A33D2E"/>
                </a:solidFill>
                <a:latin typeface="Arial"/>
                <a:ea typeface="Arial"/>
                <a:cs typeface="Arial"/>
              </a:rPr>
              <a:t>p raw</a:t>
            </a:r>
          </a:p>
        </p:txBody>
      </p:sp>
      <p:sp>
        <p:nvSpPr>
          <p:cNvPr id="26" name="Rectangle 25">
            <a:extLst>
              <a:ext uri="{FF2B5EF4-FFF2-40B4-BE49-F238E27FC236}">
                <a16:creationId xmlns:a16="http://schemas.microsoft.com/office/drawing/2014/main" id="{B46ADD09-FE31-4A72-8FE1-DD924ABEB3AD}"/>
              </a:ext>
            </a:extLst>
          </p:cNvPr>
          <p:cNvSpPr>
            <a:spLocks noGrp="1"/>
          </p:cNvSpPr>
          <p:nvPr/>
        </p:nvSpPr>
        <p:spPr>
          <a:xfrm>
            <a:off x="800100" y="5143500"/>
            <a:ext cx="2476500" cy="361950"/>
          </a:xfrm>
          <a:prstGeom prst="rect">
            <a:avLst/>
          </a:prstGeom>
          <a:noFill/>
          <a:ln w="0">
            <a:noFill/>
          </a:ln>
        </p:spPr>
        <p:txBody>
          <a:bodyPr lIns="0" tIns="0" rIns="0" bIns="0" anchor="t">
            <a:normAutofit/>
          </a:bodyPr>
          <a:lstStyle/>
          <a:p>
            <a:pPr algn="l">
              <a:defRPr sz="1125" b="0" i="0">
                <a:solidFill>
                  <a:srgbClr val="555555"/>
                </a:solidFill>
                <a:latin typeface="Arial"/>
                <a:ea typeface="Arial"/>
                <a:cs typeface="Arial"/>
              </a:defRPr>
            </a:pPr>
            <a:r>
              <a:rPr sz="1125" b="0" i="0">
                <a:solidFill>
                  <a:srgbClr val="555555"/>
                </a:solidFill>
                <a:latin typeface="Arial"/>
                <a:ea typeface="Arial"/>
                <a:cs typeface="Arial"/>
              </a:rPr>
              <a:t>YES bid/ask midpoint with spread, depth and timestamp.</a:t>
            </a:r>
          </a:p>
        </p:txBody>
      </p:sp>
      <p:sp>
        <p:nvSpPr>
          <p:cNvPr id="27" name="Rectangle 26">
            <a:extLst>
              <a:ext uri="{FF2B5EF4-FFF2-40B4-BE49-F238E27FC236}">
                <a16:creationId xmlns:a16="http://schemas.microsoft.com/office/drawing/2014/main" id="{E624D440-37C7-4DD6-BA06-380D5D443034}"/>
              </a:ext>
            </a:extLst>
          </p:cNvPr>
          <p:cNvSpPr>
            <a:spLocks noGrp="1"/>
          </p:cNvSpPr>
          <p:nvPr/>
        </p:nvSpPr>
        <p:spPr>
          <a:xfrm>
            <a:off x="3695700" y="4171950"/>
            <a:ext cx="2914650" cy="1457325"/>
          </a:xfrm>
          <a:prstGeom prst="rect">
            <a:avLst/>
          </a:prstGeom>
          <a:solidFill>
            <a:srgbClr val="F3E6E1"/>
          </a:solidFill>
          <a:ln w="14288">
            <a:solidFill>
              <a:srgbClr val="A33D2E"/>
            </a:solidFill>
            <a:prstDash val="solid"/>
          </a:ln>
        </p:spPr>
        <p:txBody>
          <a:bodyPr/>
          <a:lstStyle/>
          <a:p>
            <a:endParaRPr lang="en-US"/>
          </a:p>
        </p:txBody>
      </p:sp>
      <p:sp>
        <p:nvSpPr>
          <p:cNvPr id="28" name="Rectangle 27">
            <a:extLst>
              <a:ext uri="{FF2B5EF4-FFF2-40B4-BE49-F238E27FC236}">
                <a16:creationId xmlns:a16="http://schemas.microsoft.com/office/drawing/2014/main" id="{4E1320F4-C417-402E-980F-B8F092735214}"/>
              </a:ext>
            </a:extLst>
          </p:cNvPr>
          <p:cNvSpPr>
            <a:spLocks noGrp="1"/>
          </p:cNvSpPr>
          <p:nvPr/>
        </p:nvSpPr>
        <p:spPr>
          <a:xfrm>
            <a:off x="3886200" y="4362450"/>
            <a:ext cx="2190750" cy="190500"/>
          </a:xfrm>
          <a:prstGeom prst="rect">
            <a:avLst/>
          </a:prstGeom>
          <a:noFill/>
          <a:ln w="0">
            <a:noFill/>
          </a:ln>
        </p:spPr>
        <p:txBody>
          <a:bodyPr lIns="0" tIns="0" rIns="0" bIns="0" anchor="t">
            <a:normAutofit/>
          </a:bodyPr>
          <a:lstStyle/>
          <a:p>
            <a:pPr algn="l">
              <a:defRPr sz="825" b="1" i="0">
                <a:solidFill>
                  <a:srgbClr val="A33D2E"/>
                </a:solidFill>
                <a:latin typeface="Arial"/>
                <a:ea typeface="Arial"/>
                <a:cs typeface="Arial"/>
              </a:defRPr>
            </a:pPr>
            <a:r>
              <a:rPr sz="825" b="1" i="0">
                <a:solidFill>
                  <a:srgbClr val="A33D2E"/>
                </a:solidFill>
                <a:latin typeface="Arial"/>
                <a:ea typeface="Arial"/>
                <a:cs typeface="Arial"/>
              </a:rPr>
              <a:t>EXPERIMENTAL ESTIMATE</a:t>
            </a:r>
          </a:p>
        </p:txBody>
      </p:sp>
      <p:sp>
        <p:nvSpPr>
          <p:cNvPr id="29" name="Rectangle 28">
            <a:extLst>
              <a:ext uri="{FF2B5EF4-FFF2-40B4-BE49-F238E27FC236}">
                <a16:creationId xmlns:a16="http://schemas.microsoft.com/office/drawing/2014/main" id="{C26011D2-C4FE-478E-8517-6C99D0209F67}"/>
              </a:ext>
            </a:extLst>
          </p:cNvPr>
          <p:cNvSpPr>
            <a:spLocks noGrp="1"/>
          </p:cNvSpPr>
          <p:nvPr/>
        </p:nvSpPr>
        <p:spPr>
          <a:xfrm>
            <a:off x="3886200" y="4629150"/>
            <a:ext cx="2286000" cy="457200"/>
          </a:xfrm>
          <a:prstGeom prst="rect">
            <a:avLst/>
          </a:prstGeom>
          <a:noFill/>
          <a:ln w="0">
            <a:noFill/>
          </a:ln>
        </p:spPr>
        <p:txBody>
          <a:bodyPr lIns="0" tIns="0" rIns="0" bIns="0" anchor="t">
            <a:normAutofit/>
          </a:bodyPr>
          <a:lstStyle/>
          <a:p>
            <a:pPr algn="l">
              <a:defRPr sz="2850" b="1" i="0">
                <a:solidFill>
                  <a:srgbClr val="A33D2E"/>
                </a:solidFill>
                <a:latin typeface="Arial"/>
                <a:ea typeface="Arial"/>
                <a:cs typeface="Arial"/>
              </a:defRPr>
            </a:pPr>
            <a:r>
              <a:rPr sz="2850" b="1" i="0">
                <a:solidFill>
                  <a:srgbClr val="A33D2E"/>
                </a:solidFill>
                <a:latin typeface="Arial"/>
                <a:ea typeface="Arial"/>
                <a:cs typeface="Arial"/>
              </a:rPr>
              <a:t>p adjusted</a:t>
            </a:r>
          </a:p>
        </p:txBody>
      </p:sp>
      <p:sp>
        <p:nvSpPr>
          <p:cNvPr id="30" name="Rectangle 29">
            <a:extLst>
              <a:ext uri="{FF2B5EF4-FFF2-40B4-BE49-F238E27FC236}">
                <a16:creationId xmlns:a16="http://schemas.microsoft.com/office/drawing/2014/main" id="{B32467FF-8179-497C-BEA6-EEBEE5A4885E}"/>
              </a:ext>
            </a:extLst>
          </p:cNvPr>
          <p:cNvSpPr>
            <a:spLocks noGrp="1"/>
          </p:cNvSpPr>
          <p:nvPr/>
        </p:nvSpPr>
        <p:spPr>
          <a:xfrm>
            <a:off x="3886200" y="5143500"/>
            <a:ext cx="2476500" cy="361950"/>
          </a:xfrm>
          <a:prstGeom prst="rect">
            <a:avLst/>
          </a:prstGeom>
          <a:noFill/>
          <a:ln w="0">
            <a:noFill/>
          </a:ln>
        </p:spPr>
        <p:txBody>
          <a:bodyPr lIns="0" tIns="0" rIns="0" bIns="0" anchor="t">
            <a:normAutofit/>
          </a:bodyPr>
          <a:lstStyle/>
          <a:p>
            <a:pPr algn="l">
              <a:defRPr sz="1125" b="0" i="0">
                <a:solidFill>
                  <a:srgbClr val="555555"/>
                </a:solidFill>
                <a:latin typeface="Arial"/>
                <a:ea typeface="Arial"/>
                <a:cs typeface="Arial"/>
              </a:defRPr>
            </a:pPr>
            <a:r>
              <a:rPr sz="1125" b="0" i="0">
                <a:solidFill>
                  <a:srgbClr val="555555"/>
                </a:solidFill>
                <a:latin typeface="Arial"/>
                <a:ea typeface="Arial"/>
                <a:cs typeface="Arial"/>
              </a:rPr>
              <a:t>Calibrated model with eligible-wallet flow.</a:t>
            </a:r>
          </a:p>
        </p:txBody>
      </p:sp>
      <p:sp>
        <p:nvSpPr>
          <p:cNvPr id="31" name="Rectangle 30">
            <a:extLst>
              <a:ext uri="{FF2B5EF4-FFF2-40B4-BE49-F238E27FC236}">
                <a16:creationId xmlns:a16="http://schemas.microsoft.com/office/drawing/2014/main" id="{DA0A765F-82DF-4C67-A317-811BBAA962AC}"/>
              </a:ext>
            </a:extLst>
          </p:cNvPr>
          <p:cNvSpPr>
            <a:spLocks noGrp="1"/>
          </p:cNvSpPr>
          <p:nvPr/>
        </p:nvSpPr>
        <p:spPr>
          <a:xfrm>
            <a:off x="6781800" y="4171950"/>
            <a:ext cx="4800600" cy="1457325"/>
          </a:xfrm>
          <a:prstGeom prst="rect">
            <a:avLst/>
          </a:prstGeom>
          <a:solidFill>
            <a:srgbClr val="F3EEE5"/>
          </a:solidFill>
          <a:ln w="14288">
            <a:solidFill>
              <a:srgbClr val="1A1A1A"/>
            </a:solidFill>
            <a:prstDash val="dash"/>
          </a:ln>
        </p:spPr>
        <p:txBody>
          <a:bodyPr/>
          <a:lstStyle/>
          <a:p>
            <a:endParaRPr lang="en-US"/>
          </a:p>
        </p:txBody>
      </p:sp>
      <p:sp>
        <p:nvSpPr>
          <p:cNvPr id="32" name="Rectangle 31">
            <a:extLst>
              <a:ext uri="{FF2B5EF4-FFF2-40B4-BE49-F238E27FC236}">
                <a16:creationId xmlns:a16="http://schemas.microsoft.com/office/drawing/2014/main" id="{36AEA49F-42A6-493E-AD6E-1C58BC46950F}"/>
              </a:ext>
            </a:extLst>
          </p:cNvPr>
          <p:cNvSpPr>
            <a:spLocks noGrp="1"/>
          </p:cNvSpPr>
          <p:nvPr/>
        </p:nvSpPr>
        <p:spPr>
          <a:xfrm>
            <a:off x="6991350" y="4362450"/>
            <a:ext cx="2190750" cy="190500"/>
          </a:xfrm>
          <a:prstGeom prst="rect">
            <a:avLst/>
          </a:prstGeom>
          <a:noFill/>
          <a:ln w="0">
            <a:noFill/>
          </a:ln>
        </p:spPr>
        <p:txBody>
          <a:bodyPr lIns="0" tIns="0" rIns="0" bIns="0" anchor="t">
            <a:normAutofit/>
          </a:bodyPr>
          <a:lstStyle/>
          <a:p>
            <a:pPr>
              <a:defRPr sz="825" b="1" i="0">
                <a:solidFill>
                  <a:srgbClr val="A33D2E"/>
                </a:solidFill>
                <a:latin typeface="Arial"/>
                <a:ea typeface="Arial"/>
                <a:cs typeface="Arial"/>
              </a:defRPr>
            </a:pPr>
            <a:r>
              <a:rPr lang="en-US" sz="825" b="1">
                <a:solidFill>
                  <a:srgbClr val="A33D2E"/>
                </a:solidFill>
                <a:latin typeface="Arial"/>
                <a:ea typeface="Arial"/>
                <a:cs typeface="Arial"/>
              </a:rPr>
              <a:t>PAST DATA ONLY</a:t>
            </a:r>
            <a:endParaRPr sz="825" b="1" i="0">
              <a:solidFill>
                <a:srgbClr val="A33D2E"/>
              </a:solidFill>
              <a:latin typeface="Arial"/>
              <a:ea typeface="Arial"/>
              <a:cs typeface="Arial"/>
            </a:endParaRPr>
          </a:p>
        </p:txBody>
      </p:sp>
      <p:sp>
        <p:nvSpPr>
          <p:cNvPr id="33" name="Rectangle 32">
            <a:extLst>
              <a:ext uri="{FF2B5EF4-FFF2-40B4-BE49-F238E27FC236}">
                <a16:creationId xmlns:a16="http://schemas.microsoft.com/office/drawing/2014/main" id="{EB7934A4-5B88-410F-919F-97D71A6095B1}"/>
              </a:ext>
            </a:extLst>
          </p:cNvPr>
          <p:cNvSpPr>
            <a:spLocks noGrp="1"/>
          </p:cNvSpPr>
          <p:nvPr/>
        </p:nvSpPr>
        <p:spPr>
          <a:xfrm>
            <a:off x="6991350" y="4648200"/>
            <a:ext cx="4305300" cy="409575"/>
          </a:xfrm>
          <a:prstGeom prst="rect">
            <a:avLst/>
          </a:prstGeom>
          <a:noFill/>
          <a:ln w="0">
            <a:noFill/>
          </a:ln>
        </p:spPr>
        <p:txBody>
          <a:bodyPr lIns="0" tIns="0" rIns="0" bIns="0" anchor="t">
            <a:normAutofit/>
          </a:bodyPr>
          <a:lstStyle/>
          <a:p>
            <a:pPr>
              <a:defRPr sz="2100" b="1" i="0">
                <a:solidFill>
                  <a:srgbClr val="A33D2E"/>
                </a:solidFill>
                <a:latin typeface="Arial"/>
                <a:ea typeface="Arial"/>
                <a:cs typeface="Arial"/>
              </a:defRPr>
            </a:pPr>
            <a:r>
              <a:rPr lang="en-US" sz="2100" b="1">
                <a:solidFill>
                  <a:srgbClr val="A33D2E"/>
                </a:solidFill>
                <a:latin typeface="Arial"/>
                <a:ea typeface="Arial"/>
                <a:cs typeface="Arial"/>
              </a:rPr>
              <a:t>Provisional eligibility</a:t>
            </a:r>
            <a:endParaRPr sz="2100" b="1" i="0">
              <a:solidFill>
                <a:srgbClr val="A33D2E"/>
              </a:solidFill>
              <a:latin typeface="Arial"/>
              <a:ea typeface="Arial"/>
              <a:cs typeface="Arial"/>
            </a:endParaRPr>
          </a:p>
        </p:txBody>
      </p:sp>
      <p:sp>
        <p:nvSpPr>
          <p:cNvPr id="34" name="Rectangle 33">
            <a:extLst>
              <a:ext uri="{FF2B5EF4-FFF2-40B4-BE49-F238E27FC236}">
                <a16:creationId xmlns:a16="http://schemas.microsoft.com/office/drawing/2014/main" id="{54603732-C765-4E09-BD40-F6824AECEB10}"/>
              </a:ext>
            </a:extLst>
          </p:cNvPr>
          <p:cNvSpPr>
            <a:spLocks noGrp="1"/>
          </p:cNvSpPr>
          <p:nvPr/>
        </p:nvSpPr>
        <p:spPr>
          <a:xfrm>
            <a:off x="6991350" y="5153025"/>
            <a:ext cx="4305300" cy="361950"/>
          </a:xfrm>
          <a:prstGeom prst="rect">
            <a:avLst/>
          </a:prstGeom>
          <a:noFill/>
          <a:ln w="0">
            <a:noFill/>
          </a:ln>
        </p:spPr>
        <p:txBody>
          <a:bodyPr lIns="0" tIns="0" rIns="0" bIns="0" anchor="t">
            <a:normAutofit/>
          </a:bodyPr>
          <a:lstStyle/>
          <a:p>
            <a:pPr>
              <a:defRPr sz="1125" b="0" i="0">
                <a:solidFill>
                  <a:srgbClr val="555555"/>
                </a:solidFill>
                <a:latin typeface="Arial"/>
                <a:ea typeface="Arial"/>
                <a:cs typeface="Arial"/>
              </a:defRPr>
            </a:pPr>
            <a:r>
              <a:rPr lang="en-US" sz="1125">
                <a:solidFill>
                  <a:srgbClr val="555555"/>
                </a:solidFill>
                <a:latin typeface="Arial"/>
                <a:ea typeface="Arial"/>
                <a:cs typeface="Arial"/>
              </a:rPr>
              <a:t>At least 10 earlier resolved events across 3 announcement dates.</a:t>
            </a:r>
            <a:endParaRPr sz="1125" b="0" i="0">
              <a:solidFill>
                <a:srgbClr val="555555"/>
              </a:solidFill>
              <a:latin typeface="Arial"/>
              <a:ea typeface="Arial"/>
              <a:cs typeface="Arial"/>
            </a:endParaRPr>
          </a:p>
        </p:txBody>
      </p:sp>
    </p:spTree>
    <p:extLst>
      <p:ext uri="{BB962C8B-B14F-4D97-AF65-F5344CB8AC3E}">
        <p14:creationId xmlns:p14="http://schemas.microsoft.com/office/powerpoint/2010/main" val="6147605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3EEE5"/>
        </a:solidFill>
        <a:effectLst/>
      </p:bgPr>
    </p:bg>
    <p:spTree>
      <p:nvGrpSpPr>
        <p:cNvPr id="1" name=""/>
        <p:cNvGrpSpPr/>
        <p:nvPr/>
      </p:nvGrpSpPr>
      <p:grpSpPr>
        <a:xfrm>
          <a:off x="0" y="0"/>
          <a:ext cx="0" cy="0"/>
          <a:chOff x="0" y="0"/>
          <a:chExt cx="0" cy="0"/>
        </a:xfrm>
      </p:grpSpPr>
      <p:sp>
        <p:nvSpPr>
          <p:cNvPr id="32" name="Rectangle 31">
            <a:extLst>
              <a:ext uri="{FF2B5EF4-FFF2-40B4-BE49-F238E27FC236}">
                <a16:creationId xmlns:a16="http://schemas.microsoft.com/office/drawing/2014/main" id="{14F7E9CC-1F80-4B55-8BE8-BA36BF74938A}"/>
              </a:ext>
            </a:extLst>
          </p:cNvPr>
          <p:cNvSpPr>
            <a:spLocks noGrp="1"/>
          </p:cNvSpPr>
          <p:nvPr/>
        </p:nvSpPr>
        <p:spPr>
          <a:xfrm>
            <a:off x="609600" y="400050"/>
            <a:ext cx="7239000" cy="228600"/>
          </a:xfrm>
          <a:prstGeom prst="rect">
            <a:avLst/>
          </a:prstGeom>
          <a:noFill/>
          <a:ln w="0">
            <a:noFill/>
          </a:ln>
        </p:spPr>
        <p:txBody>
          <a:bodyPr lIns="0" tIns="0" rIns="0" bIns="0" anchor="t">
            <a:normAutofit/>
          </a:bodyPr>
          <a:lstStyle/>
          <a:p>
            <a:pPr algn="l">
              <a:defRPr sz="975" b="1" i="0">
                <a:solidFill>
                  <a:srgbClr val="A33D2E"/>
                </a:solidFill>
                <a:latin typeface="Arial"/>
                <a:ea typeface="Arial"/>
                <a:cs typeface="Arial"/>
              </a:defRPr>
            </a:pPr>
            <a:r>
              <a:rPr sz="975" b="1" i="0">
                <a:solidFill>
                  <a:srgbClr val="A33D2E"/>
                </a:solidFill>
                <a:latin typeface="Arial"/>
                <a:ea typeface="Arial"/>
                <a:cs typeface="Arial"/>
              </a:rPr>
              <a:t>FORECASTING AND SCENARIOS</a:t>
            </a:r>
          </a:p>
        </p:txBody>
      </p:sp>
      <p:sp>
        <p:nvSpPr>
          <p:cNvPr id="2" name="Rectangle 1">
            <a:extLst>
              <a:ext uri="{FF2B5EF4-FFF2-40B4-BE49-F238E27FC236}">
                <a16:creationId xmlns:a16="http://schemas.microsoft.com/office/drawing/2014/main" id="{4AA3796D-E650-4D26-816E-62D000C81E7B}"/>
              </a:ext>
            </a:extLst>
          </p:cNvPr>
          <p:cNvSpPr>
            <a:spLocks noGrp="1"/>
          </p:cNvSpPr>
          <p:nvPr/>
        </p:nvSpPr>
        <p:spPr>
          <a:xfrm>
            <a:off x="609600" y="666750"/>
            <a:ext cx="10668000" cy="666750"/>
          </a:xfrm>
          <a:prstGeom prst="rect">
            <a:avLst/>
          </a:prstGeom>
          <a:noFill/>
          <a:ln w="0">
            <a:noFill/>
          </a:ln>
        </p:spPr>
        <p:txBody>
          <a:bodyPr lIns="0" tIns="0" rIns="0" bIns="0" anchor="t">
            <a:normAutofit/>
          </a:bodyPr>
          <a:lstStyle/>
          <a:p>
            <a:pPr>
              <a:defRPr sz="3525" b="1" i="0">
                <a:solidFill>
                  <a:srgbClr val="1A1A1A"/>
                </a:solidFill>
                <a:latin typeface="Arial"/>
                <a:ea typeface="Arial"/>
                <a:cs typeface="Arial"/>
              </a:defRPr>
            </a:pPr>
            <a:r>
              <a:rPr lang="en-US" sz="3525" b="1">
                <a:solidFill>
                  <a:srgbClr val="1A1A1A"/>
                </a:solidFill>
                <a:latin typeface="Arial"/>
                <a:ea typeface="Arial"/>
                <a:cs typeface="Arial"/>
              </a:rPr>
              <a:t>Volatility forecasting and portfolio scenarios</a:t>
            </a:r>
            <a:endParaRPr sz="3525" b="1" i="0">
              <a:solidFill>
                <a:srgbClr val="1A1A1A"/>
              </a:solidFill>
              <a:latin typeface="Arial"/>
              <a:ea typeface="Arial"/>
              <a:cs typeface="Arial"/>
            </a:endParaRPr>
          </a:p>
        </p:txBody>
      </p:sp>
      <p:sp>
        <p:nvSpPr>
          <p:cNvPr id="3" name="Straight Connector 2">
            <a:extLst>
              <a:ext uri="{FF2B5EF4-FFF2-40B4-BE49-F238E27FC236}">
                <a16:creationId xmlns:a16="http://schemas.microsoft.com/office/drawing/2014/main" id="{22A5EBC7-1720-4747-AF5F-B3DC24085C82}"/>
              </a:ext>
            </a:extLst>
          </p:cNvPr>
          <p:cNvSpPr>
            <a:spLocks noGrp="1"/>
          </p:cNvSpPr>
          <p:nvPr/>
        </p:nvSpPr>
        <p:spPr>
          <a:xfrm>
            <a:off x="609600" y="1428750"/>
            <a:ext cx="10972800" cy="0"/>
          </a:xfrm>
          <a:prstGeom prst="line">
            <a:avLst/>
          </a:prstGeom>
          <a:noFill/>
          <a:ln w="9525">
            <a:solidFill>
              <a:srgbClr val="CEC8BE"/>
            </a:solidFill>
            <a:prstDash val="solid"/>
          </a:ln>
        </p:spPr>
        <p:txBody>
          <a:bodyPr/>
          <a:lstStyle/>
          <a:p>
            <a:endParaRPr lang="en-US"/>
          </a:p>
        </p:txBody>
      </p:sp>
      <p:sp>
        <p:nvSpPr>
          <p:cNvPr id="4" name="Straight Connector 3">
            <a:extLst>
              <a:ext uri="{FF2B5EF4-FFF2-40B4-BE49-F238E27FC236}">
                <a16:creationId xmlns:a16="http://schemas.microsoft.com/office/drawing/2014/main" id="{4C17D6A5-09EE-4B2E-8E46-63F3A92E046E}"/>
              </a:ext>
            </a:extLst>
          </p:cNvPr>
          <p:cNvSpPr>
            <a:spLocks noGrp="1"/>
          </p:cNvSpPr>
          <p:nvPr/>
        </p:nvSpPr>
        <p:spPr>
          <a:xfrm>
            <a:off x="609600" y="6438900"/>
            <a:ext cx="10972800" cy="0"/>
          </a:xfrm>
          <a:prstGeom prst="line">
            <a:avLst/>
          </a:prstGeom>
          <a:noFill/>
          <a:ln w="9525">
            <a:solidFill>
              <a:srgbClr val="CEC8BE"/>
            </a:solidFill>
            <a:prstDash val="solid"/>
          </a:ln>
        </p:spPr>
        <p:txBody>
          <a:bodyPr/>
          <a:lstStyle/>
          <a:p>
            <a:endParaRPr lang="en-US"/>
          </a:p>
        </p:txBody>
      </p:sp>
      <p:sp>
        <p:nvSpPr>
          <p:cNvPr id="5" name="Rectangle 4">
            <a:extLst>
              <a:ext uri="{FF2B5EF4-FFF2-40B4-BE49-F238E27FC236}">
                <a16:creationId xmlns:a16="http://schemas.microsoft.com/office/drawing/2014/main" id="{8E6BFEF1-713B-4417-97AE-9C9180937126}"/>
              </a:ext>
            </a:extLst>
          </p:cNvPr>
          <p:cNvSpPr>
            <a:spLocks noGrp="1"/>
          </p:cNvSpPr>
          <p:nvPr/>
        </p:nvSpPr>
        <p:spPr>
          <a:xfrm>
            <a:off x="609600" y="6543675"/>
            <a:ext cx="6667500" cy="152400"/>
          </a:xfrm>
          <a:prstGeom prst="rect">
            <a:avLst/>
          </a:prstGeom>
          <a:noFill/>
          <a:ln w="0">
            <a:noFill/>
          </a:ln>
        </p:spPr>
        <p:txBody>
          <a:bodyPr lIns="0" tIns="0" rIns="0" bIns="0" anchor="t">
            <a:normAutofit/>
          </a:bodyPr>
          <a:lstStyle/>
          <a:p>
            <a:pPr algn="l">
              <a:defRPr sz="750" b="1" i="0">
                <a:solidFill>
                  <a:srgbClr val="8E887F"/>
                </a:solidFill>
                <a:latin typeface="Arial"/>
                <a:ea typeface="Arial"/>
                <a:cs typeface="Arial"/>
              </a:defRPr>
            </a:pPr>
            <a:r>
              <a:rPr sz="750" b="1" i="0">
                <a:solidFill>
                  <a:srgbClr val="8E887F"/>
                </a:solidFill>
                <a:latin typeface="Arial"/>
                <a:ea typeface="Arial"/>
                <a:cs typeface="Arial"/>
              </a:rPr>
              <a:t>EVENTLENS   FINAL YEAR PROJECT PROPOSAL</a:t>
            </a:r>
          </a:p>
        </p:txBody>
      </p:sp>
      <p:sp>
        <p:nvSpPr>
          <p:cNvPr id="6" name="Rectangle 5">
            <a:extLst>
              <a:ext uri="{FF2B5EF4-FFF2-40B4-BE49-F238E27FC236}">
                <a16:creationId xmlns:a16="http://schemas.microsoft.com/office/drawing/2014/main" id="{4A79B720-9991-4E19-A9C7-31006F06AD20}"/>
              </a:ext>
            </a:extLst>
          </p:cNvPr>
          <p:cNvSpPr>
            <a:spLocks noGrp="1"/>
          </p:cNvSpPr>
          <p:nvPr/>
        </p:nvSpPr>
        <p:spPr>
          <a:xfrm>
            <a:off x="10287000" y="6543675"/>
            <a:ext cx="1295400" cy="152400"/>
          </a:xfrm>
          <a:prstGeom prst="rect">
            <a:avLst/>
          </a:prstGeom>
          <a:noFill/>
          <a:ln w="0">
            <a:noFill/>
          </a:ln>
        </p:spPr>
        <p:txBody>
          <a:bodyPr lIns="0" tIns="0" rIns="0" bIns="0" anchor="t">
            <a:normAutofit/>
          </a:bodyPr>
          <a:lstStyle/>
          <a:p>
            <a:pPr algn="r">
              <a:defRPr sz="750" b="1" i="0">
                <a:solidFill>
                  <a:srgbClr val="8E887F"/>
                </a:solidFill>
                <a:latin typeface="Arial"/>
                <a:ea typeface="Arial"/>
                <a:cs typeface="Arial"/>
              </a:defRPr>
            </a:pPr>
            <a:r>
              <a:rPr sz="750" b="1" i="0">
                <a:solidFill>
                  <a:srgbClr val="8E887F"/>
                </a:solidFill>
                <a:latin typeface="Arial"/>
                <a:ea typeface="Arial"/>
                <a:cs typeface="Arial"/>
              </a:rPr>
              <a:t>06 / 08</a:t>
            </a:r>
          </a:p>
        </p:txBody>
      </p:sp>
      <p:sp>
        <p:nvSpPr>
          <p:cNvPr id="8" name="Rectangle 7">
            <a:extLst>
              <a:ext uri="{FF2B5EF4-FFF2-40B4-BE49-F238E27FC236}">
                <a16:creationId xmlns:a16="http://schemas.microsoft.com/office/drawing/2014/main" id="{EB20A394-07C7-44BD-BCA9-F62115C222E9}"/>
              </a:ext>
            </a:extLst>
          </p:cNvPr>
          <p:cNvSpPr>
            <a:spLocks noGrp="1"/>
          </p:cNvSpPr>
          <p:nvPr/>
        </p:nvSpPr>
        <p:spPr>
          <a:xfrm>
            <a:off x="609600" y="2409825"/>
            <a:ext cx="5334000" cy="247650"/>
          </a:xfrm>
          <a:prstGeom prst="rect">
            <a:avLst/>
          </a:prstGeom>
          <a:noFill/>
          <a:ln w="0">
            <a:noFill/>
          </a:ln>
        </p:spPr>
        <p:txBody>
          <a:bodyPr lIns="0" tIns="0" rIns="0" bIns="0" anchor="t">
            <a:normAutofit/>
          </a:bodyPr>
          <a:lstStyle/>
          <a:p>
            <a:pPr>
              <a:defRPr sz="1200" b="1" i="0">
                <a:solidFill>
                  <a:srgbClr val="555555"/>
                </a:solidFill>
                <a:latin typeface="Arial"/>
                <a:ea typeface="Arial"/>
                <a:cs typeface="Arial"/>
              </a:defRPr>
            </a:pPr>
            <a:r>
              <a:rPr lang="en-US" sz="1200" b="1">
                <a:solidFill>
                  <a:srgbClr val="555555"/>
                </a:solidFill>
                <a:latin typeface="Arial"/>
                <a:ea typeface="Arial"/>
                <a:cs typeface="Arial"/>
              </a:rPr>
              <a:t>Forecast target: </a:t>
            </a:r>
            <a:r>
              <a:rPr lang="en-US" sz="1200" b="1" dirty="0" err="1">
                <a:solidFill>
                  <a:srgbClr val="555555"/>
                </a:solidFill>
                <a:latin typeface="Arial"/>
                <a:ea typeface="Arial"/>
                <a:cs typeface="Arial"/>
              </a:rPr>
              <a:t>realised</a:t>
            </a:r>
            <a:r>
              <a:rPr lang="en-US" sz="1200" b="1" dirty="0">
                <a:solidFill>
                  <a:srgbClr val="555555"/>
                </a:solidFill>
                <a:latin typeface="Arial"/>
                <a:ea typeface="Arial"/>
                <a:cs typeface="Arial"/>
              </a:rPr>
              <a:t> variance • H = 1, 5 or 20 trading days</a:t>
            </a:r>
            <a:endParaRPr sz="1200" b="1" i="0" dirty="0">
              <a:solidFill>
                <a:srgbClr val="555555"/>
              </a:solidFill>
              <a:latin typeface="Arial"/>
              <a:ea typeface="Arial"/>
              <a:cs typeface="Arial"/>
            </a:endParaRPr>
          </a:p>
        </p:txBody>
      </p:sp>
      <p:sp>
        <p:nvSpPr>
          <p:cNvPr id="9" name="Straight Connector 8">
            <a:extLst>
              <a:ext uri="{FF2B5EF4-FFF2-40B4-BE49-F238E27FC236}">
                <a16:creationId xmlns:a16="http://schemas.microsoft.com/office/drawing/2014/main" id="{498C8BFE-E812-46F6-BA9C-87C7FDA033B2}"/>
              </a:ext>
            </a:extLst>
          </p:cNvPr>
          <p:cNvSpPr>
            <a:spLocks noGrp="1"/>
          </p:cNvSpPr>
          <p:nvPr/>
        </p:nvSpPr>
        <p:spPr>
          <a:xfrm>
            <a:off x="609600" y="2819400"/>
            <a:ext cx="6667500" cy="0"/>
          </a:xfrm>
          <a:prstGeom prst="line">
            <a:avLst/>
          </a:prstGeom>
          <a:noFill/>
          <a:ln w="19050">
            <a:solidFill>
              <a:srgbClr val="1A1A1A"/>
            </a:solidFill>
            <a:prstDash val="solid"/>
          </a:ln>
        </p:spPr>
        <p:txBody>
          <a:bodyPr/>
          <a:lstStyle/>
          <a:p>
            <a:endParaRPr lang="en-US"/>
          </a:p>
        </p:txBody>
      </p:sp>
      <p:sp>
        <p:nvSpPr>
          <p:cNvPr id="10" name="Rectangle 9">
            <a:extLst>
              <a:ext uri="{FF2B5EF4-FFF2-40B4-BE49-F238E27FC236}">
                <a16:creationId xmlns:a16="http://schemas.microsoft.com/office/drawing/2014/main" id="{A2653518-C670-453B-9E64-2D20F09BC907}"/>
              </a:ext>
            </a:extLst>
          </p:cNvPr>
          <p:cNvSpPr>
            <a:spLocks noGrp="1"/>
          </p:cNvSpPr>
          <p:nvPr/>
        </p:nvSpPr>
        <p:spPr>
          <a:xfrm>
            <a:off x="609600" y="3067050"/>
            <a:ext cx="1428750" cy="190500"/>
          </a:xfrm>
          <a:prstGeom prst="rect">
            <a:avLst/>
          </a:prstGeom>
          <a:noFill/>
          <a:ln w="0">
            <a:noFill/>
          </a:ln>
        </p:spPr>
        <p:txBody>
          <a:bodyPr lIns="0" tIns="0" rIns="0" bIns="0" anchor="t">
            <a:normAutofit/>
          </a:bodyPr>
          <a:lstStyle/>
          <a:p>
            <a:pPr algn="l">
              <a:defRPr sz="825" b="1" i="0">
                <a:solidFill>
                  <a:srgbClr val="A33D2E"/>
                </a:solidFill>
                <a:latin typeface="Arial"/>
                <a:ea typeface="Arial"/>
                <a:cs typeface="Arial"/>
              </a:defRPr>
            </a:pPr>
            <a:r>
              <a:rPr sz="825" b="1" i="0">
                <a:solidFill>
                  <a:srgbClr val="A33D2E"/>
                </a:solidFill>
                <a:latin typeface="Arial"/>
                <a:ea typeface="Arial"/>
                <a:cs typeface="Arial"/>
              </a:rPr>
              <a:t>BASELINE</a:t>
            </a:r>
          </a:p>
        </p:txBody>
      </p:sp>
      <p:sp>
        <p:nvSpPr>
          <p:cNvPr id="11" name="Rectangle 10">
            <a:extLst>
              <a:ext uri="{FF2B5EF4-FFF2-40B4-BE49-F238E27FC236}">
                <a16:creationId xmlns:a16="http://schemas.microsoft.com/office/drawing/2014/main" id="{7E073D16-327E-4B9B-9293-1B576694735C}"/>
              </a:ext>
            </a:extLst>
          </p:cNvPr>
          <p:cNvSpPr>
            <a:spLocks noGrp="1"/>
          </p:cNvSpPr>
          <p:nvPr/>
        </p:nvSpPr>
        <p:spPr>
          <a:xfrm>
            <a:off x="609600" y="3333750"/>
            <a:ext cx="3143250" cy="342900"/>
          </a:xfrm>
          <a:prstGeom prst="rect">
            <a:avLst/>
          </a:prstGeom>
          <a:noFill/>
          <a:ln w="0">
            <a:noFill/>
          </a:ln>
        </p:spPr>
        <p:txBody>
          <a:bodyPr lIns="0" tIns="0" rIns="0" bIns="0" anchor="t">
            <a:normAutofit/>
          </a:bodyPr>
          <a:lstStyle/>
          <a:p>
            <a:pPr algn="l">
              <a:defRPr sz="1875" b="1" i="0">
                <a:solidFill>
                  <a:srgbClr val="1A1A1A"/>
                </a:solidFill>
                <a:latin typeface="Arial"/>
                <a:ea typeface="Arial"/>
                <a:cs typeface="Arial"/>
              </a:defRPr>
            </a:pPr>
            <a:r>
              <a:rPr sz="1875" b="1" i="0">
                <a:solidFill>
                  <a:srgbClr val="1A1A1A"/>
                </a:solidFill>
                <a:latin typeface="Arial"/>
                <a:ea typeface="Arial"/>
                <a:cs typeface="Arial"/>
              </a:rPr>
              <a:t>Recent-return regression</a:t>
            </a:r>
          </a:p>
        </p:txBody>
      </p:sp>
      <p:sp>
        <p:nvSpPr>
          <p:cNvPr id="12" name="Rectangle 11">
            <a:extLst>
              <a:ext uri="{FF2B5EF4-FFF2-40B4-BE49-F238E27FC236}">
                <a16:creationId xmlns:a16="http://schemas.microsoft.com/office/drawing/2014/main" id="{DA6F0F00-8A60-4D14-B2F1-CAB9930FC79F}"/>
              </a:ext>
            </a:extLst>
          </p:cNvPr>
          <p:cNvSpPr>
            <a:spLocks noGrp="1"/>
          </p:cNvSpPr>
          <p:nvPr/>
        </p:nvSpPr>
        <p:spPr>
          <a:xfrm>
            <a:off x="609600" y="3771900"/>
            <a:ext cx="3048000" cy="685800"/>
          </a:xfrm>
          <a:prstGeom prst="rect">
            <a:avLst/>
          </a:prstGeom>
          <a:noFill/>
          <a:ln w="0">
            <a:noFill/>
          </a:ln>
        </p:spPr>
        <p:txBody>
          <a:bodyPr lIns="0" tIns="0" rIns="0" bIns="0" anchor="t">
            <a:normAutofit/>
          </a:bodyPr>
          <a:lstStyle/>
          <a:p>
            <a:pPr algn="l">
              <a:defRPr sz="1275" b="0" i="0">
                <a:solidFill>
                  <a:srgbClr val="555555"/>
                </a:solidFill>
                <a:latin typeface="Arial"/>
                <a:ea typeface="Arial"/>
                <a:cs typeface="Arial"/>
              </a:defRPr>
            </a:pPr>
            <a:r>
              <a:rPr sz="1275" b="0" i="0">
                <a:solidFill>
                  <a:srgbClr val="555555"/>
                </a:solidFill>
                <a:latin typeface="Arial"/>
                <a:ea typeface="Arial"/>
                <a:cs typeface="Arial"/>
              </a:rPr>
              <a:t>Average squared daily return over the preceding 20 trading days.</a:t>
            </a:r>
          </a:p>
        </p:txBody>
      </p:sp>
      <p:sp>
        <p:nvSpPr>
          <p:cNvPr id="13" name="Rectangle 12">
            <a:extLst>
              <a:ext uri="{FF2B5EF4-FFF2-40B4-BE49-F238E27FC236}">
                <a16:creationId xmlns:a16="http://schemas.microsoft.com/office/drawing/2014/main" id="{A62C6FE3-FE7E-4E03-8605-B594F64CB9B5}"/>
              </a:ext>
            </a:extLst>
          </p:cNvPr>
          <p:cNvSpPr>
            <a:spLocks noGrp="1"/>
          </p:cNvSpPr>
          <p:nvPr/>
        </p:nvSpPr>
        <p:spPr>
          <a:xfrm>
            <a:off x="3924300" y="2990850"/>
            <a:ext cx="3352800" cy="1571625"/>
          </a:xfrm>
          <a:prstGeom prst="rect">
            <a:avLst/>
          </a:prstGeom>
          <a:solidFill>
            <a:srgbClr val="F3E6E1"/>
          </a:solidFill>
          <a:ln w="14288">
            <a:solidFill>
              <a:srgbClr val="A33D2E"/>
            </a:solidFill>
            <a:prstDash val="solid"/>
          </a:ln>
        </p:spPr>
        <p:txBody>
          <a:bodyPr/>
          <a:lstStyle/>
          <a:p>
            <a:endParaRPr lang="en-US"/>
          </a:p>
        </p:txBody>
      </p:sp>
      <p:sp>
        <p:nvSpPr>
          <p:cNvPr id="14" name="Rectangle 13">
            <a:extLst>
              <a:ext uri="{FF2B5EF4-FFF2-40B4-BE49-F238E27FC236}">
                <a16:creationId xmlns:a16="http://schemas.microsoft.com/office/drawing/2014/main" id="{2B0289C2-5C2B-4DBF-B282-33CD4F9C7D02}"/>
              </a:ext>
            </a:extLst>
          </p:cNvPr>
          <p:cNvSpPr>
            <a:spLocks noGrp="1"/>
          </p:cNvSpPr>
          <p:nvPr/>
        </p:nvSpPr>
        <p:spPr>
          <a:xfrm>
            <a:off x="4133850" y="3181350"/>
            <a:ext cx="1714500" cy="190500"/>
          </a:xfrm>
          <a:prstGeom prst="rect">
            <a:avLst/>
          </a:prstGeom>
          <a:noFill/>
          <a:ln w="0">
            <a:noFill/>
          </a:ln>
        </p:spPr>
        <p:txBody>
          <a:bodyPr lIns="0" tIns="0" rIns="0" bIns="0" anchor="t">
            <a:normAutofit/>
          </a:bodyPr>
          <a:lstStyle/>
          <a:p>
            <a:pPr algn="l">
              <a:defRPr sz="825" b="1" i="0">
                <a:solidFill>
                  <a:srgbClr val="A33D2E"/>
                </a:solidFill>
                <a:latin typeface="Arial"/>
                <a:ea typeface="Arial"/>
                <a:cs typeface="Arial"/>
              </a:defRPr>
            </a:pPr>
            <a:r>
              <a:rPr sz="825" b="1" i="0">
                <a:solidFill>
                  <a:srgbClr val="A33D2E"/>
                </a:solidFill>
                <a:latin typeface="Arial"/>
                <a:ea typeface="Arial"/>
                <a:cs typeface="Arial"/>
              </a:rPr>
              <a:t>AUGMENTED</a:t>
            </a:r>
          </a:p>
        </p:txBody>
      </p:sp>
      <p:sp>
        <p:nvSpPr>
          <p:cNvPr id="15" name="Rectangle 14">
            <a:extLst>
              <a:ext uri="{FF2B5EF4-FFF2-40B4-BE49-F238E27FC236}">
                <a16:creationId xmlns:a16="http://schemas.microsoft.com/office/drawing/2014/main" id="{ADE7F5DA-136A-45B8-8045-F37CC2737042}"/>
              </a:ext>
            </a:extLst>
          </p:cNvPr>
          <p:cNvSpPr>
            <a:spLocks noGrp="1"/>
          </p:cNvSpPr>
          <p:nvPr/>
        </p:nvSpPr>
        <p:spPr>
          <a:xfrm>
            <a:off x="4133850" y="3457575"/>
            <a:ext cx="2933700" cy="495300"/>
          </a:xfrm>
          <a:prstGeom prst="rect">
            <a:avLst/>
          </a:prstGeom>
          <a:noFill/>
          <a:ln w="0">
            <a:noFill/>
          </a:ln>
        </p:spPr>
        <p:txBody>
          <a:bodyPr lIns="0" tIns="0" rIns="0" bIns="0" anchor="t">
            <a:normAutofit fontScale="94203"/>
          </a:bodyPr>
          <a:lstStyle/>
          <a:p>
            <a:pPr algn="l">
              <a:defRPr sz="1725" b="1" i="0">
                <a:solidFill>
                  <a:srgbClr val="1A1A1A"/>
                </a:solidFill>
                <a:latin typeface="Arial"/>
                <a:ea typeface="Arial"/>
                <a:cs typeface="Arial"/>
              </a:defRPr>
            </a:pPr>
            <a:r>
              <a:rPr sz="1725" b="1" i="0">
                <a:solidFill>
                  <a:srgbClr val="1A1A1A"/>
                </a:solidFill>
                <a:latin typeface="Arial"/>
                <a:ea typeface="Arial"/>
                <a:cs typeface="Arial"/>
              </a:rPr>
              <a:t>Same model plus event features</a:t>
            </a:r>
          </a:p>
        </p:txBody>
      </p:sp>
      <p:sp>
        <p:nvSpPr>
          <p:cNvPr id="16" name="Rectangle 15">
            <a:extLst>
              <a:ext uri="{FF2B5EF4-FFF2-40B4-BE49-F238E27FC236}">
                <a16:creationId xmlns:a16="http://schemas.microsoft.com/office/drawing/2014/main" id="{6231533C-5050-4207-AF7C-A99A5D370F81}"/>
              </a:ext>
            </a:extLst>
          </p:cNvPr>
          <p:cNvSpPr>
            <a:spLocks noGrp="1"/>
          </p:cNvSpPr>
          <p:nvPr/>
        </p:nvSpPr>
        <p:spPr>
          <a:xfrm>
            <a:off x="4133850" y="4067175"/>
            <a:ext cx="2933700" cy="352425"/>
          </a:xfrm>
          <a:prstGeom prst="rect">
            <a:avLst/>
          </a:prstGeom>
          <a:noFill/>
          <a:ln w="0">
            <a:noFill/>
          </a:ln>
        </p:spPr>
        <p:txBody>
          <a:bodyPr lIns="0" tIns="0" rIns="0" bIns="0" anchor="t">
            <a:normAutofit fontScale="96354" lnSpcReduction="10000"/>
          </a:bodyPr>
          <a:lstStyle/>
          <a:p>
            <a:pPr algn="l">
              <a:defRPr sz="1200" b="0" i="0">
                <a:solidFill>
                  <a:srgbClr val="555555"/>
                </a:solidFill>
                <a:latin typeface="Arial"/>
                <a:ea typeface="Arial"/>
                <a:cs typeface="Arial"/>
              </a:defRPr>
            </a:pPr>
            <a:r>
              <a:rPr sz="1200" b="0" i="0" dirty="0">
                <a:solidFill>
                  <a:srgbClr val="555555"/>
                </a:solidFill>
                <a:latin typeface="Arial"/>
                <a:ea typeface="Arial"/>
                <a:cs typeface="Arial"/>
              </a:rPr>
              <a:t>Add </a:t>
            </a:r>
            <a:r>
              <a:rPr sz="1200" b="0" i="0" dirty="0" err="1">
                <a:solidFill>
                  <a:srgbClr val="555555"/>
                </a:solidFill>
                <a:latin typeface="Arial"/>
                <a:ea typeface="Arial"/>
                <a:cs typeface="Arial"/>
              </a:rPr>
              <a:t>p</a:t>
            </a:r>
            <a:r>
              <a:rPr lang="en-US" sz="1200" b="0" i="0" dirty="0" err="1">
                <a:solidFill>
                  <a:srgbClr val="555555"/>
                </a:solidFill>
                <a:latin typeface="Arial"/>
                <a:ea typeface="Arial"/>
                <a:cs typeface="Arial"/>
              </a:rPr>
              <a:t>_</a:t>
            </a:r>
            <a:r>
              <a:rPr sz="1200" b="0" i="0" dirty="0" err="1">
                <a:solidFill>
                  <a:srgbClr val="555555"/>
                </a:solidFill>
                <a:latin typeface="Arial"/>
                <a:ea typeface="Arial"/>
                <a:cs typeface="Arial"/>
              </a:rPr>
              <a:t>raw</a:t>
            </a:r>
            <a:r>
              <a:rPr sz="1200" b="0" i="0" dirty="0">
                <a:solidFill>
                  <a:srgbClr val="555555"/>
                </a:solidFill>
                <a:latin typeface="Arial"/>
                <a:ea typeface="Arial"/>
                <a:cs typeface="Arial"/>
              </a:rPr>
              <a:t> and the wallet adjustment </a:t>
            </a:r>
            <a:r>
              <a:rPr sz="1200" b="0" i="0" dirty="0" err="1">
                <a:solidFill>
                  <a:srgbClr val="555555"/>
                </a:solidFill>
                <a:latin typeface="Arial"/>
                <a:ea typeface="Arial"/>
                <a:cs typeface="Arial"/>
              </a:rPr>
              <a:t>p</a:t>
            </a:r>
            <a:r>
              <a:rPr lang="en-US" sz="1200" b="0" i="0" dirty="0" err="1">
                <a:solidFill>
                  <a:srgbClr val="555555"/>
                </a:solidFill>
                <a:latin typeface="Arial"/>
                <a:ea typeface="Arial"/>
                <a:cs typeface="Arial"/>
              </a:rPr>
              <a:t>_</a:t>
            </a:r>
            <a:r>
              <a:rPr sz="1200" b="0" i="0" dirty="0" err="1">
                <a:solidFill>
                  <a:srgbClr val="555555"/>
                </a:solidFill>
                <a:latin typeface="Arial"/>
                <a:ea typeface="Arial"/>
                <a:cs typeface="Arial"/>
              </a:rPr>
              <a:t>adjusted</a:t>
            </a:r>
            <a:r>
              <a:rPr sz="1200" b="0" i="0" dirty="0">
                <a:solidFill>
                  <a:srgbClr val="555555"/>
                </a:solidFill>
                <a:latin typeface="Arial"/>
                <a:ea typeface="Arial"/>
                <a:cs typeface="Arial"/>
              </a:rPr>
              <a:t> − </a:t>
            </a:r>
            <a:r>
              <a:rPr sz="1200" b="0" i="0" dirty="0" err="1">
                <a:solidFill>
                  <a:srgbClr val="555555"/>
                </a:solidFill>
                <a:latin typeface="Arial"/>
                <a:ea typeface="Arial"/>
                <a:cs typeface="Arial"/>
              </a:rPr>
              <a:t>p</a:t>
            </a:r>
            <a:r>
              <a:rPr lang="en-US" sz="1200" b="0" i="0" dirty="0" err="1">
                <a:solidFill>
                  <a:srgbClr val="555555"/>
                </a:solidFill>
                <a:latin typeface="Arial"/>
                <a:ea typeface="Arial"/>
                <a:cs typeface="Arial"/>
              </a:rPr>
              <a:t>_</a:t>
            </a:r>
            <a:r>
              <a:rPr sz="1200" b="0" i="0" dirty="0" err="1">
                <a:solidFill>
                  <a:srgbClr val="555555"/>
                </a:solidFill>
                <a:latin typeface="Arial"/>
                <a:ea typeface="Arial"/>
                <a:cs typeface="Arial"/>
              </a:rPr>
              <a:t>raw</a:t>
            </a:r>
            <a:r>
              <a:rPr sz="1200" b="0" i="0" dirty="0">
                <a:solidFill>
                  <a:srgbClr val="555555"/>
                </a:solidFill>
                <a:latin typeface="Arial"/>
                <a:ea typeface="Arial"/>
                <a:cs typeface="Arial"/>
              </a:rPr>
              <a:t>.</a:t>
            </a:r>
          </a:p>
        </p:txBody>
      </p:sp>
      <p:sp>
        <p:nvSpPr>
          <p:cNvPr id="17" name="Rectangle 16">
            <a:extLst>
              <a:ext uri="{FF2B5EF4-FFF2-40B4-BE49-F238E27FC236}">
                <a16:creationId xmlns:a16="http://schemas.microsoft.com/office/drawing/2014/main" id="{DF2D9C6A-2B65-4EA8-815E-DF0D8799DB93}"/>
              </a:ext>
            </a:extLst>
          </p:cNvPr>
          <p:cNvSpPr>
            <a:spLocks noGrp="1"/>
          </p:cNvSpPr>
          <p:nvPr/>
        </p:nvSpPr>
        <p:spPr>
          <a:xfrm>
            <a:off x="609600" y="4819650"/>
            <a:ext cx="6667500" cy="419100"/>
          </a:xfrm>
          <a:prstGeom prst="rect">
            <a:avLst/>
          </a:prstGeom>
          <a:noFill/>
          <a:ln w="0">
            <a:noFill/>
          </a:ln>
        </p:spPr>
        <p:txBody>
          <a:bodyPr lIns="0" tIns="0" rIns="0" bIns="0" anchor="t">
            <a:normAutofit/>
          </a:bodyPr>
          <a:lstStyle/>
          <a:p>
            <a:pPr algn="l">
              <a:defRPr sz="1425" b="1" i="0">
                <a:solidFill>
                  <a:srgbClr val="173A5E"/>
                </a:solidFill>
                <a:latin typeface="Arial"/>
                <a:ea typeface="Arial"/>
                <a:cs typeface="Arial"/>
              </a:defRPr>
            </a:pPr>
            <a:r>
              <a:rPr sz="1425" b="1" i="0" dirty="0">
                <a:solidFill>
                  <a:srgbClr val="173A5E"/>
                </a:solidFill>
                <a:latin typeface="Arial"/>
                <a:ea typeface="Arial"/>
                <a:cs typeface="Arial"/>
              </a:rPr>
              <a:t>Compare MSE and QLIKE on identical forecast dates and units.</a:t>
            </a:r>
          </a:p>
        </p:txBody>
      </p:sp>
      <p:sp>
        <p:nvSpPr>
          <p:cNvPr id="18" name="Rectangle 17">
            <a:extLst>
              <a:ext uri="{FF2B5EF4-FFF2-40B4-BE49-F238E27FC236}">
                <a16:creationId xmlns:a16="http://schemas.microsoft.com/office/drawing/2014/main" id="{A770ADA4-E06D-4C85-9D7F-071AE098DD94}"/>
              </a:ext>
            </a:extLst>
          </p:cNvPr>
          <p:cNvSpPr>
            <a:spLocks noGrp="1"/>
          </p:cNvSpPr>
          <p:nvPr/>
        </p:nvSpPr>
        <p:spPr>
          <a:xfrm>
            <a:off x="7715250" y="1762125"/>
            <a:ext cx="3867150" cy="3657600"/>
          </a:xfrm>
          <a:prstGeom prst="rect">
            <a:avLst/>
          </a:prstGeom>
          <a:solidFill>
            <a:srgbClr val="A33D2E"/>
          </a:solidFill>
          <a:ln w="14288">
            <a:solidFill>
              <a:srgbClr val="A33D2E"/>
            </a:solidFill>
            <a:prstDash val="solid"/>
          </a:ln>
        </p:spPr>
        <p:txBody>
          <a:bodyPr/>
          <a:lstStyle/>
          <a:p>
            <a:endParaRPr lang="en-US"/>
          </a:p>
        </p:txBody>
      </p:sp>
      <p:sp>
        <p:nvSpPr>
          <p:cNvPr id="19" name="Rectangle 18">
            <a:extLst>
              <a:ext uri="{FF2B5EF4-FFF2-40B4-BE49-F238E27FC236}">
                <a16:creationId xmlns:a16="http://schemas.microsoft.com/office/drawing/2014/main" id="{74A8A765-3317-42DD-93A5-D04B1A9680F9}"/>
              </a:ext>
            </a:extLst>
          </p:cNvPr>
          <p:cNvSpPr>
            <a:spLocks noGrp="1"/>
          </p:cNvSpPr>
          <p:nvPr/>
        </p:nvSpPr>
        <p:spPr>
          <a:xfrm>
            <a:off x="8001000" y="2038350"/>
            <a:ext cx="2286000" cy="190500"/>
          </a:xfrm>
          <a:prstGeom prst="rect">
            <a:avLst/>
          </a:prstGeom>
          <a:noFill/>
          <a:ln w="0">
            <a:noFill/>
          </a:ln>
        </p:spPr>
        <p:txBody>
          <a:bodyPr lIns="0" tIns="0" rIns="0" bIns="0" anchor="t">
            <a:normAutofit/>
          </a:bodyPr>
          <a:lstStyle/>
          <a:p>
            <a:pPr algn="l">
              <a:defRPr sz="825" b="1" i="0">
                <a:solidFill>
                  <a:srgbClr val="F5CFC6"/>
                </a:solidFill>
                <a:latin typeface="Arial"/>
                <a:ea typeface="Arial"/>
                <a:cs typeface="Arial"/>
              </a:defRPr>
            </a:pPr>
            <a:r>
              <a:rPr sz="825" b="1" i="0">
                <a:solidFill>
                  <a:srgbClr val="F5CFC6"/>
                </a:solidFill>
                <a:latin typeface="Arial"/>
                <a:ea typeface="Arial"/>
                <a:cs typeface="Arial"/>
              </a:rPr>
              <a:t>PORTFOLIO SCENARIOS</a:t>
            </a:r>
          </a:p>
        </p:txBody>
      </p:sp>
      <p:sp>
        <p:nvSpPr>
          <p:cNvPr id="20" name="Rectangle 19">
            <a:extLst>
              <a:ext uri="{FF2B5EF4-FFF2-40B4-BE49-F238E27FC236}">
                <a16:creationId xmlns:a16="http://schemas.microsoft.com/office/drawing/2014/main" id="{371B8B57-AD95-49C1-95A4-F61D09958606}"/>
              </a:ext>
            </a:extLst>
          </p:cNvPr>
          <p:cNvSpPr>
            <a:spLocks noGrp="1"/>
          </p:cNvSpPr>
          <p:nvPr/>
        </p:nvSpPr>
        <p:spPr>
          <a:xfrm>
            <a:off x="8001000" y="2409825"/>
            <a:ext cx="3295650" cy="666750"/>
          </a:xfrm>
          <a:prstGeom prst="rect">
            <a:avLst/>
          </a:prstGeom>
          <a:noFill/>
          <a:ln w="0">
            <a:noFill/>
          </a:ln>
        </p:spPr>
        <p:txBody>
          <a:bodyPr lIns="0" tIns="0" rIns="0" bIns="0" anchor="t">
            <a:normAutofit/>
          </a:bodyPr>
          <a:lstStyle/>
          <a:p>
            <a:pPr>
              <a:defRPr sz="2025" b="1" i="0">
                <a:solidFill>
                  <a:srgbClr val="FFFFFF"/>
                </a:solidFill>
                <a:latin typeface="Arial"/>
                <a:ea typeface="Arial"/>
                <a:cs typeface="Arial"/>
              </a:defRPr>
            </a:pPr>
            <a:r>
              <a:rPr lang="en-US" sz="2025" b="1">
                <a:solidFill>
                  <a:srgbClr val="FFFFFF"/>
                </a:solidFill>
                <a:latin typeface="Arial"/>
                <a:ea typeface="Arial"/>
                <a:cs typeface="Arial"/>
              </a:rPr>
              <a:t>Weight YES and NO distributions</a:t>
            </a:r>
            <a:endParaRPr sz="2025" b="1" i="0">
              <a:solidFill>
                <a:srgbClr val="FFFFFF"/>
              </a:solidFill>
              <a:latin typeface="Arial"/>
              <a:ea typeface="Arial"/>
              <a:cs typeface="Arial"/>
            </a:endParaRPr>
          </a:p>
        </p:txBody>
      </p:sp>
      <p:sp>
        <p:nvSpPr>
          <p:cNvPr id="21" name="Rectangle 20">
            <a:extLst>
              <a:ext uri="{FF2B5EF4-FFF2-40B4-BE49-F238E27FC236}">
                <a16:creationId xmlns:a16="http://schemas.microsoft.com/office/drawing/2014/main" id="{5673A2D1-740F-4B99-8EED-A3DD96B1DF00}"/>
              </a:ext>
            </a:extLst>
          </p:cNvPr>
          <p:cNvSpPr>
            <a:spLocks noGrp="1"/>
          </p:cNvSpPr>
          <p:nvPr/>
        </p:nvSpPr>
        <p:spPr>
          <a:xfrm>
            <a:off x="8001000" y="3295650"/>
            <a:ext cx="3295650" cy="247650"/>
          </a:xfrm>
          <a:prstGeom prst="rect">
            <a:avLst/>
          </a:prstGeom>
          <a:noFill/>
          <a:ln w="0">
            <a:noFill/>
          </a:ln>
        </p:spPr>
        <p:txBody>
          <a:bodyPr lIns="0" tIns="0" rIns="0" bIns="0" anchor="t">
            <a:normAutofit/>
          </a:bodyPr>
          <a:lstStyle/>
          <a:p>
            <a:pPr>
              <a:defRPr sz="1275" b="1" i="0">
                <a:solidFill>
                  <a:srgbClr val="FFFFFF"/>
                </a:solidFill>
                <a:latin typeface="Arial"/>
                <a:ea typeface="Arial"/>
                <a:cs typeface="Arial"/>
              </a:defRPr>
            </a:pPr>
            <a:r>
              <a:rPr lang="en-US" sz="1275" b="1">
                <a:solidFill>
                  <a:srgbClr val="FFFFFF"/>
                </a:solidFill>
                <a:latin typeface="Arial"/>
                <a:ea typeface="Arial"/>
                <a:cs typeface="Arial"/>
              </a:rPr>
              <a:t>YES samples, weight p</a:t>
            </a:r>
            <a:endParaRPr sz="1275" b="1" i="0">
              <a:solidFill>
                <a:srgbClr val="FFFFFF"/>
              </a:solidFill>
              <a:latin typeface="Arial"/>
              <a:ea typeface="Arial"/>
              <a:cs typeface="Arial"/>
            </a:endParaRPr>
          </a:p>
        </p:txBody>
      </p:sp>
      <p:sp>
        <p:nvSpPr>
          <p:cNvPr id="22" name="Straight Connector 21">
            <a:extLst>
              <a:ext uri="{FF2B5EF4-FFF2-40B4-BE49-F238E27FC236}">
                <a16:creationId xmlns:a16="http://schemas.microsoft.com/office/drawing/2014/main" id="{ED846106-47BC-47CC-BBA1-8E8B9DEDD73D}"/>
              </a:ext>
            </a:extLst>
          </p:cNvPr>
          <p:cNvSpPr>
            <a:spLocks noGrp="1"/>
          </p:cNvSpPr>
          <p:nvPr/>
        </p:nvSpPr>
        <p:spPr>
          <a:xfrm>
            <a:off x="8001000" y="3571875"/>
            <a:ext cx="3295650" cy="0"/>
          </a:xfrm>
          <a:prstGeom prst="line">
            <a:avLst/>
          </a:prstGeom>
          <a:noFill/>
          <a:ln w="9525">
            <a:solidFill>
              <a:srgbClr val="D98E81"/>
            </a:solidFill>
            <a:prstDash val="solid"/>
          </a:ln>
        </p:spPr>
        <p:txBody>
          <a:bodyPr/>
          <a:lstStyle/>
          <a:p>
            <a:endParaRPr lang="en-US"/>
          </a:p>
        </p:txBody>
      </p:sp>
      <p:sp>
        <p:nvSpPr>
          <p:cNvPr id="23" name="Rectangle 22">
            <a:extLst>
              <a:ext uri="{FF2B5EF4-FFF2-40B4-BE49-F238E27FC236}">
                <a16:creationId xmlns:a16="http://schemas.microsoft.com/office/drawing/2014/main" id="{54CD0824-4C9D-4BB2-9876-B87E9CFBD3C0}"/>
              </a:ext>
            </a:extLst>
          </p:cNvPr>
          <p:cNvSpPr>
            <a:spLocks noGrp="1"/>
          </p:cNvSpPr>
          <p:nvPr/>
        </p:nvSpPr>
        <p:spPr>
          <a:xfrm>
            <a:off x="8001000" y="3667125"/>
            <a:ext cx="3295650" cy="247650"/>
          </a:xfrm>
          <a:prstGeom prst="rect">
            <a:avLst/>
          </a:prstGeom>
          <a:noFill/>
          <a:ln w="0">
            <a:noFill/>
          </a:ln>
        </p:spPr>
        <p:txBody>
          <a:bodyPr lIns="0" tIns="0" rIns="0" bIns="0" anchor="t">
            <a:normAutofit/>
          </a:bodyPr>
          <a:lstStyle/>
          <a:p>
            <a:pPr>
              <a:defRPr sz="1275" b="1" i="0">
                <a:solidFill>
                  <a:srgbClr val="FFFFFF"/>
                </a:solidFill>
                <a:latin typeface="Arial"/>
                <a:ea typeface="Arial"/>
                <a:cs typeface="Arial"/>
              </a:defRPr>
            </a:pPr>
            <a:r>
              <a:rPr lang="en-US" sz="1275" b="1">
                <a:solidFill>
                  <a:srgbClr val="FFFFFF"/>
                </a:solidFill>
                <a:latin typeface="Arial"/>
                <a:ea typeface="Arial"/>
                <a:cs typeface="Arial"/>
              </a:rPr>
              <a:t>NO samples, weight 1 − p</a:t>
            </a:r>
            <a:endParaRPr sz="1275" b="1" i="0">
              <a:solidFill>
                <a:srgbClr val="FFFFFF"/>
              </a:solidFill>
              <a:latin typeface="Arial"/>
              <a:ea typeface="Arial"/>
              <a:cs typeface="Arial"/>
            </a:endParaRPr>
          </a:p>
        </p:txBody>
      </p:sp>
      <p:sp>
        <p:nvSpPr>
          <p:cNvPr id="24" name="Straight Connector 23">
            <a:extLst>
              <a:ext uri="{FF2B5EF4-FFF2-40B4-BE49-F238E27FC236}">
                <a16:creationId xmlns:a16="http://schemas.microsoft.com/office/drawing/2014/main" id="{CD0F347F-34CD-4C62-BF00-794B62425D83}"/>
              </a:ext>
            </a:extLst>
          </p:cNvPr>
          <p:cNvSpPr>
            <a:spLocks noGrp="1"/>
          </p:cNvSpPr>
          <p:nvPr/>
        </p:nvSpPr>
        <p:spPr>
          <a:xfrm>
            <a:off x="8001000" y="3943350"/>
            <a:ext cx="3295650" cy="0"/>
          </a:xfrm>
          <a:prstGeom prst="line">
            <a:avLst/>
          </a:prstGeom>
          <a:noFill/>
          <a:ln w="9525">
            <a:solidFill>
              <a:srgbClr val="D98E81"/>
            </a:solidFill>
            <a:prstDash val="solid"/>
          </a:ln>
        </p:spPr>
        <p:txBody>
          <a:bodyPr/>
          <a:lstStyle/>
          <a:p>
            <a:endParaRPr lang="en-US"/>
          </a:p>
        </p:txBody>
      </p:sp>
      <p:sp>
        <p:nvSpPr>
          <p:cNvPr id="25" name="Rectangle 24">
            <a:extLst>
              <a:ext uri="{FF2B5EF4-FFF2-40B4-BE49-F238E27FC236}">
                <a16:creationId xmlns:a16="http://schemas.microsoft.com/office/drawing/2014/main" id="{2F467D04-E500-4432-9226-285B45BD9CC8}"/>
              </a:ext>
            </a:extLst>
          </p:cNvPr>
          <p:cNvSpPr>
            <a:spLocks noGrp="1"/>
          </p:cNvSpPr>
          <p:nvPr/>
        </p:nvSpPr>
        <p:spPr>
          <a:xfrm>
            <a:off x="8001000" y="4038600"/>
            <a:ext cx="3295650" cy="247650"/>
          </a:xfrm>
          <a:prstGeom prst="rect">
            <a:avLst/>
          </a:prstGeom>
          <a:noFill/>
          <a:ln w="0">
            <a:noFill/>
          </a:ln>
        </p:spPr>
        <p:txBody>
          <a:bodyPr lIns="0" tIns="0" rIns="0" bIns="0" anchor="t">
            <a:normAutofit/>
          </a:bodyPr>
          <a:lstStyle/>
          <a:p>
            <a:pPr>
              <a:defRPr sz="1275" b="1" i="0">
                <a:solidFill>
                  <a:srgbClr val="FFFFFF"/>
                </a:solidFill>
                <a:latin typeface="Arial"/>
                <a:ea typeface="Arial"/>
                <a:cs typeface="Arial"/>
              </a:defRPr>
            </a:pPr>
            <a:r>
              <a:rPr lang="en-US" sz="1275" b="1">
                <a:solidFill>
                  <a:srgbClr val="FFFFFF"/>
                </a:solidFill>
                <a:latin typeface="Arial"/>
                <a:ea typeface="Arial"/>
                <a:cs typeface="Arial"/>
              </a:rPr>
              <a:t>→ Portfolio loss distribution</a:t>
            </a:r>
            <a:endParaRPr sz="1275" b="1" i="0">
              <a:solidFill>
                <a:srgbClr val="FFFFFF"/>
              </a:solidFill>
              <a:latin typeface="Arial"/>
              <a:ea typeface="Arial"/>
              <a:cs typeface="Arial"/>
            </a:endParaRPr>
          </a:p>
        </p:txBody>
      </p:sp>
      <p:sp>
        <p:nvSpPr>
          <p:cNvPr id="26" name="Straight Connector 25">
            <a:extLst>
              <a:ext uri="{FF2B5EF4-FFF2-40B4-BE49-F238E27FC236}">
                <a16:creationId xmlns:a16="http://schemas.microsoft.com/office/drawing/2014/main" id="{12DA6456-1A04-4D41-B15C-7983D7A561B3}"/>
              </a:ext>
            </a:extLst>
          </p:cNvPr>
          <p:cNvSpPr>
            <a:spLocks noGrp="1"/>
          </p:cNvSpPr>
          <p:nvPr/>
        </p:nvSpPr>
        <p:spPr>
          <a:xfrm>
            <a:off x="8001000" y="4314825"/>
            <a:ext cx="3295650" cy="0"/>
          </a:xfrm>
          <a:prstGeom prst="line">
            <a:avLst/>
          </a:prstGeom>
          <a:noFill/>
          <a:ln w="9525">
            <a:solidFill>
              <a:srgbClr val="D98E81"/>
            </a:solidFill>
            <a:prstDash val="solid"/>
          </a:ln>
        </p:spPr>
        <p:txBody>
          <a:bodyPr/>
          <a:lstStyle/>
          <a:p>
            <a:endParaRPr lang="en-US"/>
          </a:p>
        </p:txBody>
      </p:sp>
      <p:sp>
        <p:nvSpPr>
          <p:cNvPr id="27" name="Rectangle 26">
            <a:extLst>
              <a:ext uri="{FF2B5EF4-FFF2-40B4-BE49-F238E27FC236}">
                <a16:creationId xmlns:a16="http://schemas.microsoft.com/office/drawing/2014/main" id="{0C129622-4073-44C3-8B26-A22E40AB97A3}"/>
              </a:ext>
            </a:extLst>
          </p:cNvPr>
          <p:cNvSpPr>
            <a:spLocks noGrp="1"/>
          </p:cNvSpPr>
          <p:nvPr/>
        </p:nvSpPr>
        <p:spPr>
          <a:xfrm>
            <a:off x="8001000" y="4410075"/>
            <a:ext cx="3295650" cy="247650"/>
          </a:xfrm>
          <a:prstGeom prst="rect">
            <a:avLst/>
          </a:prstGeom>
          <a:noFill/>
          <a:ln w="0">
            <a:noFill/>
          </a:ln>
        </p:spPr>
        <p:txBody>
          <a:bodyPr lIns="0" tIns="0" rIns="0" bIns="0" anchor="t">
            <a:normAutofit/>
          </a:bodyPr>
          <a:lstStyle/>
          <a:p>
            <a:pPr>
              <a:defRPr sz="1275" b="1" i="0">
                <a:solidFill>
                  <a:srgbClr val="FFFFFF"/>
                </a:solidFill>
                <a:latin typeface="Arial"/>
                <a:ea typeface="Arial"/>
                <a:cs typeface="Arial"/>
              </a:defRPr>
            </a:pPr>
            <a:r>
              <a:rPr lang="en-US" sz="1275" b="1">
                <a:solidFill>
                  <a:srgbClr val="FFFFFF"/>
                </a:solidFill>
                <a:latin typeface="Arial"/>
                <a:ea typeface="Arial"/>
                <a:cs typeface="Arial"/>
              </a:rPr>
              <a:t>Scenario return and volatility</a:t>
            </a:r>
            <a:endParaRPr sz="1275" b="1" i="0">
              <a:solidFill>
                <a:srgbClr val="FFFFFF"/>
              </a:solidFill>
              <a:latin typeface="Arial"/>
              <a:ea typeface="Arial"/>
              <a:cs typeface="Arial"/>
            </a:endParaRPr>
          </a:p>
        </p:txBody>
      </p:sp>
      <p:sp>
        <p:nvSpPr>
          <p:cNvPr id="28" name="Straight Connector 27">
            <a:extLst>
              <a:ext uri="{FF2B5EF4-FFF2-40B4-BE49-F238E27FC236}">
                <a16:creationId xmlns:a16="http://schemas.microsoft.com/office/drawing/2014/main" id="{5BA94260-469A-433A-B72C-9F926B530C31}"/>
              </a:ext>
            </a:extLst>
          </p:cNvPr>
          <p:cNvSpPr>
            <a:spLocks noGrp="1"/>
          </p:cNvSpPr>
          <p:nvPr/>
        </p:nvSpPr>
        <p:spPr>
          <a:xfrm>
            <a:off x="8001000" y="4686300"/>
            <a:ext cx="3295650" cy="0"/>
          </a:xfrm>
          <a:prstGeom prst="line">
            <a:avLst/>
          </a:prstGeom>
          <a:noFill/>
          <a:ln w="9525">
            <a:solidFill>
              <a:srgbClr val="D98E81"/>
            </a:solidFill>
            <a:prstDash val="solid"/>
          </a:ln>
        </p:spPr>
        <p:txBody>
          <a:bodyPr/>
          <a:lstStyle/>
          <a:p>
            <a:endParaRPr lang="en-US"/>
          </a:p>
        </p:txBody>
      </p:sp>
      <p:sp>
        <p:nvSpPr>
          <p:cNvPr id="29" name="Rectangle 28">
            <a:extLst>
              <a:ext uri="{FF2B5EF4-FFF2-40B4-BE49-F238E27FC236}">
                <a16:creationId xmlns:a16="http://schemas.microsoft.com/office/drawing/2014/main" id="{26BBF1AA-4551-4314-AFEC-A254C1E4CDAE}"/>
              </a:ext>
            </a:extLst>
          </p:cNvPr>
          <p:cNvSpPr>
            <a:spLocks noGrp="1"/>
          </p:cNvSpPr>
          <p:nvPr/>
        </p:nvSpPr>
        <p:spPr>
          <a:xfrm>
            <a:off x="8001000" y="4781550"/>
            <a:ext cx="3295650" cy="247650"/>
          </a:xfrm>
          <a:prstGeom prst="rect">
            <a:avLst/>
          </a:prstGeom>
          <a:noFill/>
          <a:ln w="0">
            <a:noFill/>
          </a:ln>
        </p:spPr>
        <p:txBody>
          <a:bodyPr lIns="0" tIns="0" rIns="0" bIns="0" anchor="t">
            <a:normAutofit/>
          </a:bodyPr>
          <a:lstStyle/>
          <a:p>
            <a:pPr>
              <a:defRPr sz="1275" b="1" i="0">
                <a:solidFill>
                  <a:srgbClr val="FFFFFF"/>
                </a:solidFill>
                <a:latin typeface="Arial"/>
                <a:ea typeface="Arial"/>
                <a:cs typeface="Arial"/>
              </a:defRPr>
            </a:pPr>
            <a:r>
              <a:rPr lang="en-US" sz="1275" b="1">
                <a:solidFill>
                  <a:srgbClr val="FFFFFF"/>
                </a:solidFill>
                <a:latin typeface="Arial"/>
                <a:ea typeface="Arial"/>
                <a:cs typeface="Arial"/>
              </a:rPr>
              <a:t>Tail risk: 95% </a:t>
            </a:r>
            <a:r>
              <a:rPr lang="en-US" sz="1275" b="1" dirty="0" err="1">
                <a:solidFill>
                  <a:srgbClr val="FFFFFF"/>
                </a:solidFill>
                <a:latin typeface="Arial"/>
                <a:ea typeface="Arial"/>
                <a:cs typeface="Arial"/>
              </a:rPr>
              <a:t>VaR</a:t>
            </a:r>
            <a:r>
              <a:rPr lang="en-US" sz="1275" b="1" dirty="0">
                <a:solidFill>
                  <a:srgbClr val="FFFFFF"/>
                </a:solidFill>
                <a:latin typeface="Arial"/>
                <a:ea typeface="Arial"/>
                <a:cs typeface="Arial"/>
              </a:rPr>
              <a:t> and ES</a:t>
            </a:r>
            <a:endParaRPr sz="1275" b="1" i="0" dirty="0">
              <a:solidFill>
                <a:srgbClr val="FFFFFF"/>
              </a:solidFill>
              <a:latin typeface="Arial"/>
              <a:ea typeface="Arial"/>
              <a:cs typeface="Arial"/>
            </a:endParaRPr>
          </a:p>
        </p:txBody>
      </p:sp>
      <p:sp>
        <p:nvSpPr>
          <p:cNvPr id="30" name="Straight Connector 29">
            <a:extLst>
              <a:ext uri="{FF2B5EF4-FFF2-40B4-BE49-F238E27FC236}">
                <a16:creationId xmlns:a16="http://schemas.microsoft.com/office/drawing/2014/main" id="{8FCD32E5-B766-40DF-A01E-22927A24E42D}"/>
              </a:ext>
            </a:extLst>
          </p:cNvPr>
          <p:cNvSpPr>
            <a:spLocks noGrp="1"/>
          </p:cNvSpPr>
          <p:nvPr/>
        </p:nvSpPr>
        <p:spPr>
          <a:xfrm>
            <a:off x="8001000" y="5057775"/>
            <a:ext cx="3295650" cy="0"/>
          </a:xfrm>
          <a:prstGeom prst="line">
            <a:avLst/>
          </a:prstGeom>
          <a:noFill/>
          <a:ln w="9525">
            <a:solidFill>
              <a:srgbClr val="D98E81"/>
            </a:solidFill>
            <a:prstDash val="solid"/>
          </a:ln>
        </p:spPr>
        <p:txBody>
          <a:bodyPr/>
          <a:lstStyle/>
          <a:p>
            <a:endParaRPr lang="en-US"/>
          </a:p>
        </p:txBody>
      </p:sp>
      <p:sp>
        <p:nvSpPr>
          <p:cNvPr id="31" name="Rectangle 30">
            <a:extLst>
              <a:ext uri="{FF2B5EF4-FFF2-40B4-BE49-F238E27FC236}">
                <a16:creationId xmlns:a16="http://schemas.microsoft.com/office/drawing/2014/main" id="{397111D7-5E20-4241-B373-91A94E841180}"/>
              </a:ext>
            </a:extLst>
          </p:cNvPr>
          <p:cNvSpPr>
            <a:spLocks noGrp="1"/>
          </p:cNvSpPr>
          <p:nvPr/>
        </p:nvSpPr>
        <p:spPr>
          <a:xfrm>
            <a:off x="8001000" y="5038725"/>
            <a:ext cx="3295650" cy="266700"/>
          </a:xfrm>
          <a:prstGeom prst="rect">
            <a:avLst/>
          </a:prstGeom>
          <a:noFill/>
          <a:ln w="0">
            <a:noFill/>
          </a:ln>
        </p:spPr>
        <p:txBody>
          <a:bodyPr lIns="0" tIns="0" rIns="0" bIns="0" anchor="t">
            <a:normAutofit/>
          </a:bodyPr>
          <a:lstStyle/>
          <a:p>
            <a:pPr algn="l">
              <a:defRPr sz="975" b="0" i="0">
                <a:solidFill>
                  <a:srgbClr val="F7EAE7"/>
                </a:solidFill>
                <a:latin typeface="Arial"/>
                <a:ea typeface="Arial"/>
                <a:cs typeface="Arial"/>
              </a:defRPr>
            </a:pPr>
            <a:r>
              <a:rPr sz="975" b="0" i="0" dirty="0">
                <a:solidFill>
                  <a:srgbClr val="F7EAE7"/>
                </a:solidFill>
                <a:latin typeface="Arial"/>
                <a:ea typeface="Arial"/>
                <a:cs typeface="Arial"/>
              </a:rPr>
              <a:t>Joint returns preserve cross-asset dependence.</a:t>
            </a:r>
          </a:p>
        </p:txBody>
      </p:sp>
      <p:sp>
        <p:nvSpPr>
          <p:cNvPr id="33" name="Rectangle 32">
            <a:extLst>
              <a:ext uri="{FF2B5EF4-FFF2-40B4-BE49-F238E27FC236}">
                <a16:creationId xmlns:a16="http://schemas.microsoft.com/office/drawing/2014/main" id="{2A38B116-C97A-B812-2842-9DE3A139D4A1}"/>
              </a:ext>
            </a:extLst>
          </p:cNvPr>
          <p:cNvSpPr>
            <a:spLocks noGrp="1"/>
          </p:cNvSpPr>
          <p:nvPr/>
        </p:nvSpPr>
        <p:spPr>
          <a:xfrm>
            <a:off x="626918" y="5326665"/>
            <a:ext cx="6061364" cy="623952"/>
          </a:xfrm>
          <a:prstGeom prst="rect">
            <a:avLst/>
          </a:prstGeom>
          <a:noFill/>
          <a:ln w="0">
            <a:noFill/>
          </a:ln>
        </p:spPr>
        <p:txBody>
          <a:bodyPr lIns="0" tIns="0" rIns="0" bIns="0" anchor="t">
            <a:normAutofit/>
          </a:bodyPr>
          <a:lstStyle/>
          <a:p>
            <a:pPr>
              <a:defRPr sz="1425" b="1" i="0">
                <a:solidFill>
                  <a:srgbClr val="173A5E"/>
                </a:solidFill>
                <a:latin typeface="Arial"/>
                <a:ea typeface="Arial"/>
                <a:cs typeface="Arial"/>
              </a:defRPr>
            </a:pPr>
            <a:r>
              <a:rPr lang="en-US" sz="1425" b="1">
                <a:solidFill>
                  <a:srgbClr val="173A5E"/>
                </a:solidFill>
                <a:latin typeface="Arial"/>
                <a:ea typeface="Arial"/>
                <a:cs typeface="Arial"/>
              </a:rPr>
              <a:t>Initial comparison • Other models remain candidates</a:t>
            </a:r>
            <a:endParaRPr sz="1425" b="1" i="0">
              <a:solidFill>
                <a:srgbClr val="173A5E"/>
              </a:solidFill>
              <a:latin typeface="Arial"/>
              <a:ea typeface="Arial"/>
              <a:cs typeface="Arial"/>
            </a:endParaRPr>
          </a:p>
        </p:txBody>
      </p:sp>
      <mc:AlternateContent xmlns:mc="http://schemas.openxmlformats.org/markup-compatibility/2006">
        <mc:Choice xmlns:a14="http://schemas.microsoft.com/office/drawing/2010/main" Requires="a14">
          <p:sp>
            <p:nvSpPr>
              <p:cNvPr id="35" name="TextBox 34">
                <a:extLst>
                  <a:ext uri="{FF2B5EF4-FFF2-40B4-BE49-F238E27FC236}">
                    <a16:creationId xmlns:a16="http://schemas.microsoft.com/office/drawing/2014/main" id="{0D607A6F-BF25-CD5C-24F8-F6F4C207DDB5}"/>
                  </a:ext>
                </a:extLst>
              </p:cNvPr>
              <p:cNvSpPr txBox="1"/>
              <p:nvPr/>
            </p:nvSpPr>
            <p:spPr>
              <a:xfrm>
                <a:off x="609600" y="1545231"/>
                <a:ext cx="2385391" cy="778868"/>
              </a:xfrm>
              <a:prstGeom prst="rect">
                <a:avLst/>
              </a:prstGeom>
              <a:noFill/>
            </p:spPr>
            <p:txBody>
              <a:bodyPr wrap="square" lIns="0" tIns="0" rIns="0" bIns="0" rtlCol="0">
                <a:spAutoFit/>
              </a:bodyPr>
              <a:lstStyle/>
              <a:p>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𝑅</m:t>
                      </m:r>
                      <m:sSub>
                        <m:sSubPr>
                          <m:ctrlPr>
                            <a:rPr lang="en-US" i="1" smtClean="0">
                              <a:latin typeface="Cambria Math" panose="02040503050406030204" pitchFamily="18" charset="0"/>
                            </a:rPr>
                          </m:ctrlPr>
                        </m:sSubPr>
                        <m:e>
                          <m:r>
                            <a:rPr lang="en-US" i="1" smtClean="0">
                              <a:latin typeface="Cambria Math" panose="02040503050406030204" pitchFamily="18" charset="0"/>
                            </a:rPr>
                            <m:t>𝑉</m:t>
                          </m:r>
                        </m:e>
                        <m:sub>
                          <m:d>
                            <m:dPr>
                              <m:ctrlPr>
                                <a:rPr lang="en-US" i="1" smtClean="0">
                                  <a:latin typeface="Cambria Math" panose="02040503050406030204" pitchFamily="18" charset="0"/>
                                </a:rPr>
                              </m:ctrlPr>
                            </m:dPr>
                            <m:e>
                              <m:r>
                                <a:rPr lang="en-US" i="1" smtClean="0">
                                  <a:latin typeface="Cambria Math" panose="02040503050406030204" pitchFamily="18" charset="0"/>
                                </a:rPr>
                                <m:t>𝑡</m:t>
                              </m:r>
                              <m:r>
                                <a:rPr lang="en-US" i="1" smtClean="0">
                                  <a:latin typeface="Cambria Math" panose="02040503050406030204" pitchFamily="18" charset="0"/>
                                </a:rPr>
                                <m:t>,</m:t>
                              </m:r>
                              <m:r>
                                <a:rPr lang="en-US" i="1" smtClean="0">
                                  <a:latin typeface="Cambria Math" panose="02040503050406030204" pitchFamily="18" charset="0"/>
                                </a:rPr>
                                <m:t>𝐻</m:t>
                              </m:r>
                            </m:e>
                          </m:d>
                        </m:sub>
                      </m:sSub>
                      <m:r>
                        <a:rPr lang="en-US" i="1" smtClean="0">
                          <a:latin typeface="Cambria Math" panose="02040503050406030204" pitchFamily="18" charset="0"/>
                        </a:rPr>
                        <m:t>=</m:t>
                      </m:r>
                      <m:nary>
                        <m:naryPr>
                          <m:chr m:val="∑"/>
                          <m:ctrlPr>
                            <a:rPr lang="en-US" i="1" smtClean="0">
                              <a:latin typeface="Cambria Math" panose="02040503050406030204" pitchFamily="18" charset="0"/>
                            </a:rPr>
                          </m:ctrlPr>
                        </m:naryPr>
                        <m:sub>
                          <m:r>
                            <a:rPr lang="en-US" i="1" smtClean="0">
                              <a:latin typeface="Cambria Math" panose="02040503050406030204" pitchFamily="18" charset="0"/>
                            </a:rPr>
                            <m:t>h</m:t>
                          </m:r>
                          <m:r>
                            <a:rPr lang="en-US" i="1" smtClean="0">
                              <a:latin typeface="Cambria Math" panose="02040503050406030204" pitchFamily="18" charset="0"/>
                            </a:rPr>
                            <m:t>=1</m:t>
                          </m:r>
                        </m:sub>
                        <m:sup>
                          <m:r>
                            <a:rPr lang="en-US" i="1" smtClean="0">
                              <a:latin typeface="Cambria Math" panose="02040503050406030204" pitchFamily="18" charset="0"/>
                            </a:rPr>
                            <m:t>𝐻</m:t>
                          </m:r>
                        </m:sup>
                        <m:e>
                          <m:sSup>
                            <m:sSupPr>
                              <m:ctrlPr>
                                <a:rPr lang="en-US" i="1" smtClean="0">
                                  <a:latin typeface="Cambria Math" panose="02040503050406030204" pitchFamily="18" charset="0"/>
                                </a:rPr>
                              </m:ctrlPr>
                            </m:sSupPr>
                            <m:e>
                              <m:r>
                                <a:rPr lang="en-US" i="1" smtClean="0">
                                  <a:latin typeface="Cambria Math" panose="02040503050406030204" pitchFamily="18" charset="0"/>
                                </a:rPr>
                                <m:t>𝑟</m:t>
                              </m:r>
                            </m:e>
                            <m:sup>
                              <m:r>
                                <a:rPr lang="en-US" i="1" smtClean="0">
                                  <a:latin typeface="Cambria Math" panose="02040503050406030204" pitchFamily="18" charset="0"/>
                                </a:rPr>
                                <m:t>2</m:t>
                              </m:r>
                            </m:sup>
                          </m:sSup>
                          <m:d>
                            <m:dPr>
                              <m:ctrlPr>
                                <a:rPr lang="en-US" i="1" smtClean="0">
                                  <a:latin typeface="Cambria Math" panose="02040503050406030204" pitchFamily="18" charset="0"/>
                                </a:rPr>
                              </m:ctrlPr>
                            </m:dPr>
                            <m:e>
                              <m:r>
                                <a:rPr lang="en-US" i="1" smtClean="0">
                                  <a:latin typeface="Cambria Math" panose="02040503050406030204" pitchFamily="18" charset="0"/>
                                </a:rPr>
                                <m:t>𝑡</m:t>
                              </m:r>
                              <m:r>
                                <a:rPr lang="en-US" i="1" smtClean="0">
                                  <a:latin typeface="Cambria Math" panose="02040503050406030204" pitchFamily="18" charset="0"/>
                                </a:rPr>
                                <m:t>+</m:t>
                              </m:r>
                              <m:r>
                                <a:rPr lang="en-US" i="1" smtClean="0">
                                  <a:latin typeface="Cambria Math" panose="02040503050406030204" pitchFamily="18" charset="0"/>
                                </a:rPr>
                                <m:t>h</m:t>
                              </m:r>
                            </m:e>
                          </m:d>
                        </m:e>
                      </m:nary>
                    </m:oMath>
                  </m:oMathPara>
                </a14:m>
                <a:endParaRPr lang="en-US" dirty="0"/>
              </a:p>
            </p:txBody>
          </p:sp>
        </mc:Choice>
        <mc:Fallback>
          <p:sp>
            <p:nvSpPr>
              <p:cNvPr id="35" name="TextBox 34">
                <a:extLst>
                  <a:ext uri="{FF2B5EF4-FFF2-40B4-BE49-F238E27FC236}">
                    <a16:creationId xmlns:a16="http://schemas.microsoft.com/office/drawing/2014/main" id="{0D607A6F-BF25-CD5C-24F8-F6F4C207DDB5}"/>
                  </a:ext>
                </a:extLst>
              </p:cNvPr>
              <p:cNvSpPr txBox="1">
                <a:spLocks noRot="1" noChangeAspect="1" noMove="1" noResize="1" noEditPoints="1" noAdjustHandles="1" noChangeArrowheads="1" noChangeShapeType="1" noTextEdit="1"/>
              </p:cNvSpPr>
              <p:nvPr/>
            </p:nvSpPr>
            <p:spPr>
              <a:xfrm>
                <a:off x="609600" y="1545231"/>
                <a:ext cx="2385391" cy="778868"/>
              </a:xfrm>
              <a:prstGeom prst="rect">
                <a:avLst/>
              </a:prstGeom>
              <a:blipFill>
                <a:blip r:embed="rId3"/>
                <a:stretch>
                  <a:fillRect l="-532" t="-111290" b="-174194"/>
                </a:stretch>
              </a:blipFill>
            </p:spPr>
            <p:txBody>
              <a:bodyPr/>
              <a:lstStyle/>
              <a:p>
                <a:r>
                  <a:rPr lang="en-US">
                    <a:noFill/>
                  </a:rPr>
                  <a:t> </a:t>
                </a:r>
              </a:p>
            </p:txBody>
          </p:sp>
        </mc:Fallback>
      </mc:AlternateContent>
    </p:spTree>
    <p:extLst>
      <p:ext uri="{BB962C8B-B14F-4D97-AF65-F5344CB8AC3E}">
        <p14:creationId xmlns:p14="http://schemas.microsoft.com/office/powerpoint/2010/main" val="13354374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3EEE5"/>
        </a:solidFill>
        <a:effectLst/>
      </p:bgPr>
    </p:bg>
    <p:spTree>
      <p:nvGrpSpPr>
        <p:cNvPr id="1" name=""/>
        <p:cNvGrpSpPr/>
        <p:nvPr/>
      </p:nvGrpSpPr>
      <p:grpSpPr>
        <a:xfrm>
          <a:off x="0" y="0"/>
          <a:ext cx="0" cy="0"/>
          <a:chOff x="0" y="0"/>
          <a:chExt cx="0" cy="0"/>
        </a:xfrm>
      </p:grpSpPr>
      <p:sp>
        <p:nvSpPr>
          <p:cNvPr id="35" name="Rectangle 34">
            <a:extLst>
              <a:ext uri="{FF2B5EF4-FFF2-40B4-BE49-F238E27FC236}">
                <a16:creationId xmlns:a16="http://schemas.microsoft.com/office/drawing/2014/main" id="{B89A0EB1-6812-441E-915D-8AD8B6A16C8A}"/>
              </a:ext>
            </a:extLst>
          </p:cNvPr>
          <p:cNvSpPr>
            <a:spLocks noGrp="1"/>
          </p:cNvSpPr>
          <p:nvPr/>
        </p:nvSpPr>
        <p:spPr>
          <a:xfrm>
            <a:off x="609600" y="400050"/>
            <a:ext cx="7239000" cy="228600"/>
          </a:xfrm>
          <a:prstGeom prst="rect">
            <a:avLst/>
          </a:prstGeom>
          <a:noFill/>
          <a:ln w="0">
            <a:noFill/>
          </a:ln>
        </p:spPr>
        <p:txBody>
          <a:bodyPr lIns="0" tIns="0" rIns="0" bIns="0" anchor="t">
            <a:normAutofit/>
          </a:bodyPr>
          <a:lstStyle/>
          <a:p>
            <a:pPr algn="l">
              <a:defRPr sz="975" b="1" i="0">
                <a:solidFill>
                  <a:srgbClr val="A33D2E"/>
                </a:solidFill>
                <a:latin typeface="Arial"/>
                <a:ea typeface="Arial"/>
                <a:cs typeface="Arial"/>
              </a:defRPr>
            </a:pPr>
            <a:r>
              <a:rPr sz="975" b="1" i="0">
                <a:solidFill>
                  <a:srgbClr val="A33D2E"/>
                </a:solidFill>
                <a:latin typeface="Arial"/>
                <a:ea typeface="Arial"/>
                <a:cs typeface="Arial"/>
              </a:rPr>
              <a:t>SYSTEM DESIGN</a:t>
            </a:r>
          </a:p>
        </p:txBody>
      </p:sp>
      <p:sp>
        <p:nvSpPr>
          <p:cNvPr id="2" name="Rectangle 1">
            <a:extLst>
              <a:ext uri="{FF2B5EF4-FFF2-40B4-BE49-F238E27FC236}">
                <a16:creationId xmlns:a16="http://schemas.microsoft.com/office/drawing/2014/main" id="{8ABD0CAD-554C-4C4E-9245-44F78741D3BE}"/>
              </a:ext>
            </a:extLst>
          </p:cNvPr>
          <p:cNvSpPr>
            <a:spLocks noGrp="1"/>
          </p:cNvSpPr>
          <p:nvPr/>
        </p:nvSpPr>
        <p:spPr>
          <a:xfrm>
            <a:off x="609600" y="666750"/>
            <a:ext cx="10668000" cy="666750"/>
          </a:xfrm>
          <a:prstGeom prst="rect">
            <a:avLst/>
          </a:prstGeom>
          <a:noFill/>
          <a:ln w="0">
            <a:noFill/>
          </a:ln>
        </p:spPr>
        <p:txBody>
          <a:bodyPr lIns="0" tIns="0" rIns="0" bIns="0" anchor="t">
            <a:normAutofit/>
          </a:bodyPr>
          <a:lstStyle/>
          <a:p>
            <a:pPr algn="l">
              <a:defRPr sz="3525" b="1" i="0">
                <a:solidFill>
                  <a:srgbClr val="1A1A1A"/>
                </a:solidFill>
                <a:latin typeface="Arial"/>
                <a:ea typeface="Arial"/>
                <a:cs typeface="Arial"/>
              </a:defRPr>
            </a:pPr>
            <a:r>
              <a:rPr sz="3525" b="1" i="0">
                <a:solidFill>
                  <a:srgbClr val="1A1A1A"/>
                </a:solidFill>
                <a:latin typeface="Arial"/>
                <a:ea typeface="Arial"/>
                <a:cs typeface="Arial"/>
              </a:rPr>
              <a:t>Calculations remain separate from explanations</a:t>
            </a:r>
          </a:p>
        </p:txBody>
      </p:sp>
      <p:sp>
        <p:nvSpPr>
          <p:cNvPr id="3" name="Straight Connector 2">
            <a:extLst>
              <a:ext uri="{FF2B5EF4-FFF2-40B4-BE49-F238E27FC236}">
                <a16:creationId xmlns:a16="http://schemas.microsoft.com/office/drawing/2014/main" id="{614ADD1E-C4B6-4853-8872-E3D46AABF92A}"/>
              </a:ext>
            </a:extLst>
          </p:cNvPr>
          <p:cNvSpPr>
            <a:spLocks noGrp="1"/>
          </p:cNvSpPr>
          <p:nvPr/>
        </p:nvSpPr>
        <p:spPr>
          <a:xfrm>
            <a:off x="609600" y="1428750"/>
            <a:ext cx="10972800" cy="0"/>
          </a:xfrm>
          <a:prstGeom prst="line">
            <a:avLst/>
          </a:prstGeom>
          <a:noFill/>
          <a:ln w="9525">
            <a:solidFill>
              <a:srgbClr val="CEC8BE"/>
            </a:solidFill>
            <a:prstDash val="solid"/>
          </a:ln>
        </p:spPr>
        <p:txBody>
          <a:bodyPr/>
          <a:lstStyle/>
          <a:p>
            <a:endParaRPr lang="en-US"/>
          </a:p>
        </p:txBody>
      </p:sp>
      <p:sp>
        <p:nvSpPr>
          <p:cNvPr id="4" name="Straight Connector 3">
            <a:extLst>
              <a:ext uri="{FF2B5EF4-FFF2-40B4-BE49-F238E27FC236}">
                <a16:creationId xmlns:a16="http://schemas.microsoft.com/office/drawing/2014/main" id="{A28860FD-37CB-4408-B431-B0F1609B87E0}"/>
              </a:ext>
            </a:extLst>
          </p:cNvPr>
          <p:cNvSpPr>
            <a:spLocks noGrp="1"/>
          </p:cNvSpPr>
          <p:nvPr/>
        </p:nvSpPr>
        <p:spPr>
          <a:xfrm>
            <a:off x="609600" y="6438900"/>
            <a:ext cx="10972800" cy="0"/>
          </a:xfrm>
          <a:prstGeom prst="line">
            <a:avLst/>
          </a:prstGeom>
          <a:noFill/>
          <a:ln w="9525">
            <a:solidFill>
              <a:srgbClr val="CEC8BE"/>
            </a:solidFill>
            <a:prstDash val="solid"/>
          </a:ln>
        </p:spPr>
        <p:txBody>
          <a:bodyPr/>
          <a:lstStyle/>
          <a:p>
            <a:endParaRPr lang="en-US"/>
          </a:p>
        </p:txBody>
      </p:sp>
      <p:sp>
        <p:nvSpPr>
          <p:cNvPr id="5" name="Rectangle 4">
            <a:extLst>
              <a:ext uri="{FF2B5EF4-FFF2-40B4-BE49-F238E27FC236}">
                <a16:creationId xmlns:a16="http://schemas.microsoft.com/office/drawing/2014/main" id="{F52CF94E-334A-4304-A8AC-6D546BEC1C8D}"/>
              </a:ext>
            </a:extLst>
          </p:cNvPr>
          <p:cNvSpPr>
            <a:spLocks noGrp="1"/>
          </p:cNvSpPr>
          <p:nvPr/>
        </p:nvSpPr>
        <p:spPr>
          <a:xfrm>
            <a:off x="609600" y="6543675"/>
            <a:ext cx="6667500" cy="152400"/>
          </a:xfrm>
          <a:prstGeom prst="rect">
            <a:avLst/>
          </a:prstGeom>
          <a:noFill/>
          <a:ln w="0">
            <a:noFill/>
          </a:ln>
        </p:spPr>
        <p:txBody>
          <a:bodyPr lIns="0" tIns="0" rIns="0" bIns="0" anchor="t">
            <a:normAutofit/>
          </a:bodyPr>
          <a:lstStyle/>
          <a:p>
            <a:pPr algn="l">
              <a:defRPr sz="750" b="1" i="0">
                <a:solidFill>
                  <a:srgbClr val="8E887F"/>
                </a:solidFill>
                <a:latin typeface="Arial"/>
                <a:ea typeface="Arial"/>
                <a:cs typeface="Arial"/>
              </a:defRPr>
            </a:pPr>
            <a:r>
              <a:rPr sz="750" b="1" i="0">
                <a:solidFill>
                  <a:srgbClr val="8E887F"/>
                </a:solidFill>
                <a:latin typeface="Arial"/>
                <a:ea typeface="Arial"/>
                <a:cs typeface="Arial"/>
              </a:rPr>
              <a:t>EVENTLENS   FINAL YEAR PROJECT PROPOSAL</a:t>
            </a:r>
          </a:p>
        </p:txBody>
      </p:sp>
      <p:sp>
        <p:nvSpPr>
          <p:cNvPr id="6" name="Rectangle 5">
            <a:extLst>
              <a:ext uri="{FF2B5EF4-FFF2-40B4-BE49-F238E27FC236}">
                <a16:creationId xmlns:a16="http://schemas.microsoft.com/office/drawing/2014/main" id="{1252B109-C867-4BA9-A064-DB24AABD93C5}"/>
              </a:ext>
            </a:extLst>
          </p:cNvPr>
          <p:cNvSpPr>
            <a:spLocks noGrp="1"/>
          </p:cNvSpPr>
          <p:nvPr/>
        </p:nvSpPr>
        <p:spPr>
          <a:xfrm>
            <a:off x="10287000" y="6543675"/>
            <a:ext cx="1295400" cy="152400"/>
          </a:xfrm>
          <a:prstGeom prst="rect">
            <a:avLst/>
          </a:prstGeom>
          <a:noFill/>
          <a:ln w="0">
            <a:noFill/>
          </a:ln>
        </p:spPr>
        <p:txBody>
          <a:bodyPr lIns="0" tIns="0" rIns="0" bIns="0" anchor="t">
            <a:normAutofit/>
          </a:bodyPr>
          <a:lstStyle/>
          <a:p>
            <a:pPr algn="r">
              <a:defRPr sz="750" b="1" i="0">
                <a:solidFill>
                  <a:srgbClr val="8E887F"/>
                </a:solidFill>
                <a:latin typeface="Arial"/>
                <a:ea typeface="Arial"/>
                <a:cs typeface="Arial"/>
              </a:defRPr>
            </a:pPr>
            <a:r>
              <a:rPr sz="750" b="1" i="0">
                <a:solidFill>
                  <a:srgbClr val="8E887F"/>
                </a:solidFill>
                <a:latin typeface="Arial"/>
                <a:ea typeface="Arial"/>
                <a:cs typeface="Arial"/>
              </a:rPr>
              <a:t>07 / 08</a:t>
            </a:r>
          </a:p>
        </p:txBody>
      </p:sp>
      <p:sp>
        <p:nvSpPr>
          <p:cNvPr id="7" name="Rectangle 6">
            <a:extLst>
              <a:ext uri="{FF2B5EF4-FFF2-40B4-BE49-F238E27FC236}">
                <a16:creationId xmlns:a16="http://schemas.microsoft.com/office/drawing/2014/main" id="{C00960D8-094D-40A4-A428-A512503C3A35}"/>
              </a:ext>
            </a:extLst>
          </p:cNvPr>
          <p:cNvSpPr>
            <a:spLocks noGrp="1"/>
          </p:cNvSpPr>
          <p:nvPr/>
        </p:nvSpPr>
        <p:spPr>
          <a:xfrm>
            <a:off x="609600" y="1828800"/>
            <a:ext cx="3028950" cy="1685925"/>
          </a:xfrm>
          <a:prstGeom prst="rect">
            <a:avLst/>
          </a:prstGeom>
          <a:solidFill>
            <a:srgbClr val="FFFFFF"/>
          </a:solidFill>
          <a:ln w="14288">
            <a:solidFill>
              <a:srgbClr val="1A1A1A"/>
            </a:solidFill>
            <a:prstDash val="solid"/>
          </a:ln>
        </p:spPr>
        <p:txBody>
          <a:bodyPr/>
          <a:lstStyle/>
          <a:p>
            <a:endParaRPr lang="en-US"/>
          </a:p>
        </p:txBody>
      </p:sp>
      <p:sp>
        <p:nvSpPr>
          <p:cNvPr id="8" name="Rectangle 7">
            <a:extLst>
              <a:ext uri="{FF2B5EF4-FFF2-40B4-BE49-F238E27FC236}">
                <a16:creationId xmlns:a16="http://schemas.microsoft.com/office/drawing/2014/main" id="{9B26EE7A-FAE6-41DB-85C4-33B80425D931}"/>
              </a:ext>
            </a:extLst>
          </p:cNvPr>
          <p:cNvSpPr>
            <a:spLocks noGrp="1"/>
          </p:cNvSpPr>
          <p:nvPr/>
        </p:nvSpPr>
        <p:spPr>
          <a:xfrm>
            <a:off x="838200" y="2038350"/>
            <a:ext cx="952500" cy="190500"/>
          </a:xfrm>
          <a:prstGeom prst="rect">
            <a:avLst/>
          </a:prstGeom>
          <a:noFill/>
          <a:ln w="0">
            <a:noFill/>
          </a:ln>
        </p:spPr>
        <p:txBody>
          <a:bodyPr lIns="0" tIns="0" rIns="0" bIns="0" anchor="t">
            <a:normAutofit/>
          </a:bodyPr>
          <a:lstStyle/>
          <a:p>
            <a:pPr algn="l">
              <a:defRPr sz="825" b="1" i="0">
                <a:solidFill>
                  <a:srgbClr val="A33D2E"/>
                </a:solidFill>
                <a:latin typeface="Arial"/>
                <a:ea typeface="Arial"/>
                <a:cs typeface="Arial"/>
              </a:defRPr>
            </a:pPr>
            <a:r>
              <a:rPr sz="825" b="1" i="0">
                <a:solidFill>
                  <a:srgbClr val="A33D2E"/>
                </a:solidFill>
                <a:latin typeface="Arial"/>
                <a:ea typeface="Arial"/>
                <a:cs typeface="Arial"/>
              </a:rPr>
              <a:t>DATA</a:t>
            </a:r>
          </a:p>
        </p:txBody>
      </p:sp>
      <p:sp>
        <p:nvSpPr>
          <p:cNvPr id="9" name="Rectangle 8">
            <a:extLst>
              <a:ext uri="{FF2B5EF4-FFF2-40B4-BE49-F238E27FC236}">
                <a16:creationId xmlns:a16="http://schemas.microsoft.com/office/drawing/2014/main" id="{CEB2DE59-A146-4562-B4E0-FE0D9D99ABBF}"/>
              </a:ext>
            </a:extLst>
          </p:cNvPr>
          <p:cNvSpPr>
            <a:spLocks noGrp="1"/>
          </p:cNvSpPr>
          <p:nvPr/>
        </p:nvSpPr>
        <p:spPr>
          <a:xfrm>
            <a:off x="838200" y="2352675"/>
            <a:ext cx="2571750" cy="361950"/>
          </a:xfrm>
          <a:prstGeom prst="rect">
            <a:avLst/>
          </a:prstGeom>
          <a:noFill/>
          <a:ln w="0">
            <a:noFill/>
          </a:ln>
        </p:spPr>
        <p:txBody>
          <a:bodyPr lIns="0" tIns="0" rIns="0" bIns="0" anchor="t">
            <a:normAutofit/>
          </a:bodyPr>
          <a:lstStyle/>
          <a:p>
            <a:pPr algn="l">
              <a:defRPr sz="1875" b="1" i="0">
                <a:solidFill>
                  <a:srgbClr val="1A1A1A"/>
                </a:solidFill>
                <a:latin typeface="Arial"/>
                <a:ea typeface="Arial"/>
                <a:cs typeface="Arial"/>
              </a:defRPr>
            </a:pPr>
            <a:r>
              <a:rPr sz="1875" b="1" i="0">
                <a:solidFill>
                  <a:srgbClr val="1A1A1A"/>
                </a:solidFill>
                <a:latin typeface="Arial"/>
                <a:ea typeface="Arial"/>
                <a:cs typeface="Arial"/>
              </a:rPr>
              <a:t>Evidence layer</a:t>
            </a:r>
          </a:p>
        </p:txBody>
      </p:sp>
      <p:sp>
        <p:nvSpPr>
          <p:cNvPr id="10" name="Rectangle 9">
            <a:extLst>
              <a:ext uri="{FF2B5EF4-FFF2-40B4-BE49-F238E27FC236}">
                <a16:creationId xmlns:a16="http://schemas.microsoft.com/office/drawing/2014/main" id="{5F1116DA-4277-49AB-83EB-26CFAF192058}"/>
              </a:ext>
            </a:extLst>
          </p:cNvPr>
          <p:cNvSpPr>
            <a:spLocks noGrp="1"/>
          </p:cNvSpPr>
          <p:nvPr/>
        </p:nvSpPr>
        <p:spPr>
          <a:xfrm>
            <a:off x="838200" y="2876550"/>
            <a:ext cx="2571750" cy="495300"/>
          </a:xfrm>
          <a:prstGeom prst="rect">
            <a:avLst/>
          </a:prstGeom>
          <a:noFill/>
          <a:ln w="0">
            <a:noFill/>
          </a:ln>
        </p:spPr>
        <p:txBody>
          <a:bodyPr lIns="0" tIns="0" rIns="0" bIns="0" anchor="t">
            <a:normAutofit/>
          </a:bodyPr>
          <a:lstStyle/>
          <a:p>
            <a:pPr algn="l">
              <a:defRPr sz="1200" b="0" i="0">
                <a:solidFill>
                  <a:srgbClr val="555555"/>
                </a:solidFill>
                <a:latin typeface="Arial"/>
                <a:ea typeface="Arial"/>
                <a:cs typeface="Arial"/>
              </a:defRPr>
            </a:pPr>
            <a:r>
              <a:rPr sz="1200" b="0" i="0">
                <a:solidFill>
                  <a:srgbClr val="555555"/>
                </a:solidFill>
                <a:latin typeface="Arial"/>
                <a:ea typeface="Arial"/>
                <a:cs typeface="Arial"/>
              </a:rPr>
              <a:t>APIs, receipts, PostgreSQL, Parquet and versioned source records</a:t>
            </a:r>
          </a:p>
        </p:txBody>
      </p:sp>
      <p:sp>
        <p:nvSpPr>
          <p:cNvPr id="11" name="Rectangle 10">
            <a:extLst>
              <a:ext uri="{FF2B5EF4-FFF2-40B4-BE49-F238E27FC236}">
                <a16:creationId xmlns:a16="http://schemas.microsoft.com/office/drawing/2014/main" id="{C6275737-367D-464A-98A8-6C777308050B}"/>
              </a:ext>
            </a:extLst>
          </p:cNvPr>
          <p:cNvSpPr>
            <a:spLocks noGrp="1"/>
          </p:cNvSpPr>
          <p:nvPr/>
        </p:nvSpPr>
        <p:spPr>
          <a:xfrm>
            <a:off x="4514850" y="1828800"/>
            <a:ext cx="3162300" cy="1685925"/>
          </a:xfrm>
          <a:prstGeom prst="rect">
            <a:avLst/>
          </a:prstGeom>
          <a:solidFill>
            <a:srgbClr val="F3E6E1"/>
          </a:solidFill>
          <a:ln w="14288">
            <a:solidFill>
              <a:srgbClr val="A33D2E"/>
            </a:solidFill>
            <a:prstDash val="solid"/>
          </a:ln>
        </p:spPr>
        <p:txBody>
          <a:bodyPr/>
          <a:lstStyle/>
          <a:p>
            <a:endParaRPr lang="en-US"/>
          </a:p>
        </p:txBody>
      </p:sp>
      <p:sp>
        <p:nvSpPr>
          <p:cNvPr id="12" name="Rectangle 11">
            <a:extLst>
              <a:ext uri="{FF2B5EF4-FFF2-40B4-BE49-F238E27FC236}">
                <a16:creationId xmlns:a16="http://schemas.microsoft.com/office/drawing/2014/main" id="{331A9260-637F-408D-83CF-DE20492386EF}"/>
              </a:ext>
            </a:extLst>
          </p:cNvPr>
          <p:cNvSpPr>
            <a:spLocks noGrp="1"/>
          </p:cNvSpPr>
          <p:nvPr/>
        </p:nvSpPr>
        <p:spPr>
          <a:xfrm>
            <a:off x="4743450" y="2038350"/>
            <a:ext cx="1143000" cy="190500"/>
          </a:xfrm>
          <a:prstGeom prst="rect">
            <a:avLst/>
          </a:prstGeom>
          <a:noFill/>
          <a:ln w="0">
            <a:noFill/>
          </a:ln>
        </p:spPr>
        <p:txBody>
          <a:bodyPr lIns="0" tIns="0" rIns="0" bIns="0" anchor="t">
            <a:normAutofit/>
          </a:bodyPr>
          <a:lstStyle/>
          <a:p>
            <a:pPr algn="l">
              <a:defRPr sz="825" b="1" i="0">
                <a:solidFill>
                  <a:srgbClr val="A33D2E"/>
                </a:solidFill>
                <a:latin typeface="Arial"/>
                <a:ea typeface="Arial"/>
                <a:cs typeface="Arial"/>
              </a:defRPr>
            </a:pPr>
            <a:r>
              <a:rPr sz="825" b="1" i="0">
                <a:solidFill>
                  <a:srgbClr val="A33D2E"/>
                </a:solidFill>
                <a:latin typeface="Arial"/>
                <a:ea typeface="Arial"/>
                <a:cs typeface="Arial"/>
              </a:rPr>
              <a:t>ANALYTICS</a:t>
            </a:r>
          </a:p>
        </p:txBody>
      </p:sp>
      <p:sp>
        <p:nvSpPr>
          <p:cNvPr id="13" name="Rectangle 12">
            <a:extLst>
              <a:ext uri="{FF2B5EF4-FFF2-40B4-BE49-F238E27FC236}">
                <a16:creationId xmlns:a16="http://schemas.microsoft.com/office/drawing/2014/main" id="{05C4F12E-57F2-4F32-BAB7-2E3C520FEFA3}"/>
              </a:ext>
            </a:extLst>
          </p:cNvPr>
          <p:cNvSpPr>
            <a:spLocks noGrp="1"/>
          </p:cNvSpPr>
          <p:nvPr/>
        </p:nvSpPr>
        <p:spPr>
          <a:xfrm>
            <a:off x="4743450" y="2352675"/>
            <a:ext cx="2705100" cy="361950"/>
          </a:xfrm>
          <a:prstGeom prst="rect">
            <a:avLst/>
          </a:prstGeom>
          <a:noFill/>
          <a:ln w="0">
            <a:noFill/>
          </a:ln>
        </p:spPr>
        <p:txBody>
          <a:bodyPr lIns="0" tIns="0" rIns="0" bIns="0" anchor="t">
            <a:normAutofit/>
          </a:bodyPr>
          <a:lstStyle/>
          <a:p>
            <a:pPr algn="l">
              <a:defRPr sz="1875" b="1" i="0">
                <a:solidFill>
                  <a:srgbClr val="1A1A1A"/>
                </a:solidFill>
                <a:latin typeface="Arial"/>
                <a:ea typeface="Arial"/>
                <a:cs typeface="Arial"/>
              </a:defRPr>
            </a:pPr>
            <a:r>
              <a:rPr sz="1875" b="1" i="0">
                <a:solidFill>
                  <a:srgbClr val="1A1A1A"/>
                </a:solidFill>
                <a:latin typeface="Arial"/>
                <a:ea typeface="Arial"/>
                <a:cs typeface="Arial"/>
              </a:rPr>
              <a:t>Research services</a:t>
            </a:r>
          </a:p>
        </p:txBody>
      </p:sp>
      <p:sp>
        <p:nvSpPr>
          <p:cNvPr id="14" name="Rectangle 13">
            <a:extLst>
              <a:ext uri="{FF2B5EF4-FFF2-40B4-BE49-F238E27FC236}">
                <a16:creationId xmlns:a16="http://schemas.microsoft.com/office/drawing/2014/main" id="{2F4BFBC8-F66F-444E-AE03-9A284FB3F94B}"/>
              </a:ext>
            </a:extLst>
          </p:cNvPr>
          <p:cNvSpPr>
            <a:spLocks noGrp="1"/>
          </p:cNvSpPr>
          <p:nvPr/>
        </p:nvSpPr>
        <p:spPr>
          <a:xfrm>
            <a:off x="4743450" y="2876550"/>
            <a:ext cx="2705100" cy="495300"/>
          </a:xfrm>
          <a:prstGeom prst="rect">
            <a:avLst/>
          </a:prstGeom>
          <a:noFill/>
          <a:ln w="0">
            <a:noFill/>
          </a:ln>
        </p:spPr>
        <p:txBody>
          <a:bodyPr lIns="0" tIns="0" rIns="0" bIns="0" anchor="t">
            <a:normAutofit/>
          </a:bodyPr>
          <a:lstStyle/>
          <a:p>
            <a:pPr algn="l">
              <a:defRPr sz="1200" b="0" i="0">
                <a:solidFill>
                  <a:srgbClr val="555555"/>
                </a:solidFill>
                <a:latin typeface="Arial"/>
                <a:ea typeface="Arial"/>
                <a:cs typeface="Arial"/>
              </a:defRPr>
            </a:pPr>
            <a:r>
              <a:rPr sz="1200" b="0" i="0">
                <a:solidFill>
                  <a:srgbClr val="555555"/>
                </a:solidFill>
                <a:latin typeface="Arial"/>
                <a:ea typeface="Arial"/>
                <a:cs typeface="Arial"/>
              </a:rPr>
              <a:t>Wallet scoring, probability calibration, forecasting and scenarios</a:t>
            </a:r>
          </a:p>
        </p:txBody>
      </p:sp>
      <p:sp>
        <p:nvSpPr>
          <p:cNvPr id="15" name="Rectangle 14">
            <a:extLst>
              <a:ext uri="{FF2B5EF4-FFF2-40B4-BE49-F238E27FC236}">
                <a16:creationId xmlns:a16="http://schemas.microsoft.com/office/drawing/2014/main" id="{7DFFD4F7-412B-4BCC-8489-91831713BE1A}"/>
              </a:ext>
            </a:extLst>
          </p:cNvPr>
          <p:cNvSpPr>
            <a:spLocks noGrp="1"/>
          </p:cNvSpPr>
          <p:nvPr/>
        </p:nvSpPr>
        <p:spPr>
          <a:xfrm>
            <a:off x="8553450" y="1828800"/>
            <a:ext cx="3028950" cy="1685925"/>
          </a:xfrm>
          <a:prstGeom prst="rect">
            <a:avLst/>
          </a:prstGeom>
          <a:solidFill>
            <a:srgbClr val="FFFFFF"/>
          </a:solidFill>
          <a:ln w="14288">
            <a:solidFill>
              <a:srgbClr val="1A1A1A"/>
            </a:solidFill>
            <a:prstDash val="solid"/>
          </a:ln>
        </p:spPr>
        <p:txBody>
          <a:bodyPr/>
          <a:lstStyle/>
          <a:p>
            <a:endParaRPr lang="en-US"/>
          </a:p>
        </p:txBody>
      </p:sp>
      <p:sp>
        <p:nvSpPr>
          <p:cNvPr id="16" name="Rectangle 15">
            <a:extLst>
              <a:ext uri="{FF2B5EF4-FFF2-40B4-BE49-F238E27FC236}">
                <a16:creationId xmlns:a16="http://schemas.microsoft.com/office/drawing/2014/main" id="{3B7D9D4D-3DD5-449F-9C39-145205C3AC7D}"/>
              </a:ext>
            </a:extLst>
          </p:cNvPr>
          <p:cNvSpPr>
            <a:spLocks noGrp="1"/>
          </p:cNvSpPr>
          <p:nvPr/>
        </p:nvSpPr>
        <p:spPr>
          <a:xfrm>
            <a:off x="8782050" y="2038350"/>
            <a:ext cx="1143000" cy="190500"/>
          </a:xfrm>
          <a:prstGeom prst="rect">
            <a:avLst/>
          </a:prstGeom>
          <a:noFill/>
          <a:ln w="0">
            <a:noFill/>
          </a:ln>
        </p:spPr>
        <p:txBody>
          <a:bodyPr lIns="0" tIns="0" rIns="0" bIns="0" anchor="t">
            <a:normAutofit/>
          </a:bodyPr>
          <a:lstStyle/>
          <a:p>
            <a:pPr algn="l">
              <a:defRPr sz="825" b="1" i="0">
                <a:solidFill>
                  <a:srgbClr val="A33D2E"/>
                </a:solidFill>
                <a:latin typeface="Arial"/>
                <a:ea typeface="Arial"/>
                <a:cs typeface="Arial"/>
              </a:defRPr>
            </a:pPr>
            <a:r>
              <a:rPr sz="825" b="1" i="0">
                <a:solidFill>
                  <a:srgbClr val="A33D2E"/>
                </a:solidFill>
                <a:latin typeface="Arial"/>
                <a:ea typeface="Arial"/>
                <a:cs typeface="Arial"/>
              </a:rPr>
              <a:t>DELIVERY</a:t>
            </a:r>
          </a:p>
        </p:txBody>
      </p:sp>
      <p:sp>
        <p:nvSpPr>
          <p:cNvPr id="17" name="Rectangle 16">
            <a:extLst>
              <a:ext uri="{FF2B5EF4-FFF2-40B4-BE49-F238E27FC236}">
                <a16:creationId xmlns:a16="http://schemas.microsoft.com/office/drawing/2014/main" id="{FB90657F-0748-4037-905E-2878A8410D12}"/>
              </a:ext>
            </a:extLst>
          </p:cNvPr>
          <p:cNvSpPr>
            <a:spLocks noGrp="1"/>
          </p:cNvSpPr>
          <p:nvPr/>
        </p:nvSpPr>
        <p:spPr>
          <a:xfrm>
            <a:off x="8782050" y="2352675"/>
            <a:ext cx="2571750" cy="361950"/>
          </a:xfrm>
          <a:prstGeom prst="rect">
            <a:avLst/>
          </a:prstGeom>
          <a:noFill/>
          <a:ln w="0">
            <a:noFill/>
          </a:ln>
        </p:spPr>
        <p:txBody>
          <a:bodyPr lIns="0" tIns="0" rIns="0" bIns="0" anchor="t">
            <a:normAutofit fontScale="90950"/>
          </a:bodyPr>
          <a:lstStyle/>
          <a:p>
            <a:pPr algn="l">
              <a:defRPr sz="1875" b="1" i="0">
                <a:solidFill>
                  <a:srgbClr val="1A1A1A"/>
                </a:solidFill>
                <a:latin typeface="Arial"/>
                <a:ea typeface="Arial"/>
                <a:cs typeface="Arial"/>
              </a:defRPr>
            </a:pPr>
            <a:r>
              <a:rPr sz="1875" b="1" i="0">
                <a:solidFill>
                  <a:srgbClr val="1A1A1A"/>
                </a:solidFill>
                <a:latin typeface="Arial"/>
                <a:ea typeface="Arial"/>
                <a:cs typeface="Arial"/>
              </a:rPr>
              <a:t>Dashboard and assistant</a:t>
            </a:r>
          </a:p>
        </p:txBody>
      </p:sp>
      <p:sp>
        <p:nvSpPr>
          <p:cNvPr id="18" name="Rectangle 17">
            <a:extLst>
              <a:ext uri="{FF2B5EF4-FFF2-40B4-BE49-F238E27FC236}">
                <a16:creationId xmlns:a16="http://schemas.microsoft.com/office/drawing/2014/main" id="{FDFA64F4-0B7C-4DCF-9E5C-96EACFFBBB81}"/>
              </a:ext>
            </a:extLst>
          </p:cNvPr>
          <p:cNvSpPr>
            <a:spLocks noGrp="1"/>
          </p:cNvSpPr>
          <p:nvPr/>
        </p:nvSpPr>
        <p:spPr>
          <a:xfrm>
            <a:off x="8782050" y="2876550"/>
            <a:ext cx="2571750" cy="495300"/>
          </a:xfrm>
          <a:prstGeom prst="rect">
            <a:avLst/>
          </a:prstGeom>
          <a:noFill/>
          <a:ln w="0">
            <a:noFill/>
          </a:ln>
        </p:spPr>
        <p:txBody>
          <a:bodyPr lIns="0" tIns="0" rIns="0" bIns="0" anchor="t">
            <a:normAutofit/>
          </a:bodyPr>
          <a:lstStyle/>
          <a:p>
            <a:pPr algn="l">
              <a:defRPr sz="1200" b="0" i="0">
                <a:solidFill>
                  <a:srgbClr val="555555"/>
                </a:solidFill>
                <a:latin typeface="Arial"/>
                <a:ea typeface="Arial"/>
                <a:cs typeface="Arial"/>
              </a:defRPr>
            </a:pPr>
            <a:r>
              <a:rPr sz="1200" b="0" i="0">
                <a:solidFill>
                  <a:srgbClr val="555555"/>
                </a:solidFill>
                <a:latin typeface="Arial"/>
                <a:ea typeface="Arial"/>
                <a:cs typeface="Arial"/>
              </a:rPr>
              <a:t>Validated APIs, saved runs, evidence links and research reports</a:t>
            </a:r>
          </a:p>
        </p:txBody>
      </p:sp>
      <p:sp>
        <p:nvSpPr>
          <p:cNvPr id="19" name="Rectangle 18">
            <a:extLst>
              <a:ext uri="{FF2B5EF4-FFF2-40B4-BE49-F238E27FC236}">
                <a16:creationId xmlns:a16="http://schemas.microsoft.com/office/drawing/2014/main" id="{E9951F22-F1CB-4F67-8110-F949398B956C}"/>
              </a:ext>
            </a:extLst>
          </p:cNvPr>
          <p:cNvSpPr>
            <a:spLocks noGrp="1"/>
          </p:cNvSpPr>
          <p:nvPr/>
        </p:nvSpPr>
        <p:spPr>
          <a:xfrm>
            <a:off x="3781425" y="2400300"/>
            <a:ext cx="590550" cy="609600"/>
          </a:xfrm>
          <a:prstGeom prst="rect">
            <a:avLst/>
          </a:prstGeom>
          <a:noFill/>
          <a:ln w="0">
            <a:noFill/>
          </a:ln>
        </p:spPr>
        <p:txBody>
          <a:bodyPr lIns="0" tIns="0" rIns="0" bIns="0" anchor="t">
            <a:normAutofit fontScale="98765"/>
          </a:bodyPr>
          <a:lstStyle/>
          <a:p>
            <a:pPr algn="ctr">
              <a:defRPr sz="4050" b="1" i="0">
                <a:solidFill>
                  <a:srgbClr val="A33D2E"/>
                </a:solidFill>
                <a:latin typeface="Arial"/>
                <a:ea typeface="Arial"/>
                <a:cs typeface="Arial"/>
              </a:defRPr>
            </a:pPr>
            <a:r>
              <a:rPr sz="4050" b="1" i="0">
                <a:solidFill>
                  <a:srgbClr val="A33D2E"/>
                </a:solidFill>
                <a:latin typeface="Arial"/>
                <a:ea typeface="Arial"/>
                <a:cs typeface="Arial"/>
              </a:rPr>
              <a:t>›</a:t>
            </a:r>
          </a:p>
        </p:txBody>
      </p:sp>
      <p:sp>
        <p:nvSpPr>
          <p:cNvPr id="20" name="Rectangle 19">
            <a:extLst>
              <a:ext uri="{FF2B5EF4-FFF2-40B4-BE49-F238E27FC236}">
                <a16:creationId xmlns:a16="http://schemas.microsoft.com/office/drawing/2014/main" id="{3419FFD4-8710-48F5-B6F2-A851BF631695}"/>
              </a:ext>
            </a:extLst>
          </p:cNvPr>
          <p:cNvSpPr>
            <a:spLocks noGrp="1"/>
          </p:cNvSpPr>
          <p:nvPr/>
        </p:nvSpPr>
        <p:spPr>
          <a:xfrm>
            <a:off x="7820025" y="2400300"/>
            <a:ext cx="590550" cy="609600"/>
          </a:xfrm>
          <a:prstGeom prst="rect">
            <a:avLst/>
          </a:prstGeom>
          <a:noFill/>
          <a:ln w="0">
            <a:noFill/>
          </a:ln>
        </p:spPr>
        <p:txBody>
          <a:bodyPr lIns="0" tIns="0" rIns="0" bIns="0" anchor="t">
            <a:normAutofit fontScale="98765"/>
          </a:bodyPr>
          <a:lstStyle/>
          <a:p>
            <a:pPr algn="ctr">
              <a:defRPr sz="4050" b="1" i="0">
                <a:solidFill>
                  <a:srgbClr val="A33D2E"/>
                </a:solidFill>
                <a:latin typeface="Arial"/>
                <a:ea typeface="Arial"/>
                <a:cs typeface="Arial"/>
              </a:defRPr>
            </a:pPr>
            <a:r>
              <a:rPr sz="4050" b="1" i="0">
                <a:solidFill>
                  <a:srgbClr val="A33D2E"/>
                </a:solidFill>
                <a:latin typeface="Arial"/>
                <a:ea typeface="Arial"/>
                <a:cs typeface="Arial"/>
              </a:rPr>
              <a:t>›</a:t>
            </a:r>
          </a:p>
        </p:txBody>
      </p:sp>
      <p:sp>
        <p:nvSpPr>
          <p:cNvPr id="21" name="Straight Connector 20">
            <a:extLst>
              <a:ext uri="{FF2B5EF4-FFF2-40B4-BE49-F238E27FC236}">
                <a16:creationId xmlns:a16="http://schemas.microsoft.com/office/drawing/2014/main" id="{CC645207-52C2-4FA6-95E5-5D2956F161B3}"/>
              </a:ext>
            </a:extLst>
          </p:cNvPr>
          <p:cNvSpPr>
            <a:spLocks noGrp="1"/>
          </p:cNvSpPr>
          <p:nvPr/>
        </p:nvSpPr>
        <p:spPr>
          <a:xfrm>
            <a:off x="609600" y="4010025"/>
            <a:ext cx="3352800" cy="0"/>
          </a:xfrm>
          <a:prstGeom prst="line">
            <a:avLst/>
          </a:prstGeom>
          <a:noFill/>
          <a:ln w="14288">
            <a:solidFill>
              <a:srgbClr val="1A1A1A"/>
            </a:solidFill>
            <a:prstDash val="solid"/>
          </a:ln>
        </p:spPr>
        <p:txBody>
          <a:bodyPr/>
          <a:lstStyle/>
          <a:p>
            <a:endParaRPr lang="en-US"/>
          </a:p>
        </p:txBody>
      </p:sp>
      <p:sp>
        <p:nvSpPr>
          <p:cNvPr id="22" name="Rectangle 21">
            <a:extLst>
              <a:ext uri="{FF2B5EF4-FFF2-40B4-BE49-F238E27FC236}">
                <a16:creationId xmlns:a16="http://schemas.microsoft.com/office/drawing/2014/main" id="{936F258D-0109-4E69-8F17-8B9FA43D98A0}"/>
              </a:ext>
            </a:extLst>
          </p:cNvPr>
          <p:cNvSpPr>
            <a:spLocks noGrp="1"/>
          </p:cNvSpPr>
          <p:nvPr/>
        </p:nvSpPr>
        <p:spPr>
          <a:xfrm>
            <a:off x="609600" y="4171950"/>
            <a:ext cx="419100" cy="438150"/>
          </a:xfrm>
          <a:prstGeom prst="rect">
            <a:avLst/>
          </a:prstGeom>
          <a:noFill/>
          <a:ln w="0">
            <a:noFill/>
          </a:ln>
        </p:spPr>
        <p:txBody>
          <a:bodyPr lIns="0" tIns="0" rIns="0" bIns="0" anchor="t">
            <a:normAutofit/>
          </a:bodyPr>
          <a:lstStyle/>
          <a:p>
            <a:pPr algn="l">
              <a:defRPr sz="2325" b="1" i="0">
                <a:solidFill>
                  <a:srgbClr val="A33D2E"/>
                </a:solidFill>
                <a:latin typeface="Arial"/>
                <a:ea typeface="Arial"/>
                <a:cs typeface="Arial"/>
              </a:defRPr>
            </a:pPr>
            <a:r>
              <a:rPr sz="2325" b="1" i="0">
                <a:solidFill>
                  <a:srgbClr val="A33D2E"/>
                </a:solidFill>
                <a:latin typeface="Arial"/>
                <a:ea typeface="Arial"/>
                <a:cs typeface="Arial"/>
              </a:rPr>
              <a:t>1</a:t>
            </a:r>
          </a:p>
        </p:txBody>
      </p:sp>
      <p:sp>
        <p:nvSpPr>
          <p:cNvPr id="23" name="Rectangle 22">
            <a:extLst>
              <a:ext uri="{FF2B5EF4-FFF2-40B4-BE49-F238E27FC236}">
                <a16:creationId xmlns:a16="http://schemas.microsoft.com/office/drawing/2014/main" id="{F8AD413E-0367-4438-930A-9A422F20FBBA}"/>
              </a:ext>
            </a:extLst>
          </p:cNvPr>
          <p:cNvSpPr>
            <a:spLocks noGrp="1"/>
          </p:cNvSpPr>
          <p:nvPr/>
        </p:nvSpPr>
        <p:spPr>
          <a:xfrm>
            <a:off x="1085850" y="4171950"/>
            <a:ext cx="2876550" cy="266700"/>
          </a:xfrm>
          <a:prstGeom prst="rect">
            <a:avLst/>
          </a:prstGeom>
          <a:noFill/>
          <a:ln w="0">
            <a:noFill/>
          </a:ln>
        </p:spPr>
        <p:txBody>
          <a:bodyPr lIns="0" tIns="0" rIns="0" bIns="0" anchor="t">
            <a:normAutofit/>
          </a:bodyPr>
          <a:lstStyle/>
          <a:p>
            <a:pPr algn="l">
              <a:defRPr sz="1425" b="1" i="0">
                <a:solidFill>
                  <a:srgbClr val="1A1A1A"/>
                </a:solidFill>
                <a:latin typeface="Arial"/>
                <a:ea typeface="Arial"/>
                <a:cs typeface="Arial"/>
              </a:defRPr>
            </a:pPr>
            <a:r>
              <a:rPr sz="1425" b="1" i="0">
                <a:solidFill>
                  <a:srgbClr val="1A1A1A"/>
                </a:solidFill>
                <a:latin typeface="Arial"/>
                <a:ea typeface="Arial"/>
                <a:cs typeface="Arial"/>
              </a:rPr>
              <a:t>Event research agent</a:t>
            </a:r>
          </a:p>
        </p:txBody>
      </p:sp>
      <p:sp>
        <p:nvSpPr>
          <p:cNvPr id="24" name="Rectangle 23">
            <a:extLst>
              <a:ext uri="{FF2B5EF4-FFF2-40B4-BE49-F238E27FC236}">
                <a16:creationId xmlns:a16="http://schemas.microsoft.com/office/drawing/2014/main" id="{B022EAB3-B071-497C-851D-F01631E74F08}"/>
              </a:ext>
            </a:extLst>
          </p:cNvPr>
          <p:cNvSpPr>
            <a:spLocks noGrp="1"/>
          </p:cNvSpPr>
          <p:nvPr/>
        </p:nvSpPr>
        <p:spPr>
          <a:xfrm>
            <a:off x="1085850" y="4533900"/>
            <a:ext cx="2876550" cy="495300"/>
          </a:xfrm>
          <a:prstGeom prst="rect">
            <a:avLst/>
          </a:prstGeom>
          <a:noFill/>
          <a:ln w="0">
            <a:noFill/>
          </a:ln>
        </p:spPr>
        <p:txBody>
          <a:bodyPr lIns="0" tIns="0" rIns="0" bIns="0" anchor="t">
            <a:normAutofit/>
          </a:bodyPr>
          <a:lstStyle/>
          <a:p>
            <a:pPr algn="l">
              <a:defRPr sz="1125" b="0" i="0">
                <a:solidFill>
                  <a:srgbClr val="555555"/>
                </a:solidFill>
                <a:latin typeface="Arial"/>
                <a:ea typeface="Arial"/>
                <a:cs typeface="Arial"/>
              </a:defRPr>
            </a:pPr>
            <a:r>
              <a:rPr sz="1125" b="0" i="0">
                <a:solidFill>
                  <a:srgbClr val="555555"/>
                </a:solidFill>
                <a:latin typeface="Arial"/>
                <a:ea typeface="Arial"/>
                <a:cs typeface="Arial"/>
              </a:rPr>
              <a:t>Retrieves evidence and proposes asset mappings for review.</a:t>
            </a:r>
          </a:p>
        </p:txBody>
      </p:sp>
      <p:sp>
        <p:nvSpPr>
          <p:cNvPr id="25" name="Straight Connector 24">
            <a:extLst>
              <a:ext uri="{FF2B5EF4-FFF2-40B4-BE49-F238E27FC236}">
                <a16:creationId xmlns:a16="http://schemas.microsoft.com/office/drawing/2014/main" id="{89373F15-DC1A-450D-8D3F-1F8F6663DAB5}"/>
              </a:ext>
            </a:extLst>
          </p:cNvPr>
          <p:cNvSpPr>
            <a:spLocks noGrp="1"/>
          </p:cNvSpPr>
          <p:nvPr/>
        </p:nvSpPr>
        <p:spPr>
          <a:xfrm>
            <a:off x="4267200" y="4010025"/>
            <a:ext cx="3352800" cy="0"/>
          </a:xfrm>
          <a:prstGeom prst="line">
            <a:avLst/>
          </a:prstGeom>
          <a:noFill/>
          <a:ln w="14288">
            <a:solidFill>
              <a:srgbClr val="1A1A1A"/>
            </a:solidFill>
            <a:prstDash val="solid"/>
          </a:ln>
        </p:spPr>
        <p:txBody>
          <a:bodyPr/>
          <a:lstStyle/>
          <a:p>
            <a:endParaRPr lang="en-US"/>
          </a:p>
        </p:txBody>
      </p:sp>
      <p:sp>
        <p:nvSpPr>
          <p:cNvPr id="26" name="Rectangle 25">
            <a:extLst>
              <a:ext uri="{FF2B5EF4-FFF2-40B4-BE49-F238E27FC236}">
                <a16:creationId xmlns:a16="http://schemas.microsoft.com/office/drawing/2014/main" id="{A793344C-2B0B-4EDF-BF86-0567CD0C8C19}"/>
              </a:ext>
            </a:extLst>
          </p:cNvPr>
          <p:cNvSpPr>
            <a:spLocks noGrp="1"/>
          </p:cNvSpPr>
          <p:nvPr/>
        </p:nvSpPr>
        <p:spPr>
          <a:xfrm>
            <a:off x="4267200" y="4171950"/>
            <a:ext cx="419100" cy="438150"/>
          </a:xfrm>
          <a:prstGeom prst="rect">
            <a:avLst/>
          </a:prstGeom>
          <a:noFill/>
          <a:ln w="0">
            <a:noFill/>
          </a:ln>
        </p:spPr>
        <p:txBody>
          <a:bodyPr lIns="0" tIns="0" rIns="0" bIns="0" anchor="t">
            <a:normAutofit/>
          </a:bodyPr>
          <a:lstStyle/>
          <a:p>
            <a:pPr algn="l">
              <a:defRPr sz="2325" b="1" i="0">
                <a:solidFill>
                  <a:srgbClr val="A33D2E"/>
                </a:solidFill>
                <a:latin typeface="Arial"/>
                <a:ea typeface="Arial"/>
                <a:cs typeface="Arial"/>
              </a:defRPr>
            </a:pPr>
            <a:r>
              <a:rPr sz="2325" b="1" i="0">
                <a:solidFill>
                  <a:srgbClr val="A33D2E"/>
                </a:solidFill>
                <a:latin typeface="Arial"/>
                <a:ea typeface="Arial"/>
                <a:cs typeface="Arial"/>
              </a:rPr>
              <a:t>2</a:t>
            </a:r>
          </a:p>
        </p:txBody>
      </p:sp>
      <p:sp>
        <p:nvSpPr>
          <p:cNvPr id="27" name="Rectangle 26">
            <a:extLst>
              <a:ext uri="{FF2B5EF4-FFF2-40B4-BE49-F238E27FC236}">
                <a16:creationId xmlns:a16="http://schemas.microsoft.com/office/drawing/2014/main" id="{5E5A8CB7-4254-4FBD-8A0B-42567C1AE640}"/>
              </a:ext>
            </a:extLst>
          </p:cNvPr>
          <p:cNvSpPr>
            <a:spLocks noGrp="1"/>
          </p:cNvSpPr>
          <p:nvPr/>
        </p:nvSpPr>
        <p:spPr>
          <a:xfrm>
            <a:off x="4743450" y="4171950"/>
            <a:ext cx="2876550" cy="266700"/>
          </a:xfrm>
          <a:prstGeom prst="rect">
            <a:avLst/>
          </a:prstGeom>
          <a:noFill/>
          <a:ln w="0">
            <a:noFill/>
          </a:ln>
        </p:spPr>
        <p:txBody>
          <a:bodyPr lIns="0" tIns="0" rIns="0" bIns="0" anchor="t">
            <a:normAutofit/>
          </a:bodyPr>
          <a:lstStyle/>
          <a:p>
            <a:pPr algn="l">
              <a:defRPr sz="1425" b="1" i="0">
                <a:solidFill>
                  <a:srgbClr val="1A1A1A"/>
                </a:solidFill>
                <a:latin typeface="Arial"/>
                <a:ea typeface="Arial"/>
                <a:cs typeface="Arial"/>
              </a:defRPr>
            </a:pPr>
            <a:r>
              <a:rPr sz="1425" b="1" i="0">
                <a:solidFill>
                  <a:srgbClr val="1A1A1A"/>
                </a:solidFill>
                <a:latin typeface="Arial"/>
                <a:ea typeface="Arial"/>
                <a:cs typeface="Arial"/>
              </a:rPr>
              <a:t>Analysis coordinator</a:t>
            </a:r>
          </a:p>
        </p:txBody>
      </p:sp>
      <p:sp>
        <p:nvSpPr>
          <p:cNvPr id="28" name="Rectangle 27">
            <a:extLst>
              <a:ext uri="{FF2B5EF4-FFF2-40B4-BE49-F238E27FC236}">
                <a16:creationId xmlns:a16="http://schemas.microsoft.com/office/drawing/2014/main" id="{B70705BC-58E9-4195-BBF3-57B45D3D1528}"/>
              </a:ext>
            </a:extLst>
          </p:cNvPr>
          <p:cNvSpPr>
            <a:spLocks noGrp="1"/>
          </p:cNvSpPr>
          <p:nvPr/>
        </p:nvSpPr>
        <p:spPr>
          <a:xfrm>
            <a:off x="4743450" y="4533900"/>
            <a:ext cx="2876550" cy="495300"/>
          </a:xfrm>
          <a:prstGeom prst="rect">
            <a:avLst/>
          </a:prstGeom>
          <a:noFill/>
          <a:ln w="0">
            <a:noFill/>
          </a:ln>
        </p:spPr>
        <p:txBody>
          <a:bodyPr lIns="0" tIns="0" rIns="0" bIns="0" anchor="t">
            <a:normAutofit/>
          </a:bodyPr>
          <a:lstStyle/>
          <a:p>
            <a:pPr algn="l">
              <a:defRPr sz="1125" b="0" i="0">
                <a:solidFill>
                  <a:srgbClr val="555555"/>
                </a:solidFill>
                <a:latin typeface="Arial"/>
                <a:ea typeface="Arial"/>
                <a:cs typeface="Arial"/>
              </a:defRPr>
            </a:pPr>
            <a:r>
              <a:rPr sz="1125" b="0" i="0">
                <a:solidFill>
                  <a:srgbClr val="555555"/>
                </a:solidFill>
                <a:latin typeface="Arial"/>
                <a:ea typeface="Arial"/>
                <a:cs typeface="Arial"/>
              </a:rPr>
              <a:t>Validates inputs and submits typed calculation requests.</a:t>
            </a:r>
          </a:p>
        </p:txBody>
      </p:sp>
      <p:sp>
        <p:nvSpPr>
          <p:cNvPr id="29" name="Straight Connector 28">
            <a:extLst>
              <a:ext uri="{FF2B5EF4-FFF2-40B4-BE49-F238E27FC236}">
                <a16:creationId xmlns:a16="http://schemas.microsoft.com/office/drawing/2014/main" id="{405FF9A6-D71C-4A5F-A85B-0794ABD99DF7}"/>
              </a:ext>
            </a:extLst>
          </p:cNvPr>
          <p:cNvSpPr>
            <a:spLocks noGrp="1"/>
          </p:cNvSpPr>
          <p:nvPr/>
        </p:nvSpPr>
        <p:spPr>
          <a:xfrm>
            <a:off x="7924800" y="4010025"/>
            <a:ext cx="3352800" cy="0"/>
          </a:xfrm>
          <a:prstGeom prst="line">
            <a:avLst/>
          </a:prstGeom>
          <a:noFill/>
          <a:ln w="14288">
            <a:solidFill>
              <a:srgbClr val="1A1A1A"/>
            </a:solidFill>
            <a:prstDash val="solid"/>
          </a:ln>
        </p:spPr>
        <p:txBody>
          <a:bodyPr/>
          <a:lstStyle/>
          <a:p>
            <a:endParaRPr lang="en-US"/>
          </a:p>
        </p:txBody>
      </p:sp>
      <p:sp>
        <p:nvSpPr>
          <p:cNvPr id="30" name="Rectangle 29">
            <a:extLst>
              <a:ext uri="{FF2B5EF4-FFF2-40B4-BE49-F238E27FC236}">
                <a16:creationId xmlns:a16="http://schemas.microsoft.com/office/drawing/2014/main" id="{AA0B1390-2C41-45A6-8866-D61B20E5C72D}"/>
              </a:ext>
            </a:extLst>
          </p:cNvPr>
          <p:cNvSpPr>
            <a:spLocks noGrp="1"/>
          </p:cNvSpPr>
          <p:nvPr/>
        </p:nvSpPr>
        <p:spPr>
          <a:xfrm>
            <a:off x="7924800" y="4171950"/>
            <a:ext cx="419100" cy="438150"/>
          </a:xfrm>
          <a:prstGeom prst="rect">
            <a:avLst/>
          </a:prstGeom>
          <a:noFill/>
          <a:ln w="0">
            <a:noFill/>
          </a:ln>
        </p:spPr>
        <p:txBody>
          <a:bodyPr lIns="0" tIns="0" rIns="0" bIns="0" anchor="t">
            <a:normAutofit/>
          </a:bodyPr>
          <a:lstStyle/>
          <a:p>
            <a:pPr algn="l">
              <a:defRPr sz="2325" b="1" i="0">
                <a:solidFill>
                  <a:srgbClr val="A33D2E"/>
                </a:solidFill>
                <a:latin typeface="Arial"/>
                <a:ea typeface="Arial"/>
                <a:cs typeface="Arial"/>
              </a:defRPr>
            </a:pPr>
            <a:r>
              <a:rPr sz="2325" b="1" i="0">
                <a:solidFill>
                  <a:srgbClr val="A33D2E"/>
                </a:solidFill>
                <a:latin typeface="Arial"/>
                <a:ea typeface="Arial"/>
                <a:cs typeface="Arial"/>
              </a:rPr>
              <a:t>3</a:t>
            </a:r>
          </a:p>
        </p:txBody>
      </p:sp>
      <p:sp>
        <p:nvSpPr>
          <p:cNvPr id="31" name="Rectangle 30">
            <a:extLst>
              <a:ext uri="{FF2B5EF4-FFF2-40B4-BE49-F238E27FC236}">
                <a16:creationId xmlns:a16="http://schemas.microsoft.com/office/drawing/2014/main" id="{95459CA8-1AAF-4168-A5A9-D6FE4397E3AE}"/>
              </a:ext>
            </a:extLst>
          </p:cNvPr>
          <p:cNvSpPr>
            <a:spLocks noGrp="1"/>
          </p:cNvSpPr>
          <p:nvPr/>
        </p:nvSpPr>
        <p:spPr>
          <a:xfrm>
            <a:off x="8401050" y="4171950"/>
            <a:ext cx="2876550" cy="266700"/>
          </a:xfrm>
          <a:prstGeom prst="rect">
            <a:avLst/>
          </a:prstGeom>
          <a:noFill/>
          <a:ln w="0">
            <a:noFill/>
          </a:ln>
        </p:spPr>
        <p:txBody>
          <a:bodyPr lIns="0" tIns="0" rIns="0" bIns="0" anchor="t">
            <a:normAutofit/>
          </a:bodyPr>
          <a:lstStyle/>
          <a:p>
            <a:pPr algn="l">
              <a:defRPr sz="1425" b="1" i="0">
                <a:solidFill>
                  <a:srgbClr val="1A1A1A"/>
                </a:solidFill>
                <a:latin typeface="Arial"/>
                <a:ea typeface="Arial"/>
                <a:cs typeface="Arial"/>
              </a:defRPr>
            </a:pPr>
            <a:r>
              <a:rPr sz="1425" b="1" i="0">
                <a:solidFill>
                  <a:srgbClr val="1A1A1A"/>
                </a:solidFill>
                <a:latin typeface="Arial"/>
                <a:ea typeface="Arial"/>
                <a:cs typeface="Arial"/>
              </a:rPr>
              <a:t>Explanation agent</a:t>
            </a:r>
          </a:p>
        </p:txBody>
      </p:sp>
      <p:sp>
        <p:nvSpPr>
          <p:cNvPr id="32" name="Rectangle 31">
            <a:extLst>
              <a:ext uri="{FF2B5EF4-FFF2-40B4-BE49-F238E27FC236}">
                <a16:creationId xmlns:a16="http://schemas.microsoft.com/office/drawing/2014/main" id="{0D4C4C10-EB2B-4B5F-95DB-54F39B56580D}"/>
              </a:ext>
            </a:extLst>
          </p:cNvPr>
          <p:cNvSpPr>
            <a:spLocks noGrp="1"/>
          </p:cNvSpPr>
          <p:nvPr/>
        </p:nvSpPr>
        <p:spPr>
          <a:xfrm>
            <a:off x="8401050" y="4533900"/>
            <a:ext cx="2876550" cy="495300"/>
          </a:xfrm>
          <a:prstGeom prst="rect">
            <a:avLst/>
          </a:prstGeom>
          <a:noFill/>
          <a:ln w="0">
            <a:noFill/>
          </a:ln>
        </p:spPr>
        <p:txBody>
          <a:bodyPr lIns="0" tIns="0" rIns="0" bIns="0" anchor="t">
            <a:normAutofit/>
          </a:bodyPr>
          <a:lstStyle/>
          <a:p>
            <a:pPr algn="l">
              <a:defRPr sz="1125" b="0" i="0">
                <a:solidFill>
                  <a:srgbClr val="555555"/>
                </a:solidFill>
                <a:latin typeface="Arial"/>
                <a:ea typeface="Arial"/>
                <a:cs typeface="Arial"/>
              </a:defRPr>
            </a:pPr>
            <a:r>
              <a:rPr sz="1125" b="0" i="0">
                <a:solidFill>
                  <a:srgbClr val="555555"/>
                </a:solidFill>
                <a:latin typeface="Arial"/>
                <a:ea typeface="Arial"/>
                <a:cs typeface="Arial"/>
              </a:rPr>
              <a:t>Reads saved results and answers with source references.</a:t>
            </a:r>
          </a:p>
        </p:txBody>
      </p:sp>
      <p:sp>
        <p:nvSpPr>
          <p:cNvPr id="33" name="Rectangle 32">
            <a:extLst>
              <a:ext uri="{FF2B5EF4-FFF2-40B4-BE49-F238E27FC236}">
                <a16:creationId xmlns:a16="http://schemas.microsoft.com/office/drawing/2014/main" id="{2F547FFF-A797-49AA-BFEF-D08BAF314F9D}"/>
              </a:ext>
            </a:extLst>
          </p:cNvPr>
          <p:cNvSpPr>
            <a:spLocks noGrp="1"/>
          </p:cNvSpPr>
          <p:nvPr/>
        </p:nvSpPr>
        <p:spPr>
          <a:xfrm>
            <a:off x="2095500" y="5305425"/>
            <a:ext cx="8001000" cy="438150"/>
          </a:xfrm>
          <a:prstGeom prst="rect">
            <a:avLst/>
          </a:prstGeom>
          <a:solidFill>
            <a:srgbClr val="F3E6E1"/>
          </a:solidFill>
          <a:ln w="0">
            <a:solidFill>
              <a:srgbClr val="A33D2E"/>
            </a:solidFill>
            <a:prstDash val="solid"/>
          </a:ln>
        </p:spPr>
        <p:txBody>
          <a:bodyPr/>
          <a:lstStyle/>
          <a:p>
            <a:endParaRPr lang="en-US"/>
          </a:p>
        </p:txBody>
      </p:sp>
      <p:sp>
        <p:nvSpPr>
          <p:cNvPr id="34" name="Rectangle 33">
            <a:extLst>
              <a:ext uri="{FF2B5EF4-FFF2-40B4-BE49-F238E27FC236}">
                <a16:creationId xmlns:a16="http://schemas.microsoft.com/office/drawing/2014/main" id="{4DCED961-0DB3-45E2-99B7-520FCFF59302}"/>
              </a:ext>
            </a:extLst>
          </p:cNvPr>
          <p:cNvSpPr>
            <a:spLocks noGrp="1"/>
          </p:cNvSpPr>
          <p:nvPr/>
        </p:nvSpPr>
        <p:spPr>
          <a:xfrm>
            <a:off x="2286000" y="5419725"/>
            <a:ext cx="7620000" cy="228600"/>
          </a:xfrm>
          <a:prstGeom prst="rect">
            <a:avLst/>
          </a:prstGeom>
          <a:noFill/>
          <a:ln w="0">
            <a:noFill/>
          </a:ln>
        </p:spPr>
        <p:txBody>
          <a:bodyPr lIns="0" tIns="0" rIns="0" bIns="0" anchor="t">
            <a:normAutofit/>
          </a:bodyPr>
          <a:lstStyle/>
          <a:p>
            <a:pPr algn="ctr">
              <a:defRPr sz="1275" b="1" i="0">
                <a:solidFill>
                  <a:srgbClr val="173A5E"/>
                </a:solidFill>
                <a:latin typeface="Arial"/>
                <a:ea typeface="Arial"/>
                <a:cs typeface="Arial"/>
              </a:defRPr>
            </a:pPr>
            <a:r>
              <a:rPr sz="1275" b="1" i="0">
                <a:solidFill>
                  <a:srgbClr val="173A5E"/>
                </a:solidFill>
                <a:latin typeface="Arial"/>
                <a:ea typeface="Arial"/>
                <a:cs typeface="Arial"/>
              </a:rPr>
              <a:t>The assistant cannot change wallet eligibility, fitted models or saved numerical results.</a:t>
            </a:r>
          </a:p>
        </p:txBody>
      </p:sp>
    </p:spTree>
    <p:extLst>
      <p:ext uri="{BB962C8B-B14F-4D97-AF65-F5344CB8AC3E}">
        <p14:creationId xmlns:p14="http://schemas.microsoft.com/office/powerpoint/2010/main" val="8659222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3EEE5"/>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1468EF14-757B-445E-9A80-DA5121A83383}"/>
              </a:ext>
            </a:extLst>
          </p:cNvPr>
          <p:cNvSpPr>
            <a:spLocks noGrp="1"/>
          </p:cNvSpPr>
          <p:nvPr/>
        </p:nvSpPr>
        <p:spPr>
          <a:xfrm>
            <a:off x="609600" y="400050"/>
            <a:ext cx="7239000" cy="228600"/>
          </a:xfrm>
          <a:prstGeom prst="rect">
            <a:avLst/>
          </a:prstGeom>
          <a:noFill/>
          <a:ln w="0">
            <a:noFill/>
          </a:ln>
        </p:spPr>
        <p:txBody>
          <a:bodyPr lIns="0" tIns="0" rIns="0" bIns="0" anchor="t">
            <a:normAutofit/>
          </a:bodyPr>
          <a:lstStyle/>
          <a:p>
            <a:pPr algn="l">
              <a:defRPr sz="975" b="1" i="0">
                <a:solidFill>
                  <a:srgbClr val="A33D2E"/>
                </a:solidFill>
                <a:latin typeface="Arial"/>
                <a:ea typeface="Arial"/>
                <a:cs typeface="Arial"/>
              </a:defRPr>
            </a:pPr>
            <a:r>
              <a:rPr sz="975" b="1" i="0">
                <a:solidFill>
                  <a:srgbClr val="A33D2E"/>
                </a:solidFill>
                <a:latin typeface="Arial"/>
                <a:ea typeface="Arial"/>
                <a:cs typeface="Arial"/>
              </a:rPr>
              <a:t>PRODUCT EXPERIENCE</a:t>
            </a:r>
          </a:p>
        </p:txBody>
      </p:sp>
      <p:sp>
        <p:nvSpPr>
          <p:cNvPr id="2" name="Rectangle 1">
            <a:extLst>
              <a:ext uri="{FF2B5EF4-FFF2-40B4-BE49-F238E27FC236}">
                <a16:creationId xmlns:a16="http://schemas.microsoft.com/office/drawing/2014/main" id="{573B493A-EAAE-4974-B933-53406FC7C633}"/>
              </a:ext>
            </a:extLst>
          </p:cNvPr>
          <p:cNvSpPr>
            <a:spLocks noGrp="1"/>
          </p:cNvSpPr>
          <p:nvPr/>
        </p:nvSpPr>
        <p:spPr>
          <a:xfrm>
            <a:off x="609600" y="666750"/>
            <a:ext cx="10668000" cy="666750"/>
          </a:xfrm>
          <a:prstGeom prst="rect">
            <a:avLst/>
          </a:prstGeom>
          <a:noFill/>
          <a:ln w="0">
            <a:noFill/>
          </a:ln>
        </p:spPr>
        <p:txBody>
          <a:bodyPr lIns="0" tIns="0" rIns="0" bIns="0" anchor="t">
            <a:normAutofit/>
          </a:bodyPr>
          <a:lstStyle/>
          <a:p>
            <a:pPr algn="l">
              <a:defRPr sz="3525" b="1" i="0">
                <a:solidFill>
                  <a:srgbClr val="1A1A1A"/>
                </a:solidFill>
                <a:latin typeface="Arial"/>
                <a:ea typeface="Arial"/>
                <a:cs typeface="Arial"/>
              </a:defRPr>
            </a:pPr>
            <a:r>
              <a:rPr sz="3525" b="1" i="0">
                <a:solidFill>
                  <a:srgbClr val="1A1A1A"/>
                </a:solidFill>
                <a:latin typeface="Arial"/>
                <a:ea typeface="Arial"/>
                <a:cs typeface="Arial"/>
              </a:rPr>
              <a:t>Evidence and scenarios in one research journey</a:t>
            </a:r>
          </a:p>
        </p:txBody>
      </p:sp>
      <p:sp>
        <p:nvSpPr>
          <p:cNvPr id="3" name="Straight Connector 2">
            <a:extLst>
              <a:ext uri="{FF2B5EF4-FFF2-40B4-BE49-F238E27FC236}">
                <a16:creationId xmlns:a16="http://schemas.microsoft.com/office/drawing/2014/main" id="{70D67AAD-2A5A-4855-8F84-5FD594BC976C}"/>
              </a:ext>
            </a:extLst>
          </p:cNvPr>
          <p:cNvSpPr>
            <a:spLocks noGrp="1"/>
          </p:cNvSpPr>
          <p:nvPr/>
        </p:nvSpPr>
        <p:spPr>
          <a:xfrm>
            <a:off x="609600" y="1428750"/>
            <a:ext cx="10972800" cy="0"/>
          </a:xfrm>
          <a:prstGeom prst="line">
            <a:avLst/>
          </a:prstGeom>
          <a:noFill/>
          <a:ln w="9525">
            <a:solidFill>
              <a:srgbClr val="CEC8BE"/>
            </a:solidFill>
            <a:prstDash val="solid"/>
          </a:ln>
        </p:spPr>
        <p:txBody>
          <a:bodyPr/>
          <a:lstStyle/>
          <a:p>
            <a:endParaRPr lang="en-US"/>
          </a:p>
        </p:txBody>
      </p:sp>
      <p:sp>
        <p:nvSpPr>
          <p:cNvPr id="4" name="Straight Connector 3">
            <a:extLst>
              <a:ext uri="{FF2B5EF4-FFF2-40B4-BE49-F238E27FC236}">
                <a16:creationId xmlns:a16="http://schemas.microsoft.com/office/drawing/2014/main" id="{173AE436-B3EA-49DE-B87A-2567CA17C48D}"/>
              </a:ext>
            </a:extLst>
          </p:cNvPr>
          <p:cNvSpPr>
            <a:spLocks noGrp="1"/>
          </p:cNvSpPr>
          <p:nvPr/>
        </p:nvSpPr>
        <p:spPr>
          <a:xfrm>
            <a:off x="609600" y="6438900"/>
            <a:ext cx="10972800" cy="0"/>
          </a:xfrm>
          <a:prstGeom prst="line">
            <a:avLst/>
          </a:prstGeom>
          <a:noFill/>
          <a:ln w="9525">
            <a:solidFill>
              <a:srgbClr val="CEC8BE"/>
            </a:solidFill>
            <a:prstDash val="solid"/>
          </a:ln>
        </p:spPr>
        <p:txBody>
          <a:bodyPr/>
          <a:lstStyle/>
          <a:p>
            <a:endParaRPr lang="en-US"/>
          </a:p>
        </p:txBody>
      </p:sp>
      <p:sp>
        <p:nvSpPr>
          <p:cNvPr id="5" name="Rectangle 4">
            <a:extLst>
              <a:ext uri="{FF2B5EF4-FFF2-40B4-BE49-F238E27FC236}">
                <a16:creationId xmlns:a16="http://schemas.microsoft.com/office/drawing/2014/main" id="{DC2F3CEA-6110-401D-94D6-469059D56BDC}"/>
              </a:ext>
            </a:extLst>
          </p:cNvPr>
          <p:cNvSpPr>
            <a:spLocks noGrp="1"/>
          </p:cNvSpPr>
          <p:nvPr/>
        </p:nvSpPr>
        <p:spPr>
          <a:xfrm>
            <a:off x="609600" y="6543675"/>
            <a:ext cx="6667500" cy="152400"/>
          </a:xfrm>
          <a:prstGeom prst="rect">
            <a:avLst/>
          </a:prstGeom>
          <a:noFill/>
          <a:ln w="0">
            <a:noFill/>
          </a:ln>
        </p:spPr>
        <p:txBody>
          <a:bodyPr lIns="0" tIns="0" rIns="0" bIns="0" anchor="t">
            <a:normAutofit/>
          </a:bodyPr>
          <a:lstStyle/>
          <a:p>
            <a:pPr algn="l">
              <a:defRPr sz="750" b="1" i="0">
                <a:solidFill>
                  <a:srgbClr val="8E887F"/>
                </a:solidFill>
                <a:latin typeface="Arial"/>
                <a:ea typeface="Arial"/>
                <a:cs typeface="Arial"/>
              </a:defRPr>
            </a:pPr>
            <a:r>
              <a:rPr sz="750" b="1" i="0">
                <a:solidFill>
                  <a:srgbClr val="8E887F"/>
                </a:solidFill>
                <a:latin typeface="Arial"/>
                <a:ea typeface="Arial"/>
                <a:cs typeface="Arial"/>
              </a:rPr>
              <a:t>EVENTLENS   FINAL YEAR PROJECT PROPOSAL</a:t>
            </a:r>
          </a:p>
        </p:txBody>
      </p:sp>
      <p:sp>
        <p:nvSpPr>
          <p:cNvPr id="6" name="Rectangle 5">
            <a:extLst>
              <a:ext uri="{FF2B5EF4-FFF2-40B4-BE49-F238E27FC236}">
                <a16:creationId xmlns:a16="http://schemas.microsoft.com/office/drawing/2014/main" id="{9D9C9F74-4C88-412C-9EE3-C5FBED6E0197}"/>
              </a:ext>
            </a:extLst>
          </p:cNvPr>
          <p:cNvSpPr>
            <a:spLocks noGrp="1"/>
          </p:cNvSpPr>
          <p:nvPr/>
        </p:nvSpPr>
        <p:spPr>
          <a:xfrm>
            <a:off x="10287000" y="6543675"/>
            <a:ext cx="1295400" cy="152400"/>
          </a:xfrm>
          <a:prstGeom prst="rect">
            <a:avLst/>
          </a:prstGeom>
          <a:noFill/>
          <a:ln w="0">
            <a:noFill/>
          </a:ln>
        </p:spPr>
        <p:txBody>
          <a:bodyPr lIns="0" tIns="0" rIns="0" bIns="0" anchor="t">
            <a:normAutofit/>
          </a:bodyPr>
          <a:lstStyle/>
          <a:p>
            <a:pPr algn="r">
              <a:defRPr sz="750" b="1" i="0">
                <a:solidFill>
                  <a:srgbClr val="8E887F"/>
                </a:solidFill>
                <a:latin typeface="Arial"/>
                <a:ea typeface="Arial"/>
                <a:cs typeface="Arial"/>
              </a:defRPr>
            </a:pPr>
            <a:r>
              <a:rPr sz="750" b="1" i="0">
                <a:solidFill>
                  <a:srgbClr val="8E887F"/>
                </a:solidFill>
                <a:latin typeface="Arial"/>
                <a:ea typeface="Arial"/>
                <a:cs typeface="Arial"/>
              </a:rPr>
              <a:t>08 / 08</a:t>
            </a:r>
          </a:p>
        </p:txBody>
      </p:sp>
      <p:sp>
        <p:nvSpPr>
          <p:cNvPr id="7" name="Rectangle 6">
            <a:extLst>
              <a:ext uri="{FF2B5EF4-FFF2-40B4-BE49-F238E27FC236}">
                <a16:creationId xmlns:a16="http://schemas.microsoft.com/office/drawing/2014/main" id="{CBC3E66E-000B-481E-8793-193AC742C45F}"/>
              </a:ext>
            </a:extLst>
          </p:cNvPr>
          <p:cNvSpPr>
            <a:spLocks noGrp="1"/>
          </p:cNvSpPr>
          <p:nvPr/>
        </p:nvSpPr>
        <p:spPr>
          <a:xfrm>
            <a:off x="609600" y="1762125"/>
            <a:ext cx="5276850" cy="3476625"/>
          </a:xfrm>
          <a:prstGeom prst="rect">
            <a:avLst/>
          </a:prstGeom>
          <a:solidFill>
            <a:srgbClr val="FFFFFF"/>
          </a:solidFill>
          <a:ln w="14288">
            <a:solidFill>
              <a:srgbClr val="1A1A1A"/>
            </a:solidFill>
            <a:prstDash val="solid"/>
          </a:ln>
        </p:spPr>
        <p:txBody>
          <a:bodyPr/>
          <a:lstStyle/>
          <a:p>
            <a:endParaRPr lang="en-US"/>
          </a:p>
        </p:txBody>
      </p:sp>
      <p:pic>
        <p:nvPicPr>
          <p:cNvPr id="23" name="Picture 22"/>
          <p:cNvPicPr>
            <a:picLocks noChangeAspect="1"/>
          </p:cNvPicPr>
          <p:nvPr/>
        </p:nvPicPr>
        <p:blipFill>
          <a:blip r:embed="rId3"/>
          <a:stretch/>
        </p:blipFill>
        <p:spPr>
          <a:xfrm>
            <a:off x="723900" y="2079862"/>
            <a:ext cx="5048250" cy="2841150"/>
          </a:xfrm>
          <a:prstGeom prst="rect">
            <a:avLst/>
          </a:prstGeom>
        </p:spPr>
      </p:pic>
      <p:sp>
        <p:nvSpPr>
          <p:cNvPr id="9" name="Rectangle 8">
            <a:extLst>
              <a:ext uri="{FF2B5EF4-FFF2-40B4-BE49-F238E27FC236}">
                <a16:creationId xmlns:a16="http://schemas.microsoft.com/office/drawing/2014/main" id="{32B3F4A2-C92C-489E-B9A0-AD2F36CB9A3D}"/>
              </a:ext>
            </a:extLst>
          </p:cNvPr>
          <p:cNvSpPr>
            <a:spLocks noGrp="1"/>
          </p:cNvSpPr>
          <p:nvPr/>
        </p:nvSpPr>
        <p:spPr>
          <a:xfrm>
            <a:off x="6305550" y="1762125"/>
            <a:ext cx="5276850" cy="3476625"/>
          </a:xfrm>
          <a:prstGeom prst="rect">
            <a:avLst/>
          </a:prstGeom>
          <a:solidFill>
            <a:srgbClr val="FFFFFF"/>
          </a:solidFill>
          <a:ln w="14288">
            <a:solidFill>
              <a:srgbClr val="1A1A1A"/>
            </a:solidFill>
            <a:prstDash val="solid"/>
          </a:ln>
        </p:spPr>
        <p:txBody>
          <a:bodyPr/>
          <a:lstStyle/>
          <a:p>
            <a:endParaRPr lang="en-US"/>
          </a:p>
        </p:txBody>
      </p:sp>
      <p:pic>
        <p:nvPicPr>
          <p:cNvPr id="25" name="Picture 24"/>
          <p:cNvPicPr>
            <a:picLocks noChangeAspect="1"/>
          </p:cNvPicPr>
          <p:nvPr/>
        </p:nvPicPr>
        <p:blipFill>
          <a:blip r:embed="rId4"/>
          <a:stretch/>
        </p:blipFill>
        <p:spPr>
          <a:xfrm>
            <a:off x="6419850" y="2079862"/>
            <a:ext cx="5048250" cy="2841150"/>
          </a:xfrm>
          <a:prstGeom prst="rect">
            <a:avLst/>
          </a:prstGeom>
        </p:spPr>
      </p:pic>
      <p:sp>
        <p:nvSpPr>
          <p:cNvPr id="11" name="Rectangle 10">
            <a:extLst>
              <a:ext uri="{FF2B5EF4-FFF2-40B4-BE49-F238E27FC236}">
                <a16:creationId xmlns:a16="http://schemas.microsoft.com/office/drawing/2014/main" id="{311FC430-0DB8-49CD-9BC0-C32595DDA53F}"/>
              </a:ext>
            </a:extLst>
          </p:cNvPr>
          <p:cNvSpPr>
            <a:spLocks noGrp="1"/>
          </p:cNvSpPr>
          <p:nvPr/>
        </p:nvSpPr>
        <p:spPr>
          <a:xfrm>
            <a:off x="609600" y="5429250"/>
            <a:ext cx="1143000" cy="266700"/>
          </a:xfrm>
          <a:prstGeom prst="rect">
            <a:avLst/>
          </a:prstGeom>
          <a:noFill/>
          <a:ln w="0">
            <a:noFill/>
          </a:ln>
        </p:spPr>
        <p:txBody>
          <a:bodyPr lIns="0" tIns="0" rIns="0" bIns="0" anchor="t">
            <a:normAutofit/>
          </a:bodyPr>
          <a:lstStyle/>
          <a:p>
            <a:pPr algn="l">
              <a:defRPr sz="1425" b="1" i="0">
                <a:solidFill>
                  <a:srgbClr val="1A1A1A"/>
                </a:solidFill>
                <a:latin typeface="Arial"/>
                <a:ea typeface="Arial"/>
                <a:cs typeface="Arial"/>
              </a:defRPr>
            </a:pPr>
            <a:r>
              <a:rPr sz="1425" b="1" i="0">
                <a:solidFill>
                  <a:srgbClr val="1A1A1A"/>
                </a:solidFill>
                <a:latin typeface="Arial"/>
                <a:ea typeface="Arial"/>
                <a:cs typeface="Arial"/>
              </a:rPr>
              <a:t>Overview</a:t>
            </a:r>
          </a:p>
        </p:txBody>
      </p:sp>
      <p:sp>
        <p:nvSpPr>
          <p:cNvPr id="12" name="Rectangle 11">
            <a:extLst>
              <a:ext uri="{FF2B5EF4-FFF2-40B4-BE49-F238E27FC236}">
                <a16:creationId xmlns:a16="http://schemas.microsoft.com/office/drawing/2014/main" id="{CC0C8566-057F-4875-8C5D-C642CE51FFAB}"/>
              </a:ext>
            </a:extLst>
          </p:cNvPr>
          <p:cNvSpPr>
            <a:spLocks noGrp="1"/>
          </p:cNvSpPr>
          <p:nvPr/>
        </p:nvSpPr>
        <p:spPr>
          <a:xfrm>
            <a:off x="1543050" y="5429250"/>
            <a:ext cx="4343400" cy="419100"/>
          </a:xfrm>
          <a:prstGeom prst="rect">
            <a:avLst/>
          </a:prstGeom>
          <a:noFill/>
          <a:ln w="0">
            <a:noFill/>
          </a:ln>
        </p:spPr>
        <p:txBody>
          <a:bodyPr lIns="0" tIns="0" rIns="0" bIns="0" anchor="t">
            <a:normAutofit/>
          </a:bodyPr>
          <a:lstStyle/>
          <a:p>
            <a:pPr algn="l">
              <a:defRPr sz="1125" b="0" i="0">
                <a:solidFill>
                  <a:srgbClr val="555555"/>
                </a:solidFill>
                <a:latin typeface="Arial"/>
                <a:ea typeface="Arial"/>
                <a:cs typeface="Arial"/>
              </a:defRPr>
            </a:pPr>
            <a:r>
              <a:rPr sz="1125" b="0" i="0">
                <a:solidFill>
                  <a:srgbClr val="555555"/>
                </a:solidFill>
                <a:latin typeface="Arial"/>
                <a:ea typeface="Arial"/>
                <a:cs typeface="Arial"/>
              </a:rPr>
              <a:t>Compare market and wallet-informed probabilities with supporting evidence.</a:t>
            </a:r>
          </a:p>
        </p:txBody>
      </p:sp>
      <p:sp>
        <p:nvSpPr>
          <p:cNvPr id="13" name="Rectangle 12">
            <a:extLst>
              <a:ext uri="{FF2B5EF4-FFF2-40B4-BE49-F238E27FC236}">
                <a16:creationId xmlns:a16="http://schemas.microsoft.com/office/drawing/2014/main" id="{8292AE16-0444-4E10-BD1B-08C321D6C0F4}"/>
              </a:ext>
            </a:extLst>
          </p:cNvPr>
          <p:cNvSpPr>
            <a:spLocks noGrp="1"/>
          </p:cNvSpPr>
          <p:nvPr/>
        </p:nvSpPr>
        <p:spPr>
          <a:xfrm>
            <a:off x="6305550" y="5429250"/>
            <a:ext cx="1143000" cy="266700"/>
          </a:xfrm>
          <a:prstGeom prst="rect">
            <a:avLst/>
          </a:prstGeom>
          <a:noFill/>
          <a:ln w="0">
            <a:noFill/>
          </a:ln>
        </p:spPr>
        <p:txBody>
          <a:bodyPr lIns="0" tIns="0" rIns="0" bIns="0" anchor="t">
            <a:normAutofit/>
          </a:bodyPr>
          <a:lstStyle/>
          <a:p>
            <a:pPr algn="l">
              <a:defRPr sz="1425" b="1" i="0">
                <a:solidFill>
                  <a:srgbClr val="1A1A1A"/>
                </a:solidFill>
                <a:latin typeface="Arial"/>
                <a:ea typeface="Arial"/>
                <a:cs typeface="Arial"/>
              </a:defRPr>
            </a:pPr>
            <a:r>
              <a:rPr sz="1425" b="1" i="0">
                <a:solidFill>
                  <a:srgbClr val="1A1A1A"/>
                </a:solidFill>
                <a:latin typeface="Arial"/>
                <a:ea typeface="Arial"/>
                <a:cs typeface="Arial"/>
              </a:rPr>
              <a:t>Scenarios</a:t>
            </a:r>
          </a:p>
        </p:txBody>
      </p:sp>
      <p:sp>
        <p:nvSpPr>
          <p:cNvPr id="14" name="Rectangle 13">
            <a:extLst>
              <a:ext uri="{FF2B5EF4-FFF2-40B4-BE49-F238E27FC236}">
                <a16:creationId xmlns:a16="http://schemas.microsoft.com/office/drawing/2014/main" id="{3BCCDBB9-A883-4C46-B19F-D9B6D495F4DC}"/>
              </a:ext>
            </a:extLst>
          </p:cNvPr>
          <p:cNvSpPr>
            <a:spLocks noGrp="1"/>
          </p:cNvSpPr>
          <p:nvPr/>
        </p:nvSpPr>
        <p:spPr>
          <a:xfrm>
            <a:off x="7239000" y="5429250"/>
            <a:ext cx="4343400" cy="419100"/>
          </a:xfrm>
          <a:prstGeom prst="rect">
            <a:avLst/>
          </a:prstGeom>
          <a:noFill/>
          <a:ln w="0">
            <a:noFill/>
          </a:ln>
        </p:spPr>
        <p:txBody>
          <a:bodyPr lIns="0" tIns="0" rIns="0" bIns="0" anchor="t">
            <a:normAutofit/>
          </a:bodyPr>
          <a:lstStyle/>
          <a:p>
            <a:pPr algn="l">
              <a:defRPr sz="1125" b="0" i="0">
                <a:solidFill>
                  <a:srgbClr val="555555"/>
                </a:solidFill>
                <a:latin typeface="Arial"/>
                <a:ea typeface="Arial"/>
                <a:cs typeface="Arial"/>
              </a:defRPr>
            </a:pPr>
            <a:r>
              <a:rPr sz="1125" b="0" i="0">
                <a:solidFill>
                  <a:srgbClr val="555555"/>
                </a:solidFill>
                <a:latin typeface="Arial"/>
                <a:ea typeface="Arial"/>
                <a:cs typeface="Arial"/>
              </a:rPr>
              <a:t>Connect a paper portfolio to VaR, expected shortfall and assumptions.</a:t>
            </a:r>
          </a:p>
        </p:txBody>
      </p:sp>
      <p:sp>
        <p:nvSpPr>
          <p:cNvPr id="15" name="Rectangle 14">
            <a:extLst>
              <a:ext uri="{FF2B5EF4-FFF2-40B4-BE49-F238E27FC236}">
                <a16:creationId xmlns:a16="http://schemas.microsoft.com/office/drawing/2014/main" id="{9F57503B-954B-4EE8-972C-60F3E8051DB0}"/>
              </a:ext>
            </a:extLst>
          </p:cNvPr>
          <p:cNvSpPr>
            <a:spLocks noGrp="1"/>
          </p:cNvSpPr>
          <p:nvPr/>
        </p:nvSpPr>
        <p:spPr>
          <a:xfrm>
            <a:off x="609600" y="6057900"/>
            <a:ext cx="10972800" cy="171450"/>
          </a:xfrm>
          <a:prstGeom prst="rect">
            <a:avLst/>
          </a:prstGeom>
          <a:noFill/>
          <a:ln w="0">
            <a:noFill/>
          </a:ln>
        </p:spPr>
        <p:txBody>
          <a:bodyPr lIns="0" tIns="0" rIns="0" bIns="0" anchor="t">
            <a:normAutofit/>
          </a:bodyPr>
          <a:lstStyle/>
          <a:p>
            <a:pPr algn="r">
              <a:defRPr sz="750" b="1" i="0">
                <a:solidFill>
                  <a:srgbClr val="A33D2E"/>
                </a:solidFill>
                <a:latin typeface="Arial"/>
                <a:ea typeface="Arial"/>
                <a:cs typeface="Arial"/>
              </a:defRPr>
            </a:pPr>
            <a:r>
              <a:rPr sz="750" b="1" i="0">
                <a:solidFill>
                  <a:srgbClr val="A33D2E"/>
                </a:solidFill>
                <a:latin typeface="Arial"/>
                <a:ea typeface="Arial"/>
                <a:cs typeface="Arial"/>
              </a:rPr>
              <a:t>ILLUSTRATIVE CONCEPT SCREENS. VALUES SHOWN ARE NOT RESEARCH RESULTS.</a:t>
            </a:r>
          </a:p>
        </p:txBody>
      </p:sp>
    </p:spTree>
    <p:extLst>
      <p:ext uri="{BB962C8B-B14F-4D97-AF65-F5344CB8AC3E}">
        <p14:creationId xmlns:p14="http://schemas.microsoft.com/office/powerpoint/2010/main" val="1278343263"/>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21</TotalTime>
  <Words>1497</Words>
  <Application>Microsoft Macintosh PowerPoint</Application>
  <DocSecurity>0</DocSecurity>
  <PresentationFormat>Widescreen</PresentationFormat>
  <Paragraphs>190</Paragraphs>
  <Slides>8</Slides>
  <Notes>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Calibri</vt:lpstr>
      <vt:lpstr>Cambria Math</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CHEUNG Hau Yin Franklin</cp:lastModifiedBy>
  <cp:revision>7</cp:revision>
  <dcterms:created xsi:type="dcterms:W3CDTF">2026-09-09T13:00:13Z</dcterms:created>
  <dcterms:modified xsi:type="dcterms:W3CDTF">2026-09-09T14:41:52Z</dcterms:modified>
</cp:coreProperties>
</file>