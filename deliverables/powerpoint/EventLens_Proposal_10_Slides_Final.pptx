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573b3eef7146b3" /><Relationship Type="http://schemas.openxmlformats.org/officeDocument/2006/relationships/extended-properties" Target="/docProps/app.xml" Id="R4499f6d7aedb45c8" /><Relationship Type="http://schemas.openxmlformats.org/officeDocument/2006/relationships/officeDocument" Target="/ppt/presentation.xml" Id="Rfeb6612aa7954e0b" /></Relationships>
</file>

<file path=ppt/presentation.xml><?xml version="1.0" encoding="utf-8"?>
<p:presentation xmlns:p="http://schemas.openxmlformats.org/presentationml/2006/main">
  <p:sldMasterIdLst>
    <p:sldMasterId xmlns:r="http://schemas.openxmlformats.org/officeDocument/2006/relationships" id="2147483648" r:id="Rdba51597102c48f7"/>
  </p:sldMasterIdLst>
  <p:notesMasterIdLst>
    <p:notesMasterId xmlns:r="http://schemas.openxmlformats.org/officeDocument/2006/relationships" r:id="Ra9ce5cf2e6c6497c"/>
  </p:notesMasterIdLst>
  <p:sldIdLst>
    <p:sldId xmlns:r="http://schemas.openxmlformats.org/officeDocument/2006/relationships" id="256" r:id="Ra3af766acddb4044"/>
    <p:sldId xmlns:r="http://schemas.openxmlformats.org/officeDocument/2006/relationships" id="257" r:id="R1ae0f9b7ce064c0f"/>
    <p:sldId xmlns:r="http://schemas.openxmlformats.org/officeDocument/2006/relationships" id="258" r:id="Rbf2f5a17de074bfd"/>
    <p:sldId xmlns:r="http://schemas.openxmlformats.org/officeDocument/2006/relationships" id="259" r:id="Ra30d9a786c3c4b94"/>
    <p:sldId xmlns:r="http://schemas.openxmlformats.org/officeDocument/2006/relationships" id="260" r:id="Rbe73e13249eb4152"/>
    <p:sldId xmlns:r="http://schemas.openxmlformats.org/officeDocument/2006/relationships" id="261" r:id="R7037b482094342d3"/>
    <p:sldId xmlns:r="http://schemas.openxmlformats.org/officeDocument/2006/relationships" id="262" r:id="Raa356d77380c4e57"/>
    <p:sldId xmlns:r="http://schemas.openxmlformats.org/officeDocument/2006/relationships" id="263" r:id="R5be3cd6172ac4203"/>
    <p:sldId xmlns:r="http://schemas.openxmlformats.org/officeDocument/2006/relationships" id="264" r:id="R1e3fe89e424249bd"/>
    <p:sldId xmlns:r="http://schemas.openxmlformats.org/officeDocument/2006/relationships" id="265" r:id="R354a17482fda4d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019dcae2bd45be" /><Relationship Type="http://schemas.openxmlformats.org/officeDocument/2006/relationships/slideMaster" Target="/ppt/slideMasters/slideMaster1.xml" Id="Rdba51597102c48f7" /><Relationship Type="http://schemas.openxmlformats.org/officeDocument/2006/relationships/notesMaster" Target="/ppt/notesMasters/notesMaster1.xml" Id="Ra9ce5cf2e6c6497c" /><Relationship Type="http://schemas.openxmlformats.org/officeDocument/2006/relationships/presProps" Target="/ppt/presProps.xml" Id="R4840a5da2a1244e4" /><Relationship Type="http://schemas.openxmlformats.org/officeDocument/2006/relationships/tableStyles" Target="/ppt/tableStyles.xml" Id="R393ffeb249b24f90" /><Relationship Type="http://schemas.openxmlformats.org/officeDocument/2006/relationships/slide" Target="/ppt/slides/slide1.xml" Id="Ra3af766acddb4044" /><Relationship Type="http://schemas.openxmlformats.org/officeDocument/2006/relationships/slide" Target="/ppt/slides/slide2.xml" Id="R1ae0f9b7ce064c0f" /><Relationship Type="http://schemas.openxmlformats.org/officeDocument/2006/relationships/slide" Target="/ppt/slides/slide3.xml" Id="Rbf2f5a17de074bfd" /><Relationship Type="http://schemas.openxmlformats.org/officeDocument/2006/relationships/slide" Target="/ppt/slides/slide4.xml" Id="Ra30d9a786c3c4b94" /><Relationship Type="http://schemas.openxmlformats.org/officeDocument/2006/relationships/slide" Target="/ppt/slides/slide5.xml" Id="Rbe73e13249eb4152" /><Relationship Type="http://schemas.openxmlformats.org/officeDocument/2006/relationships/slide" Target="/ppt/slides/slide6.xml" Id="R7037b482094342d3" /><Relationship Type="http://schemas.openxmlformats.org/officeDocument/2006/relationships/slide" Target="/ppt/slides/slide7.xml" Id="Raa356d77380c4e57" /><Relationship Type="http://schemas.openxmlformats.org/officeDocument/2006/relationships/slide" Target="/ppt/slides/slide8.xml" Id="R5be3cd6172ac4203" /><Relationship Type="http://schemas.openxmlformats.org/officeDocument/2006/relationships/slide" Target="/ppt/slides/slide9.xml" Id="R1e3fe89e424249bd" /><Relationship Type="http://schemas.openxmlformats.org/officeDocument/2006/relationships/slide" Target="/ppt/slides/slide10.xml" Id="R354a17482fda4d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f1513706994e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98f29b4daa4699" /><Relationship Type="http://schemas.openxmlformats.org/officeDocument/2006/relationships/notesMaster" Target="/ppt/notesMasters/notesMaster1.xml" Id="R79a11656320d44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ab7e3e190c4221" /><Relationship Type="http://schemas.openxmlformats.org/officeDocument/2006/relationships/notesMaster" Target="/ppt/notesMasters/notesMaster1.xml" Id="Red43575eeca049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64a19d880d4f1e" /><Relationship Type="http://schemas.openxmlformats.org/officeDocument/2006/relationships/notesMaster" Target="/ppt/notesMasters/notesMaster1.xml" Id="R30544de09ea247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ab705a6a8643ae" /><Relationship Type="http://schemas.openxmlformats.org/officeDocument/2006/relationships/notesMaster" Target="/ppt/notesMasters/notesMaster1.xml" Id="Rabca4294f4ab46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06b462fb3d452b" /><Relationship Type="http://schemas.openxmlformats.org/officeDocument/2006/relationships/notesMaster" Target="/ppt/notesMasters/notesMaster1.xml" Id="R4819e1a9afc441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b8ab56f8484402" /><Relationship Type="http://schemas.openxmlformats.org/officeDocument/2006/relationships/notesMaster" Target="/ppt/notesMasters/notesMaster1.xml" Id="R9c98590c2c0848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93436211fe4199" /><Relationship Type="http://schemas.openxmlformats.org/officeDocument/2006/relationships/notesMaster" Target="/ppt/notesMasters/notesMaster1.xml" Id="R4abfdaeafca746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d389e02eda4b15" /><Relationship Type="http://schemas.openxmlformats.org/officeDocument/2006/relationships/notesMaster" Target="/ppt/notesMasters/notesMaster1.xml" Id="R64a15f64a44844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2b25ea8e094eb0" /><Relationship Type="http://schemas.openxmlformats.org/officeDocument/2006/relationships/notesMaster" Target="/ppt/notesMasters/notesMaster1.xml" Id="Rd7eca9b2d8864c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7b2aa6aba949a6" /><Relationship Type="http://schemas.openxmlformats.org/officeDocument/2006/relationships/notesMaster" Target="/ppt/notesMasters/notesMaster1.xml" Id="Rb073ff2bd1394b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EventLens asks one focused research question: can prediction-market information improve the way we study risk around scheduled events? The project combines Polymarket prices, public wallet activity and conventional asset data. The goal is a reproducible research system, not a trading recommendation engine. Source: proposal abstract and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matters. Event risk often enters financial analysis indirectly. Prediction markets offer an explicit probability, while blockchain settlement records let us study whether some participants have persistent informational value. The cited concentration figures motivate the wallet analysis, but they do not prove predictability. EventLens must test that claim out of sample. Source: proposal Sections 1.1 and 1.3, citing Akey et 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discipline. The MVP prioritises data feasibility and a valid experiment. It starts with Polymarket on Polygon, Federal Reserve decisions and index-tracking assets. The horizons match the proposal. Extensions only proceed if historical coverage and model stability support them. This prevents the team from broadening the sample informally after seeing early results. Source: proposal Section 1.2 and evaluation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Point-in-time evidence. The system separates source collection from research features. Mutable metadata and incomplete order books receive explicit flags. Polygon receipts verify a sample of indexed settlement records. Most importantly, each historical forecast uses a frozen snapshot, which prevents later outcomes or newly successful wallets from leaking into earlier tests. Source: proposal Sections 2.1 and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Wallet method. A smart-wallet label remains provisional and dated. Repeated fills become one wallet-event decision. The first eligibility rule requires at least ten earlier resolved events across three announcement dates, with sensitivity checks at five and twenty. If history is insufficient, the wallet signal is unavailable. Raw and adjusted probabilities stay visible separately so we can measure the wallet contribution. Source: proposal Section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Forecast test. The forecast target is realised variance from daily returns. The baseline uses recent variation only. The augmented model keeps the same regression and adds the raw probability plus the wallet adjustment. That design isolates whether prediction-market features add value. A separate scenario engine combines conditional YES and NO return distributions to calculate hypothetical portfolio risk. Source: proposal Section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AI. The architecture makes the numerical boundary explicit. Research services calculate probabilities and risk metrics. The assistant can retrieve evidence, request a validated run and explain saved outputs, but it cannot invent a number or alter model eligibility. Each answer refers back to run IDs and evidence IDs. Source: proposal Sections 2.1 and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journey. A user selects an asset or paper portfolio, chooses a horizon and reviews relevant events. The overview compares raw and adjusted probabilities and links to wallet evidence. The scenario view shows hypothetical risk metrics with assumptions. These are concept screens from the proposal, so every displayed value remains illustrative. Source: proposal Section 2.1 and Figures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discipline. The main risk is lookahead leakage. Event contracts and snapshots stay together, overlapping targets are purged at split boundaries, and the final test interval stays closed until choices are fixed. Probability models use a baseline ladder. Volatility models compare identical dates and units. Given the small number of independent announcements, results include confidence intervals. Profitability is not a success criterion. Source: proposal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plan begins with a feasibility gate. By week 7 the team targets a versioned dataset. By week 12 it compares raw price, anonymous flow and wallet flow. Scenario calculations follow by week 18, integrated evaluation by week 22 and the final reproducibility package by week 24. If access or sample size fails, the team narrows coverage before optional work begins. Source: proposal Section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31b8896f3e43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79b1c88c5c426a" /><Relationship Type="http://schemas.openxmlformats.org/officeDocument/2006/relationships/slideLayout" Target="/ppt/slideLayouts/slideLayout1.xml" Id="R904c3bc2d6284c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4c3bc2d6284c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4afb72df024a56" /><Relationship Type="http://schemas.openxmlformats.org/officeDocument/2006/relationships/notesSlide" Target="/ppt/notesSlides/notesSlide1.xml" Id="R693f3106a26441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cdd36e7dc24b14" /><Relationship Type="http://schemas.openxmlformats.org/officeDocument/2006/relationships/notesSlide" Target="/ppt/notesSlides/notesSlide2.xml" Id="Rd879c77be0f64d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ef9948a2d24efe" /><Relationship Type="http://schemas.openxmlformats.org/officeDocument/2006/relationships/notesSlide" Target="/ppt/notesSlides/notesSlide3.xml" Id="R620b67c592e54e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114e14550e4acf" /><Relationship Type="http://schemas.openxmlformats.org/officeDocument/2006/relationships/notesSlide" Target="/ppt/notesSlides/notesSlide4.xml" Id="Rcdfe9e4d89314d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8fc9e86dcd4e9b" /><Relationship Type="http://schemas.openxmlformats.org/officeDocument/2006/relationships/notesSlide" Target="/ppt/notesSlides/notesSlide5.xml" Id="R6c14680525a247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3309b86df54771" /><Relationship Type="http://schemas.openxmlformats.org/officeDocument/2006/relationships/notesSlide" Target="/ppt/notesSlides/notesSlide6.xml" Id="Ra1cd7a879fef48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80812f9eab54f9e" /><Relationship Type="http://schemas.openxmlformats.org/officeDocument/2006/relationships/notesSlide" Target="/ppt/notesSlides/notesSlide7.xml" Id="R3833d51449b14f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04c3d73db2474b" /><Relationship Type="http://schemas.openxmlformats.org/officeDocument/2006/relationships/image" Target="/ppt/media/image.png" Id="R289e5ade5caf433a" /><Relationship Type="http://schemas.openxmlformats.org/officeDocument/2006/relationships/image" Target="/ppt/media/image2.png" Id="R25799ca096ea403b" /><Relationship Type="http://schemas.openxmlformats.org/officeDocument/2006/relationships/notesSlide" Target="/ppt/notesSlides/notesSlide8.xml" Id="Ra01a607cf15248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bc5c8f3e604d68" /><Relationship Type="http://schemas.openxmlformats.org/officeDocument/2006/relationships/notesSlide" Target="/ppt/notesSlides/notesSlide9.xml" Id="Rd1c500ce703248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07f0fb3642245bf" /><Relationship Type="http://schemas.openxmlformats.org/officeDocument/2006/relationships/notesSlide" Target="/ppt/notesSlides/notesSlide10.xml" Id="R138661d72e1e4369" /></Relationships>
</file>

<file path=ppt/slides/slide1.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ADB8791-969C-4C01-BC10-CCAE224FFB1D}"/>
              </a:ext>
            </a:extLst>
          </p:cNvPr>
          <p:cNvSpPr>
            <a:spLocks xmlns:a="http://schemas.openxmlformats.org/drawingml/2006/main" noGrp="1"/>
          </p:cNvSpPr>
          <p:nvPr/>
        </p:nvSpPr>
        <p:spPr>
          <a:xfrm xmlns:a="http://schemas.openxmlformats.org/drawingml/2006/main">
            <a:off x="60960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A33D2E"/>
                </a:solidFill>
                <a:latin typeface="Arial"/>
                <a:ea typeface="Arial"/>
                <a:cs typeface="Arial"/>
              </a:defRPr>
            </a:pPr>
            <a:r>
              <a:rPr sz="1050" b="1" i="0">
                <a:solidFill>
                  <a:srgbClr val="A33D2E"/>
                </a:solidFill>
                <a:latin typeface="Arial"/>
                <a:ea typeface="Arial"/>
                <a:cs typeface="Arial"/>
              </a:rPr>
              <a:t>HKUST COMP 4981</a:t>
            </a:r>
          </a:p>
        </p:txBody>
      </p:sp>
      <p:sp>
        <p:nvSpPr>
          <p:cNvPr id="2" name="">
            <a:extLst xmlns:a="http://schemas.openxmlformats.org/drawingml/2006/main">
              <a:ext uri="{FF2B5EF4-FFF2-40B4-BE49-F238E27FC236}">
                <a16:creationId xmlns:a16="http://schemas.microsoft.com/office/drawing/2014/main" id="{BDCB6F96-5636-4122-97A0-7E74E3167F4E}"/>
              </a:ext>
            </a:extLst>
          </p:cNvPr>
          <p:cNvSpPr>
            <a:spLocks xmlns:a="http://schemas.openxmlformats.org/drawingml/2006/main" noGrp="1"/>
          </p:cNvSpPr>
          <p:nvPr/>
        </p:nvSpPr>
        <p:spPr>
          <a:xfrm xmlns:a="http://schemas.openxmlformats.org/drawingml/2006/main">
            <a:off x="609600" y="1047750"/>
            <a:ext cx="8096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148"/>
          </a:bodyPr>
          <a:lstStyle xmlns:a="http://schemas.openxmlformats.org/drawingml/2006/main"/>
          <a:p xmlns:a="http://schemas.openxmlformats.org/drawingml/2006/main">
            <a:pPr algn="l">
              <a:defRPr sz="6750" b="1" i="0">
                <a:solidFill>
                  <a:srgbClr val="1A1A1A"/>
                </a:solidFill>
                <a:latin typeface="Arial"/>
                <a:ea typeface="Arial"/>
                <a:cs typeface="Arial"/>
              </a:defRPr>
            </a:pPr>
            <a:r>
              <a:rPr sz="6750" b="1" i="0">
                <a:solidFill>
                  <a:srgbClr val="1A1A1A"/>
                </a:solidFill>
                <a:latin typeface="Arial"/>
                <a:ea typeface="Arial"/>
                <a:cs typeface="Arial"/>
              </a:rPr>
              <a:t>EventLens</a:t>
            </a:r>
          </a:p>
        </p:txBody>
      </p:sp>
      <p:sp>
        <p:nvSpPr>
          <p:cNvPr id="3" name="">
            <a:extLst xmlns:a="http://schemas.openxmlformats.org/drawingml/2006/main">
              <a:ext uri="{FF2B5EF4-FFF2-40B4-BE49-F238E27FC236}">
                <a16:creationId xmlns:a16="http://schemas.microsoft.com/office/drawing/2014/main" id="{E3C3BA2F-9E6F-4402-9A05-FC6EE29DD292}"/>
              </a:ext>
            </a:extLst>
          </p:cNvPr>
          <p:cNvSpPr>
            <a:spLocks xmlns:a="http://schemas.openxmlformats.org/drawingml/2006/main" noGrp="1"/>
          </p:cNvSpPr>
          <p:nvPr/>
        </p:nvSpPr>
        <p:spPr>
          <a:xfrm xmlns:a="http://schemas.openxmlformats.org/drawingml/2006/main">
            <a:off x="647700" y="21050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i="0">
                <a:solidFill>
                  <a:srgbClr val="A33D2E"/>
                </a:solidFill>
                <a:latin typeface="Arial"/>
                <a:ea typeface="Arial"/>
                <a:cs typeface="Arial"/>
              </a:defRPr>
            </a:pPr>
            <a:r>
              <a:rPr sz="2775" b="1" i="0">
                <a:solidFill>
                  <a:srgbClr val="A33D2E"/>
                </a:solidFill>
                <a:latin typeface="Arial"/>
                <a:ea typeface="Arial"/>
                <a:cs typeface="Arial"/>
              </a:rPr>
              <a:t>Event risk research for indices and equities</a:t>
            </a:r>
          </a:p>
        </p:txBody>
      </p:sp>
      <p:sp>
        <p:nvSpPr>
          <p:cNvPr id="4" name="">
            <a:extLst xmlns:a="http://schemas.openxmlformats.org/drawingml/2006/main">
              <a:ext uri="{FF2B5EF4-FFF2-40B4-BE49-F238E27FC236}">
                <a16:creationId xmlns:a16="http://schemas.microsoft.com/office/drawing/2014/main" id="{04C5A7EA-BF57-4CB3-A4A1-A612BC14A119}"/>
              </a:ext>
            </a:extLst>
          </p:cNvPr>
          <p:cNvSpPr>
            <a:spLocks xmlns:a="http://schemas.openxmlformats.org/drawingml/2006/main" noGrp="1"/>
          </p:cNvSpPr>
          <p:nvPr/>
        </p:nvSpPr>
        <p:spPr>
          <a:xfrm xmlns:a="http://schemas.openxmlformats.org/drawingml/2006/main">
            <a:off x="647700" y="2800350"/>
            <a:ext cx="733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i="0">
                <a:solidFill>
                  <a:srgbClr val="555555"/>
                </a:solidFill>
                <a:latin typeface="Arial"/>
                <a:ea typeface="Arial"/>
                <a:cs typeface="Arial"/>
              </a:defRPr>
            </a:pPr>
            <a:r>
              <a:rPr sz="1725" b="0" i="0">
                <a:solidFill>
                  <a:srgbClr val="555555"/>
                </a:solidFill>
                <a:latin typeface="Arial"/>
                <a:ea typeface="Arial"/>
                <a:cs typeface="Arial"/>
              </a:rPr>
              <a:t>Testing whether prediction-market activity can improve event-driven volatility analysis.</a:t>
            </a:r>
          </a:p>
        </p:txBody>
      </p:sp>
      <p:sp>
        <p:nvSpPr>
          <p:cNvPr id="5" name="">
            <a:extLst xmlns:a="http://schemas.openxmlformats.org/drawingml/2006/main">
              <a:ext uri="{FF2B5EF4-FFF2-40B4-BE49-F238E27FC236}">
                <a16:creationId xmlns:a16="http://schemas.microsoft.com/office/drawing/2014/main" id="{A69AE97C-7114-4148-9CE5-AB0E8FC9E54D}"/>
              </a:ext>
            </a:extLst>
          </p:cNvPr>
          <p:cNvSpPr>
            <a:spLocks xmlns:a="http://schemas.openxmlformats.org/drawingml/2006/main" noGrp="1"/>
          </p:cNvSpPr>
          <p:nvPr/>
        </p:nvSpPr>
        <p:spPr>
          <a:xfrm xmlns:a="http://schemas.openxmlformats.org/drawingml/2006/main">
            <a:off x="8858250" y="609600"/>
            <a:ext cx="2724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555555"/>
                </a:solidFill>
                <a:latin typeface="Arial"/>
                <a:ea typeface="Arial"/>
                <a:cs typeface="Arial"/>
              </a:defRPr>
            </a:pPr>
            <a:r>
              <a:rPr sz="1050" b="1" i="0">
                <a:solidFill>
                  <a:srgbClr val="555555"/>
                </a:solidFill>
                <a:latin typeface="Arial"/>
                <a:ea typeface="Arial"/>
                <a:cs typeface="Arial"/>
              </a:rPr>
              <a:t>Cheung Hau Yin Franklin</a:t>
            </a:r>
          </a:p>
          <a:p xmlns:a="http://schemas.openxmlformats.org/drawingml/2006/main">
            <a:pPr algn="r">
              <a:defRPr sz="1050" b="1" i="0">
                <a:solidFill>
                  <a:srgbClr val="555555"/>
                </a:solidFill>
                <a:latin typeface="Arial"/>
                <a:ea typeface="Arial"/>
                <a:cs typeface="Arial"/>
              </a:defRPr>
            </a:pPr>
            <a:r>
              <a:rPr sz="1050" b="1" i="0">
                <a:solidFill>
                  <a:srgbClr val="555555"/>
                </a:solidFill>
                <a:latin typeface="Arial"/>
                <a:ea typeface="Arial"/>
                <a:cs typeface="Arial"/>
              </a:rPr>
              <a:t>Hou Anthony Tian Rui</a:t>
            </a:r>
          </a:p>
          <a:p xmlns:a="http://schemas.openxmlformats.org/drawingml/2006/main">
            <a:pPr algn="r">
              <a:defRPr sz="1050" b="1" i="0">
                <a:solidFill>
                  <a:srgbClr val="555555"/>
                </a:solidFill>
                <a:latin typeface="Arial"/>
                <a:ea typeface="Arial"/>
                <a:cs typeface="Arial"/>
              </a:defRPr>
            </a:pPr>
            <a:r>
              <a:rPr sz="1050" b="1" i="0">
                <a:solidFill>
                  <a:srgbClr val="555555"/>
                </a:solidFill>
                <a:latin typeface="Arial"/>
                <a:ea typeface="Arial"/>
                <a:cs typeface="Arial"/>
              </a:rPr>
              <a:t>Liu Ngai Chiu</a:t>
            </a:r>
          </a:p>
          <a:p xmlns:a="http://schemas.openxmlformats.org/drawingml/2006/main">
            <a:pPr algn="r">
              <a:defRPr sz="1050" b="1" i="0">
                <a:solidFill>
                  <a:srgbClr val="555555"/>
                </a:solidFill>
                <a:latin typeface="Arial"/>
                <a:ea typeface="Arial"/>
                <a:cs typeface="Arial"/>
              </a:defRPr>
            </a:pPr>
            <a:r>
              <a:rPr sz="1050" b="1" i="0">
                <a:solidFill>
                  <a:srgbClr val="555555"/>
                </a:solidFill>
                <a:latin typeface="Arial"/>
                <a:ea typeface="Arial"/>
                <a:cs typeface="Arial"/>
              </a:rPr>
              <a:t>Sze Wang Cheong</a:t>
            </a:r>
          </a:p>
        </p:txBody>
      </p:sp>
      <p:sp>
        <p:nvSpPr>
          <p:cNvPr id="6" name="">
            <a:extLst xmlns:a="http://schemas.openxmlformats.org/drawingml/2006/main">
              <a:ext uri="{FF2B5EF4-FFF2-40B4-BE49-F238E27FC236}">
                <a16:creationId xmlns:a16="http://schemas.microsoft.com/office/drawing/2014/main" id="{6FABFDBA-59EC-4C58-8C2C-B20A38E5C105}"/>
              </a:ext>
            </a:extLst>
          </p:cNvPr>
          <p:cNvSpPr>
            <a:spLocks xmlns:a="http://schemas.openxmlformats.org/drawingml/2006/main" noGrp="1"/>
          </p:cNvSpPr>
          <p:nvPr/>
        </p:nvSpPr>
        <p:spPr>
          <a:xfrm xmlns:a="http://schemas.openxmlformats.org/drawingml/2006/main">
            <a:off x="647700" y="4391025"/>
            <a:ext cx="314325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7" name="">
            <a:extLst xmlns:a="http://schemas.openxmlformats.org/drawingml/2006/main">
              <a:ext uri="{FF2B5EF4-FFF2-40B4-BE49-F238E27FC236}">
                <a16:creationId xmlns:a16="http://schemas.microsoft.com/office/drawing/2014/main" id="{E6768DE6-B1B3-4AEC-AA36-9FBDD800C580}"/>
              </a:ext>
            </a:extLst>
          </p:cNvPr>
          <p:cNvSpPr>
            <a:spLocks xmlns:a="http://schemas.openxmlformats.org/drawingml/2006/main" noGrp="1"/>
          </p:cNvSpPr>
          <p:nvPr/>
        </p:nvSpPr>
        <p:spPr>
          <a:xfrm xmlns:a="http://schemas.openxmlformats.org/drawingml/2006/main">
            <a:off x="647700" y="45529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D767D4BC-B0DC-4499-AA82-B195374815B6}"/>
              </a:ext>
            </a:extLst>
          </p:cNvPr>
          <p:cNvSpPr>
            <a:spLocks xmlns:a="http://schemas.openxmlformats.org/drawingml/2006/main" noGrp="1"/>
          </p:cNvSpPr>
          <p:nvPr/>
        </p:nvSpPr>
        <p:spPr>
          <a:xfrm xmlns:a="http://schemas.openxmlformats.org/drawingml/2006/main">
            <a:off x="647700" y="481965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A1A1A"/>
                </a:solidFill>
                <a:latin typeface="Arial"/>
                <a:ea typeface="Arial"/>
                <a:cs typeface="Arial"/>
              </a:defRPr>
            </a:pPr>
            <a:r>
              <a:rPr sz="1500" b="1" i="0">
                <a:solidFill>
                  <a:srgbClr val="1A1A1A"/>
                </a:solidFill>
                <a:latin typeface="Arial"/>
                <a:ea typeface="Arial"/>
                <a:cs typeface="Arial"/>
              </a:rPr>
              <a:t>Prediction-market probabilities</a:t>
            </a:r>
          </a:p>
        </p:txBody>
      </p:sp>
      <p:sp>
        <p:nvSpPr>
          <p:cNvPr id="9" name="">
            <a:extLst xmlns:a="http://schemas.openxmlformats.org/drawingml/2006/main">
              <a:ext uri="{FF2B5EF4-FFF2-40B4-BE49-F238E27FC236}">
                <a16:creationId xmlns:a16="http://schemas.microsoft.com/office/drawing/2014/main" id="{92A07AF1-492B-43E3-9176-42E6E7AFE8AF}"/>
              </a:ext>
            </a:extLst>
          </p:cNvPr>
          <p:cNvSpPr>
            <a:spLocks xmlns:a="http://schemas.openxmlformats.org/drawingml/2006/main" noGrp="1"/>
          </p:cNvSpPr>
          <p:nvPr/>
        </p:nvSpPr>
        <p:spPr>
          <a:xfrm xmlns:a="http://schemas.openxmlformats.org/drawingml/2006/main">
            <a:off x="4191000" y="4391025"/>
            <a:ext cx="314325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10" name="">
            <a:extLst xmlns:a="http://schemas.openxmlformats.org/drawingml/2006/main">
              <a:ext uri="{FF2B5EF4-FFF2-40B4-BE49-F238E27FC236}">
                <a16:creationId xmlns:a16="http://schemas.microsoft.com/office/drawing/2014/main" id="{B75BE73C-0DE9-4E24-B507-7F80C6E0C95B}"/>
              </a:ext>
            </a:extLst>
          </p:cNvPr>
          <p:cNvSpPr>
            <a:spLocks xmlns:a="http://schemas.openxmlformats.org/drawingml/2006/main" noGrp="1"/>
          </p:cNvSpPr>
          <p:nvPr/>
        </p:nvSpPr>
        <p:spPr>
          <a:xfrm xmlns:a="http://schemas.openxmlformats.org/drawingml/2006/main">
            <a:off x="4191000" y="45529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04EED96-0307-4819-A354-33711CF66CEF}"/>
              </a:ext>
            </a:extLst>
          </p:cNvPr>
          <p:cNvSpPr>
            <a:spLocks xmlns:a="http://schemas.openxmlformats.org/drawingml/2006/main" noGrp="1"/>
          </p:cNvSpPr>
          <p:nvPr/>
        </p:nvSpPr>
        <p:spPr>
          <a:xfrm xmlns:a="http://schemas.openxmlformats.org/drawingml/2006/main">
            <a:off x="4191000" y="481965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A1A1A"/>
                </a:solidFill>
                <a:latin typeface="Arial"/>
                <a:ea typeface="Arial"/>
                <a:cs typeface="Arial"/>
              </a:defRPr>
            </a:pPr>
            <a:r>
              <a:rPr sz="1500" b="1" i="0">
                <a:solidFill>
                  <a:srgbClr val="1A1A1A"/>
                </a:solidFill>
                <a:latin typeface="Arial"/>
                <a:ea typeface="Arial"/>
                <a:cs typeface="Arial"/>
              </a:rPr>
              <a:t>Historically informative wallets</a:t>
            </a:r>
          </a:p>
        </p:txBody>
      </p:sp>
      <p:sp>
        <p:nvSpPr>
          <p:cNvPr id="12" name="">
            <a:extLst xmlns:a="http://schemas.openxmlformats.org/drawingml/2006/main">
              <a:ext uri="{FF2B5EF4-FFF2-40B4-BE49-F238E27FC236}">
                <a16:creationId xmlns:a16="http://schemas.microsoft.com/office/drawing/2014/main" id="{D3BA84EB-327C-44F3-8B66-EAD1E8A863AC}"/>
              </a:ext>
            </a:extLst>
          </p:cNvPr>
          <p:cNvSpPr>
            <a:spLocks xmlns:a="http://schemas.openxmlformats.org/drawingml/2006/main" noGrp="1"/>
          </p:cNvSpPr>
          <p:nvPr/>
        </p:nvSpPr>
        <p:spPr>
          <a:xfrm xmlns:a="http://schemas.openxmlformats.org/drawingml/2006/main">
            <a:off x="7734300" y="4391025"/>
            <a:ext cx="3143250" cy="0"/>
          </a:xfrm>
          <a:prstGeom xmlns:a="http://schemas.openxmlformats.org/drawingml/2006/main" prst="line">
            <a:avLst/>
          </a:prstGeom>
          <a:noFill xmlns:a="http://schemas.openxmlformats.org/drawingml/2006/main"/>
          <a:ln xmlns:a="http://schemas.openxmlformats.org/drawingml/2006/main" w="23813">
            <a:solidFill>
              <a:srgbClr val="A33D2E"/>
            </a:solidFill>
            <a:prstDash val="solid"/>
          </a:ln>
        </p:spPr>
      </p:sp>
      <p:sp>
        <p:nvSpPr>
          <p:cNvPr id="13" name="">
            <a:extLst xmlns:a="http://schemas.openxmlformats.org/drawingml/2006/main">
              <a:ext uri="{FF2B5EF4-FFF2-40B4-BE49-F238E27FC236}">
                <a16:creationId xmlns:a16="http://schemas.microsoft.com/office/drawing/2014/main" id="{9453D51B-FAD6-4C40-A330-852651EF447F}"/>
              </a:ext>
            </a:extLst>
          </p:cNvPr>
          <p:cNvSpPr>
            <a:spLocks xmlns:a="http://schemas.openxmlformats.org/drawingml/2006/main" noGrp="1"/>
          </p:cNvSpPr>
          <p:nvPr/>
        </p:nvSpPr>
        <p:spPr>
          <a:xfrm xmlns:a="http://schemas.openxmlformats.org/drawingml/2006/main">
            <a:off x="7734300" y="45529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1E37C2DC-CCDF-4801-82DE-499BEC6C5C57}"/>
              </a:ext>
            </a:extLst>
          </p:cNvPr>
          <p:cNvSpPr>
            <a:spLocks xmlns:a="http://schemas.openxmlformats.org/drawingml/2006/main" noGrp="1"/>
          </p:cNvSpPr>
          <p:nvPr/>
        </p:nvSpPr>
        <p:spPr>
          <a:xfrm xmlns:a="http://schemas.openxmlformats.org/drawingml/2006/main">
            <a:off x="7734300" y="481965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A33D2E"/>
                </a:solidFill>
                <a:latin typeface="Arial"/>
                <a:ea typeface="Arial"/>
                <a:cs typeface="Arial"/>
              </a:defRPr>
            </a:pPr>
            <a:r>
              <a:rPr sz="1500" b="1" i="0">
                <a:solidFill>
                  <a:srgbClr val="A33D2E"/>
                </a:solidFill>
                <a:latin typeface="Arial"/>
                <a:ea typeface="Arial"/>
                <a:cs typeface="Arial"/>
              </a:rPr>
              <a:t>Volatility and portfolio risk</a:t>
            </a:r>
          </a:p>
        </p:txBody>
      </p:sp>
      <p:sp>
        <p:nvSpPr>
          <p:cNvPr id="15" name="">
            <a:extLst xmlns:a="http://schemas.openxmlformats.org/drawingml/2006/main">
              <a:ext uri="{FF2B5EF4-FFF2-40B4-BE49-F238E27FC236}">
                <a16:creationId xmlns:a16="http://schemas.microsoft.com/office/drawing/2014/main" id="{9EB7B589-8819-4B4E-8115-D6DFD340B411}"/>
              </a:ext>
            </a:extLst>
          </p:cNvPr>
          <p:cNvSpPr>
            <a:spLocks xmlns:a="http://schemas.openxmlformats.org/drawingml/2006/main" noGrp="1"/>
          </p:cNvSpPr>
          <p:nvPr/>
        </p:nvSpPr>
        <p:spPr>
          <a:xfrm xmlns:a="http://schemas.openxmlformats.org/drawingml/2006/main">
            <a:off x="647700" y="595312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Advised by Prof. Shuai Wang</a:t>
            </a:r>
          </a:p>
        </p:txBody>
      </p:sp>
      <p:sp>
        <p:nvSpPr>
          <p:cNvPr id="16" name="">
            <a:extLst xmlns:a="http://schemas.openxmlformats.org/drawingml/2006/main">
              <a:ext uri="{FF2B5EF4-FFF2-40B4-BE49-F238E27FC236}">
                <a16:creationId xmlns:a16="http://schemas.microsoft.com/office/drawing/2014/main" id="{8832FC03-48B4-4B83-81FA-6CB1503E75CC}"/>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17" name="">
            <a:extLst xmlns:a="http://schemas.openxmlformats.org/drawingml/2006/main">
              <a:ext uri="{FF2B5EF4-FFF2-40B4-BE49-F238E27FC236}">
                <a16:creationId xmlns:a16="http://schemas.microsoft.com/office/drawing/2014/main" id="{78F10B73-20AA-4C22-933D-07842AFE8D45}"/>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18" name="">
            <a:extLst xmlns:a="http://schemas.openxmlformats.org/drawingml/2006/main">
              <a:ext uri="{FF2B5EF4-FFF2-40B4-BE49-F238E27FC236}">
                <a16:creationId xmlns:a16="http://schemas.microsoft.com/office/drawing/2014/main" id="{4E3F97E0-EE7E-4BC9-AB63-10F28A656F36}"/>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01 / 10</a:t>
            </a:r>
          </a:p>
        </p:txBody>
      </p:sp>
    </p:spTree>
    <p:extLst>
      <p:ext uri="{BB962C8B-B14F-4D97-AF65-F5344CB8AC3E}">
        <p14:creationId xmlns:p14="http://schemas.microsoft.com/office/powerpoint/2010/main" val="2141607559"/>
      </p:ext>
    </p:extLst>
  </p:cSld>
</p:sld>
</file>

<file path=ppt/slides/slide2.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FBCFCDF-F48A-46FB-AA7E-DAEB0F0B6F0A}"/>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MOTIVATION AND RESEARCH GAP</a:t>
            </a:r>
          </a:p>
        </p:txBody>
      </p:sp>
      <p:sp>
        <p:nvSpPr>
          <p:cNvPr id="2" name="">
            <a:extLst xmlns:a="http://schemas.openxmlformats.org/drawingml/2006/main">
              <a:ext uri="{FF2B5EF4-FFF2-40B4-BE49-F238E27FC236}">
                <a16:creationId xmlns:a16="http://schemas.microsoft.com/office/drawing/2014/main" id="{FC6BDF3A-5E99-4138-BED6-563BBF0FC807}"/>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A probability signal for event risk</a:t>
            </a:r>
          </a:p>
        </p:txBody>
      </p:sp>
      <p:sp>
        <p:nvSpPr>
          <p:cNvPr id="3" name="">
            <a:extLst xmlns:a="http://schemas.openxmlformats.org/drawingml/2006/main">
              <a:ext uri="{FF2B5EF4-FFF2-40B4-BE49-F238E27FC236}">
                <a16:creationId xmlns:a16="http://schemas.microsoft.com/office/drawing/2014/main" id="{2213B9B8-BC7C-4F98-8ADD-997932C44A0F}"/>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98632C61-24C3-4279-8B72-21FD9943B8BA}"/>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98AE65E0-1F62-49FA-B568-B1F9ABB3FF2D}"/>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D63F6A4B-9847-4668-8C7B-3C21060C33FA}"/>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02 / 10</a:t>
            </a:r>
          </a:p>
        </p:txBody>
      </p:sp>
      <p:sp>
        <p:nvSpPr>
          <p:cNvPr id="7" name="">
            <a:extLst xmlns:a="http://schemas.openxmlformats.org/drawingml/2006/main">
              <a:ext uri="{FF2B5EF4-FFF2-40B4-BE49-F238E27FC236}">
                <a16:creationId xmlns:a16="http://schemas.microsoft.com/office/drawing/2014/main" id="{472D825A-AAEF-478C-A0A3-E390CA3AC1FB}"/>
              </a:ext>
            </a:extLst>
          </p:cNvPr>
          <p:cNvSpPr>
            <a:spLocks xmlns:a="http://schemas.openxmlformats.org/drawingml/2006/main" noGrp="1"/>
          </p:cNvSpPr>
          <p:nvPr/>
        </p:nvSpPr>
        <p:spPr>
          <a:xfrm xmlns:a="http://schemas.openxmlformats.org/drawingml/2006/main">
            <a:off x="609600" y="1752600"/>
            <a:ext cx="5219700" cy="2076450"/>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8" name="">
            <a:extLst xmlns:a="http://schemas.openxmlformats.org/drawingml/2006/main">
              <a:ext uri="{FF2B5EF4-FFF2-40B4-BE49-F238E27FC236}">
                <a16:creationId xmlns:a16="http://schemas.microsoft.com/office/drawing/2014/main" id="{28CD8F8E-2D23-47E5-85C0-1F4E5F5BB57E}"/>
              </a:ext>
            </a:extLst>
          </p:cNvPr>
          <p:cNvSpPr>
            <a:spLocks xmlns:a="http://schemas.openxmlformats.org/drawingml/2006/main" noGrp="1"/>
          </p:cNvSpPr>
          <p:nvPr/>
        </p:nvSpPr>
        <p:spPr>
          <a:xfrm xmlns:a="http://schemas.openxmlformats.org/drawingml/2006/main">
            <a:off x="838200" y="19526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OBSERVED GAP</a:t>
            </a:r>
          </a:p>
        </p:txBody>
      </p:sp>
      <p:sp>
        <p:nvSpPr>
          <p:cNvPr id="9" name="">
            <a:extLst xmlns:a="http://schemas.openxmlformats.org/drawingml/2006/main">
              <a:ext uri="{FF2B5EF4-FFF2-40B4-BE49-F238E27FC236}">
                <a16:creationId xmlns:a16="http://schemas.microsoft.com/office/drawing/2014/main" id="{CAADE697-DA78-47D5-B179-0056F8EA0B17}"/>
              </a:ext>
            </a:extLst>
          </p:cNvPr>
          <p:cNvSpPr>
            <a:spLocks xmlns:a="http://schemas.openxmlformats.org/drawingml/2006/main" noGrp="1"/>
          </p:cNvSpPr>
          <p:nvPr/>
        </p:nvSpPr>
        <p:spPr>
          <a:xfrm xmlns:a="http://schemas.openxmlformats.org/drawingml/2006/main">
            <a:off x="838200" y="2266950"/>
            <a:ext cx="468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Asset markets show repricing, not the event probability itself</a:t>
            </a:r>
          </a:p>
        </p:txBody>
      </p:sp>
      <p:sp>
        <p:nvSpPr>
          <p:cNvPr id="10" name="">
            <a:extLst xmlns:a="http://schemas.openxmlformats.org/drawingml/2006/main">
              <a:ext uri="{FF2B5EF4-FFF2-40B4-BE49-F238E27FC236}">
                <a16:creationId xmlns:a16="http://schemas.microsoft.com/office/drawing/2014/main" id="{79C8CD23-F701-48FE-9DC7-955085576C5F}"/>
              </a:ext>
            </a:extLst>
          </p:cNvPr>
          <p:cNvSpPr>
            <a:spLocks xmlns:a="http://schemas.openxmlformats.org/drawingml/2006/main" noGrp="1"/>
          </p:cNvSpPr>
          <p:nvPr/>
        </p:nvSpPr>
        <p:spPr>
          <a:xfrm xmlns:a="http://schemas.openxmlformats.org/drawingml/2006/main">
            <a:off x="838200" y="300990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55555"/>
                </a:solidFill>
                <a:latin typeface="Arial"/>
                <a:ea typeface="Arial"/>
                <a:cs typeface="Arial"/>
              </a:defRPr>
            </a:pPr>
            <a:r>
              <a:rPr sz="1275" b="0" i="0">
                <a:solidFill>
                  <a:srgbClr val="555555"/>
                </a:solidFill>
                <a:latin typeface="Arial"/>
                <a:ea typeface="Arial"/>
                <a:cs typeface="Arial"/>
              </a:rPr>
              <a:t>News, prices and volatility indicators reveal market reaction. They do not directly show a continuously updated probability for the underlying event.</a:t>
            </a:r>
          </a:p>
        </p:txBody>
      </p:sp>
      <p:sp>
        <p:nvSpPr>
          <p:cNvPr id="11" name="">
            <a:extLst xmlns:a="http://schemas.openxmlformats.org/drawingml/2006/main">
              <a:ext uri="{FF2B5EF4-FFF2-40B4-BE49-F238E27FC236}">
                <a16:creationId xmlns:a16="http://schemas.microsoft.com/office/drawing/2014/main" id="{99DB8D0A-78BF-4F2C-8C25-FEFDBE10885F}"/>
              </a:ext>
            </a:extLst>
          </p:cNvPr>
          <p:cNvSpPr>
            <a:spLocks xmlns:a="http://schemas.openxmlformats.org/drawingml/2006/main" noGrp="1"/>
          </p:cNvSpPr>
          <p:nvPr/>
        </p:nvSpPr>
        <p:spPr>
          <a:xfrm xmlns:a="http://schemas.openxmlformats.org/drawingml/2006/main">
            <a:off x="6019800" y="1752600"/>
            <a:ext cx="5562600" cy="2076450"/>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12" name="">
            <a:extLst xmlns:a="http://schemas.openxmlformats.org/drawingml/2006/main">
              <a:ext uri="{FF2B5EF4-FFF2-40B4-BE49-F238E27FC236}">
                <a16:creationId xmlns:a16="http://schemas.microsoft.com/office/drawing/2014/main" id="{8711E9DF-DD4A-4EE1-B18C-2D08F44E576F}"/>
              </a:ext>
            </a:extLst>
          </p:cNvPr>
          <p:cNvSpPr>
            <a:spLocks xmlns:a="http://schemas.openxmlformats.org/drawingml/2006/main" noGrp="1"/>
          </p:cNvSpPr>
          <p:nvPr/>
        </p:nvSpPr>
        <p:spPr>
          <a:xfrm xmlns:a="http://schemas.openxmlformats.org/drawingml/2006/main">
            <a:off x="6248400" y="19526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RESEARCH OPPORTUNITY</a:t>
            </a:r>
          </a:p>
        </p:txBody>
      </p:sp>
      <p:sp>
        <p:nvSpPr>
          <p:cNvPr id="13" name="">
            <a:extLst xmlns:a="http://schemas.openxmlformats.org/drawingml/2006/main">
              <a:ext uri="{FF2B5EF4-FFF2-40B4-BE49-F238E27FC236}">
                <a16:creationId xmlns:a16="http://schemas.microsoft.com/office/drawing/2014/main" id="{C1647561-E639-4CFF-8AFF-363733E7E72F}"/>
              </a:ext>
            </a:extLst>
          </p:cNvPr>
          <p:cNvSpPr>
            <a:spLocks xmlns:a="http://schemas.openxmlformats.org/drawingml/2006/main" noGrp="1"/>
          </p:cNvSpPr>
          <p:nvPr/>
        </p:nvSpPr>
        <p:spPr>
          <a:xfrm xmlns:a="http://schemas.openxmlformats.org/drawingml/2006/main">
            <a:off x="6248400" y="22669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Prediction markets expose prices and participant histories</a:t>
            </a:r>
          </a:p>
        </p:txBody>
      </p:sp>
      <p:sp>
        <p:nvSpPr>
          <p:cNvPr id="14" name="">
            <a:extLst xmlns:a="http://schemas.openxmlformats.org/drawingml/2006/main">
              <a:ext uri="{FF2B5EF4-FFF2-40B4-BE49-F238E27FC236}">
                <a16:creationId xmlns:a16="http://schemas.microsoft.com/office/drawing/2014/main" id="{452D7F23-A2B9-420D-983A-CA5CB5486D2C}"/>
              </a:ext>
            </a:extLst>
          </p:cNvPr>
          <p:cNvSpPr>
            <a:spLocks xmlns:a="http://schemas.openxmlformats.org/drawingml/2006/main" noGrp="1"/>
          </p:cNvSpPr>
          <p:nvPr/>
        </p:nvSpPr>
        <p:spPr>
          <a:xfrm xmlns:a="http://schemas.openxmlformats.org/drawingml/2006/main">
            <a:off x="6248400" y="30099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55555"/>
                </a:solidFill>
                <a:latin typeface="Arial"/>
                <a:ea typeface="Arial"/>
                <a:cs typeface="Arial"/>
              </a:defRPr>
            </a:pPr>
            <a:r>
              <a:rPr sz="1275" b="0" i="0">
                <a:solidFill>
                  <a:srgbClr val="555555"/>
                </a:solidFill>
                <a:latin typeface="Arial"/>
                <a:ea typeface="Arial"/>
                <a:cs typeface="Arial"/>
              </a:rPr>
              <a:t>Contract prices provide market-implied probabilities. Public settlement records make dated wallet behaviour observable for research.</a:t>
            </a:r>
          </a:p>
        </p:txBody>
      </p:sp>
      <p:sp>
        <p:nvSpPr>
          <p:cNvPr id="15" name="">
            <a:extLst xmlns:a="http://schemas.openxmlformats.org/drawingml/2006/main">
              <a:ext uri="{FF2B5EF4-FFF2-40B4-BE49-F238E27FC236}">
                <a16:creationId xmlns:a16="http://schemas.microsoft.com/office/drawing/2014/main" id="{6DCE26FB-7E9E-4EFE-9190-0DA32640B347}"/>
              </a:ext>
            </a:extLst>
          </p:cNvPr>
          <p:cNvSpPr>
            <a:spLocks xmlns:a="http://schemas.openxmlformats.org/drawingml/2006/main" noGrp="1"/>
          </p:cNvSpPr>
          <p:nvPr/>
        </p:nvSpPr>
        <p:spPr>
          <a:xfrm xmlns:a="http://schemas.openxmlformats.org/drawingml/2006/main">
            <a:off x="609600" y="4200525"/>
            <a:ext cx="1466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i="0">
                <a:solidFill>
                  <a:srgbClr val="A33D2E"/>
                </a:solidFill>
                <a:latin typeface="Arial"/>
                <a:ea typeface="Arial"/>
                <a:cs typeface="Arial"/>
              </a:defRPr>
            </a:pPr>
            <a:r>
              <a:rPr sz="3300" b="1" i="0">
                <a:solidFill>
                  <a:srgbClr val="A33D2E"/>
                </a:solidFill>
                <a:latin typeface="Arial"/>
                <a:ea typeface="Arial"/>
                <a:cs typeface="Arial"/>
              </a:rPr>
              <a:t>69%</a:t>
            </a:r>
          </a:p>
        </p:txBody>
      </p:sp>
      <p:sp>
        <p:nvSpPr>
          <p:cNvPr id="16" name="">
            <a:extLst xmlns:a="http://schemas.openxmlformats.org/drawingml/2006/main">
              <a:ext uri="{FF2B5EF4-FFF2-40B4-BE49-F238E27FC236}">
                <a16:creationId xmlns:a16="http://schemas.microsoft.com/office/drawing/2014/main" id="{CF66B187-F183-47EE-99B9-8F47AF33E355}"/>
              </a:ext>
            </a:extLst>
          </p:cNvPr>
          <p:cNvSpPr>
            <a:spLocks xmlns:a="http://schemas.openxmlformats.org/drawingml/2006/main" noGrp="1"/>
          </p:cNvSpPr>
          <p:nvPr/>
        </p:nvSpPr>
        <p:spPr>
          <a:xfrm xmlns:a="http://schemas.openxmlformats.org/drawingml/2006/main">
            <a:off x="609600" y="47720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of users lost money in one recent Polymarket study</a:t>
            </a:r>
          </a:p>
        </p:txBody>
      </p:sp>
      <p:sp>
        <p:nvSpPr>
          <p:cNvPr id="17" name="">
            <a:extLst xmlns:a="http://schemas.openxmlformats.org/drawingml/2006/main">
              <a:ext uri="{FF2B5EF4-FFF2-40B4-BE49-F238E27FC236}">
                <a16:creationId xmlns:a16="http://schemas.microsoft.com/office/drawing/2014/main" id="{AF4557AC-645D-46CE-9765-955A10CBE0D1}"/>
              </a:ext>
            </a:extLst>
          </p:cNvPr>
          <p:cNvSpPr>
            <a:spLocks xmlns:a="http://schemas.openxmlformats.org/drawingml/2006/main" noGrp="1"/>
          </p:cNvSpPr>
          <p:nvPr/>
        </p:nvSpPr>
        <p:spPr>
          <a:xfrm xmlns:a="http://schemas.openxmlformats.org/drawingml/2006/main">
            <a:off x="3381375" y="4200525"/>
            <a:ext cx="1466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i="0">
                <a:solidFill>
                  <a:srgbClr val="A33D2E"/>
                </a:solidFill>
                <a:latin typeface="Arial"/>
                <a:ea typeface="Arial"/>
                <a:cs typeface="Arial"/>
              </a:defRPr>
            </a:pPr>
            <a:r>
              <a:rPr sz="3300" b="1" i="0">
                <a:solidFill>
                  <a:srgbClr val="A33D2E"/>
                </a:solidFill>
                <a:latin typeface="Arial"/>
                <a:ea typeface="Arial"/>
                <a:cs typeface="Arial"/>
              </a:rPr>
              <a:t>0.1%</a:t>
            </a:r>
          </a:p>
        </p:txBody>
      </p:sp>
      <p:sp>
        <p:nvSpPr>
          <p:cNvPr id="18" name="">
            <a:extLst xmlns:a="http://schemas.openxmlformats.org/drawingml/2006/main">
              <a:ext uri="{FF2B5EF4-FFF2-40B4-BE49-F238E27FC236}">
                <a16:creationId xmlns:a16="http://schemas.microsoft.com/office/drawing/2014/main" id="{58DC0EBB-3D63-4F34-9D35-797F99F84364}"/>
              </a:ext>
            </a:extLst>
          </p:cNvPr>
          <p:cNvSpPr>
            <a:spLocks xmlns:a="http://schemas.openxmlformats.org/drawingml/2006/main" noGrp="1"/>
          </p:cNvSpPr>
          <p:nvPr/>
        </p:nvSpPr>
        <p:spPr>
          <a:xfrm xmlns:a="http://schemas.openxmlformats.org/drawingml/2006/main">
            <a:off x="3381375" y="47720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of users captured more than half of aggregate gains</a:t>
            </a:r>
          </a:p>
        </p:txBody>
      </p:sp>
      <p:sp>
        <p:nvSpPr>
          <p:cNvPr id="19" name="">
            <a:extLst xmlns:a="http://schemas.openxmlformats.org/drawingml/2006/main">
              <a:ext uri="{FF2B5EF4-FFF2-40B4-BE49-F238E27FC236}">
                <a16:creationId xmlns:a16="http://schemas.microsoft.com/office/drawing/2014/main" id="{A953E7C5-797B-4BC5-B23F-705B3F2A9193}"/>
              </a:ext>
            </a:extLst>
          </p:cNvPr>
          <p:cNvSpPr>
            <a:spLocks xmlns:a="http://schemas.openxmlformats.org/drawingml/2006/main" noGrp="1"/>
          </p:cNvSpPr>
          <p:nvPr/>
        </p:nvSpPr>
        <p:spPr>
          <a:xfrm xmlns:a="http://schemas.openxmlformats.org/drawingml/2006/main">
            <a:off x="6438900" y="4152900"/>
            <a:ext cx="5143500" cy="1314450"/>
          </a:xfrm>
          <a:prstGeom xmlns:a="http://schemas.openxmlformats.org/drawingml/2006/main" prst="rect">
            <a:avLst/>
          </a:prstGeom>
          <a:solidFill xmlns:a="http://schemas.openxmlformats.org/drawingml/2006/main">
            <a:srgbClr val="FFFFFF"/>
          </a:solidFill>
          <a:ln xmlns:a="http://schemas.openxmlformats.org/drawingml/2006/main" w="19050">
            <a:solidFill>
              <a:srgbClr val="1A1A1A"/>
            </a:solidFill>
            <a:prstDash val="solid"/>
          </a:ln>
        </p:spPr>
      </p:sp>
      <p:sp>
        <p:nvSpPr>
          <p:cNvPr id="20" name="">
            <a:extLst xmlns:a="http://schemas.openxmlformats.org/drawingml/2006/main">
              <a:ext uri="{FF2B5EF4-FFF2-40B4-BE49-F238E27FC236}">
                <a16:creationId xmlns:a16="http://schemas.microsoft.com/office/drawing/2014/main" id="{43434440-F5ED-4E0B-BE5D-D09CFF88D12D}"/>
              </a:ext>
            </a:extLst>
          </p:cNvPr>
          <p:cNvSpPr>
            <a:spLocks xmlns:a="http://schemas.openxmlformats.org/drawingml/2006/main" noGrp="1"/>
          </p:cNvSpPr>
          <p:nvPr/>
        </p:nvSpPr>
        <p:spPr>
          <a:xfrm xmlns:a="http://schemas.openxmlformats.org/drawingml/2006/main">
            <a:off x="6667500" y="43338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CORE QUESTION</a:t>
            </a:r>
          </a:p>
        </p:txBody>
      </p:sp>
      <p:sp>
        <p:nvSpPr>
          <p:cNvPr id="21" name="">
            <a:extLst xmlns:a="http://schemas.openxmlformats.org/drawingml/2006/main">
              <a:ext uri="{FF2B5EF4-FFF2-40B4-BE49-F238E27FC236}">
                <a16:creationId xmlns:a16="http://schemas.microsoft.com/office/drawing/2014/main" id="{16B2BA9A-2C14-442D-8248-77F66000F71B}"/>
              </a:ext>
            </a:extLst>
          </p:cNvPr>
          <p:cNvSpPr>
            <a:spLocks xmlns:a="http://schemas.openxmlformats.org/drawingml/2006/main" noGrp="1"/>
          </p:cNvSpPr>
          <p:nvPr/>
        </p:nvSpPr>
        <p:spPr>
          <a:xfrm xmlns:a="http://schemas.openxmlformats.org/drawingml/2006/main">
            <a:off x="6667500" y="4648200"/>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A1A1A"/>
                </a:solidFill>
                <a:latin typeface="Arial"/>
                <a:ea typeface="Arial"/>
                <a:cs typeface="Arial"/>
              </a:defRPr>
            </a:pPr>
            <a:r>
              <a:rPr sz="1725" b="1" i="0">
                <a:solidFill>
                  <a:srgbClr val="1A1A1A"/>
                </a:solidFill>
                <a:latin typeface="Arial"/>
                <a:ea typeface="Arial"/>
                <a:cs typeface="Arial"/>
              </a:rPr>
              <a:t>Do wallet and event features improve out-of-sample volatility forecasts?</a:t>
            </a:r>
          </a:p>
        </p:txBody>
      </p:sp>
    </p:spTree>
    <p:extLst>
      <p:ext uri="{BB962C8B-B14F-4D97-AF65-F5344CB8AC3E}">
        <p14:creationId xmlns:p14="http://schemas.microsoft.com/office/powerpoint/2010/main" val="2011043564"/>
      </p:ext>
    </p:extLst>
  </p:cSld>
</p:sld>
</file>

<file path=ppt/slides/slide3.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0415A97-8C12-4B23-9864-F06EF283077D}"/>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RESEARCH BOUNDARY</a:t>
            </a:r>
          </a:p>
        </p:txBody>
      </p:sp>
      <p:sp>
        <p:nvSpPr>
          <p:cNvPr id="2" name="">
            <a:extLst xmlns:a="http://schemas.openxmlformats.org/drawingml/2006/main">
              <a:ext uri="{FF2B5EF4-FFF2-40B4-BE49-F238E27FC236}">
                <a16:creationId xmlns:a16="http://schemas.microsoft.com/office/drawing/2014/main" id="{D827CA38-9B47-4395-A8D0-AF874DB2E803}"/>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A narrow MVP keeps the test credible</a:t>
            </a:r>
          </a:p>
        </p:txBody>
      </p:sp>
      <p:sp>
        <p:nvSpPr>
          <p:cNvPr id="3" name="">
            <a:extLst xmlns:a="http://schemas.openxmlformats.org/drawingml/2006/main">
              <a:ext uri="{FF2B5EF4-FFF2-40B4-BE49-F238E27FC236}">
                <a16:creationId xmlns:a16="http://schemas.microsoft.com/office/drawing/2014/main" id="{4904D611-3100-466E-966B-6526EFD2E793}"/>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704C2B32-BF94-4475-8A60-3BFDB0327FD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A6B0857D-3A24-42CD-AEE6-1645BA61E801}"/>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6598F013-F1F7-4EA8-B7E9-470D77AFE857}"/>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03 / 10</a:t>
            </a:r>
          </a:p>
        </p:txBody>
      </p:sp>
      <p:sp>
        <p:nvSpPr>
          <p:cNvPr id="7" name="">
            <a:extLst xmlns:a="http://schemas.openxmlformats.org/drawingml/2006/main">
              <a:ext uri="{FF2B5EF4-FFF2-40B4-BE49-F238E27FC236}">
                <a16:creationId xmlns:a16="http://schemas.microsoft.com/office/drawing/2014/main" id="{75221CEF-B5FA-4C2C-9BA9-51799A8F326C}"/>
              </a:ext>
            </a:extLst>
          </p:cNvPr>
          <p:cNvSpPr>
            <a:spLocks xmlns:a="http://schemas.openxmlformats.org/drawingml/2006/main" noGrp="1"/>
          </p:cNvSpPr>
          <p:nvPr/>
        </p:nvSpPr>
        <p:spPr>
          <a:xfrm xmlns:a="http://schemas.openxmlformats.org/drawingml/2006/main">
            <a:off x="609600" y="1790700"/>
            <a:ext cx="6705600" cy="0"/>
          </a:xfrm>
          <a:prstGeom xmlns:a="http://schemas.openxmlformats.org/drawingml/2006/main" prst="line">
            <a:avLst/>
          </a:prstGeom>
          <a:noFill xmlns:a="http://schemas.openxmlformats.org/drawingml/2006/main"/>
          <a:ln xmlns:a="http://schemas.openxmlformats.org/drawingml/2006/main" w="19050">
            <a:solidFill>
              <a:srgbClr val="1A1A1A"/>
            </a:solidFill>
            <a:prstDash val="solid"/>
          </a:ln>
        </p:spPr>
      </p:sp>
      <p:sp>
        <p:nvSpPr>
          <p:cNvPr id="8" name="">
            <a:extLst xmlns:a="http://schemas.openxmlformats.org/drawingml/2006/main">
              <a:ext uri="{FF2B5EF4-FFF2-40B4-BE49-F238E27FC236}">
                <a16:creationId xmlns:a16="http://schemas.microsoft.com/office/drawing/2014/main" id="{B6C7A988-6FB3-4AA2-AFE1-845585FDE883}"/>
              </a:ext>
            </a:extLst>
          </p:cNvPr>
          <p:cNvSpPr>
            <a:spLocks xmlns:a="http://schemas.openxmlformats.org/drawingml/2006/main" noGrp="1"/>
          </p:cNvSpPr>
          <p:nvPr/>
        </p:nvSpPr>
        <p:spPr>
          <a:xfrm xmlns:a="http://schemas.openxmlformats.org/drawingml/2006/main">
            <a:off x="647700" y="19716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VENUE</a:t>
            </a:r>
          </a:p>
        </p:txBody>
      </p:sp>
      <p:sp>
        <p:nvSpPr>
          <p:cNvPr id="9" name="">
            <a:extLst xmlns:a="http://schemas.openxmlformats.org/drawingml/2006/main">
              <a:ext uri="{FF2B5EF4-FFF2-40B4-BE49-F238E27FC236}">
                <a16:creationId xmlns:a16="http://schemas.microsoft.com/office/drawing/2014/main" id="{CA8DE6FB-99FD-4D79-AE97-2B070ACDC645}"/>
              </a:ext>
            </a:extLst>
          </p:cNvPr>
          <p:cNvSpPr>
            <a:spLocks xmlns:a="http://schemas.openxmlformats.org/drawingml/2006/main" noGrp="1"/>
          </p:cNvSpPr>
          <p:nvPr/>
        </p:nvSpPr>
        <p:spPr>
          <a:xfrm xmlns:a="http://schemas.openxmlformats.org/drawingml/2006/main">
            <a:off x="2324100" y="19050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Polymarket on Polygon</a:t>
            </a:r>
          </a:p>
        </p:txBody>
      </p:sp>
      <p:sp>
        <p:nvSpPr>
          <p:cNvPr id="10" name="">
            <a:extLst xmlns:a="http://schemas.openxmlformats.org/drawingml/2006/main">
              <a:ext uri="{FF2B5EF4-FFF2-40B4-BE49-F238E27FC236}">
                <a16:creationId xmlns:a16="http://schemas.microsoft.com/office/drawing/2014/main" id="{FD0FD426-2FEE-41B8-8E58-BCF51C1BD570}"/>
              </a:ext>
            </a:extLst>
          </p:cNvPr>
          <p:cNvSpPr>
            <a:spLocks xmlns:a="http://schemas.openxmlformats.org/drawingml/2006/main" noGrp="1"/>
          </p:cNvSpPr>
          <p:nvPr/>
        </p:nvSpPr>
        <p:spPr>
          <a:xfrm xmlns:a="http://schemas.openxmlformats.org/drawingml/2006/main">
            <a:off x="609600" y="249555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11" name="">
            <a:extLst xmlns:a="http://schemas.openxmlformats.org/drawingml/2006/main">
              <a:ext uri="{FF2B5EF4-FFF2-40B4-BE49-F238E27FC236}">
                <a16:creationId xmlns:a16="http://schemas.microsoft.com/office/drawing/2014/main" id="{29F57F96-CC3A-4E2B-859A-FCE2DEDBC7C0}"/>
              </a:ext>
            </a:extLst>
          </p:cNvPr>
          <p:cNvSpPr>
            <a:spLocks xmlns:a="http://schemas.openxmlformats.org/drawingml/2006/main" noGrp="1"/>
          </p:cNvSpPr>
          <p:nvPr/>
        </p:nvSpPr>
        <p:spPr>
          <a:xfrm xmlns:a="http://schemas.openxmlformats.org/drawingml/2006/main">
            <a:off x="647700" y="267652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EVENTS</a:t>
            </a:r>
          </a:p>
        </p:txBody>
      </p:sp>
      <p:sp>
        <p:nvSpPr>
          <p:cNvPr id="12" name="">
            <a:extLst xmlns:a="http://schemas.openxmlformats.org/drawingml/2006/main">
              <a:ext uri="{FF2B5EF4-FFF2-40B4-BE49-F238E27FC236}">
                <a16:creationId xmlns:a16="http://schemas.microsoft.com/office/drawing/2014/main" id="{4A006E88-4942-4D7A-8207-18AEB9F9E297}"/>
              </a:ext>
            </a:extLst>
          </p:cNvPr>
          <p:cNvSpPr>
            <a:spLocks xmlns:a="http://schemas.openxmlformats.org/drawingml/2006/main" noGrp="1"/>
          </p:cNvSpPr>
          <p:nvPr/>
        </p:nvSpPr>
        <p:spPr>
          <a:xfrm xmlns:a="http://schemas.openxmlformats.org/drawingml/2006/main">
            <a:off x="2324100" y="26098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Federal Reserve rate decisions</a:t>
            </a:r>
          </a:p>
        </p:txBody>
      </p:sp>
      <p:sp>
        <p:nvSpPr>
          <p:cNvPr id="13" name="">
            <a:extLst xmlns:a="http://schemas.openxmlformats.org/drawingml/2006/main">
              <a:ext uri="{FF2B5EF4-FFF2-40B4-BE49-F238E27FC236}">
                <a16:creationId xmlns:a16="http://schemas.microsoft.com/office/drawing/2014/main" id="{6D985027-DCB1-4323-AA82-633731EB16BB}"/>
              </a:ext>
            </a:extLst>
          </p:cNvPr>
          <p:cNvSpPr>
            <a:spLocks xmlns:a="http://schemas.openxmlformats.org/drawingml/2006/main" noGrp="1"/>
          </p:cNvSpPr>
          <p:nvPr/>
        </p:nvSpPr>
        <p:spPr>
          <a:xfrm xmlns:a="http://schemas.openxmlformats.org/drawingml/2006/main">
            <a:off x="609600" y="320040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14" name="">
            <a:extLst xmlns:a="http://schemas.openxmlformats.org/drawingml/2006/main">
              <a:ext uri="{FF2B5EF4-FFF2-40B4-BE49-F238E27FC236}">
                <a16:creationId xmlns:a16="http://schemas.microsoft.com/office/drawing/2014/main" id="{CC1F0CE8-D090-4577-92AC-FC08E31B41A3}"/>
              </a:ext>
            </a:extLst>
          </p:cNvPr>
          <p:cNvSpPr>
            <a:spLocks xmlns:a="http://schemas.openxmlformats.org/drawingml/2006/main" noGrp="1"/>
          </p:cNvSpPr>
          <p:nvPr/>
        </p:nvSpPr>
        <p:spPr>
          <a:xfrm xmlns:a="http://schemas.openxmlformats.org/drawingml/2006/main">
            <a:off x="647700" y="33813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ASSETS</a:t>
            </a:r>
          </a:p>
        </p:txBody>
      </p:sp>
      <p:sp>
        <p:nvSpPr>
          <p:cNvPr id="15" name="">
            <a:extLst xmlns:a="http://schemas.openxmlformats.org/drawingml/2006/main">
              <a:ext uri="{FF2B5EF4-FFF2-40B4-BE49-F238E27FC236}">
                <a16:creationId xmlns:a16="http://schemas.microsoft.com/office/drawing/2014/main" id="{AA698E18-3614-4EB3-99E6-B12993E4F61C}"/>
              </a:ext>
            </a:extLst>
          </p:cNvPr>
          <p:cNvSpPr>
            <a:spLocks xmlns:a="http://schemas.openxmlformats.org/drawingml/2006/main" noGrp="1"/>
          </p:cNvSpPr>
          <p:nvPr/>
        </p:nvSpPr>
        <p:spPr>
          <a:xfrm xmlns:a="http://schemas.openxmlformats.org/drawingml/2006/main">
            <a:off x="2324100" y="33147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Major indices and ETFs</a:t>
            </a:r>
          </a:p>
        </p:txBody>
      </p:sp>
      <p:sp>
        <p:nvSpPr>
          <p:cNvPr id="16" name="">
            <a:extLst xmlns:a="http://schemas.openxmlformats.org/drawingml/2006/main">
              <a:ext uri="{FF2B5EF4-FFF2-40B4-BE49-F238E27FC236}">
                <a16:creationId xmlns:a16="http://schemas.microsoft.com/office/drawing/2014/main" id="{BC6A89EA-95D4-46F6-A432-55CD3D767FE6}"/>
              </a:ext>
            </a:extLst>
          </p:cNvPr>
          <p:cNvSpPr>
            <a:spLocks xmlns:a="http://schemas.openxmlformats.org/drawingml/2006/main" noGrp="1"/>
          </p:cNvSpPr>
          <p:nvPr/>
        </p:nvSpPr>
        <p:spPr>
          <a:xfrm xmlns:a="http://schemas.openxmlformats.org/drawingml/2006/main">
            <a:off x="609600" y="390525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17" name="">
            <a:extLst xmlns:a="http://schemas.openxmlformats.org/drawingml/2006/main">
              <a:ext uri="{FF2B5EF4-FFF2-40B4-BE49-F238E27FC236}">
                <a16:creationId xmlns:a16="http://schemas.microsoft.com/office/drawing/2014/main" id="{D7DDE444-7D45-4A65-A9CC-F4CAC65AE19B}"/>
              </a:ext>
            </a:extLst>
          </p:cNvPr>
          <p:cNvSpPr>
            <a:spLocks xmlns:a="http://schemas.openxmlformats.org/drawingml/2006/main" noGrp="1"/>
          </p:cNvSpPr>
          <p:nvPr/>
        </p:nvSpPr>
        <p:spPr>
          <a:xfrm xmlns:a="http://schemas.openxmlformats.org/drawingml/2006/main">
            <a:off x="647700" y="408622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HORIZONS</a:t>
            </a:r>
          </a:p>
        </p:txBody>
      </p:sp>
      <p:sp>
        <p:nvSpPr>
          <p:cNvPr id="18" name="">
            <a:extLst xmlns:a="http://schemas.openxmlformats.org/drawingml/2006/main">
              <a:ext uri="{FF2B5EF4-FFF2-40B4-BE49-F238E27FC236}">
                <a16:creationId xmlns:a16="http://schemas.microsoft.com/office/drawing/2014/main" id="{07039D32-5BC0-4E0B-9495-C4D004F9E60C}"/>
              </a:ext>
            </a:extLst>
          </p:cNvPr>
          <p:cNvSpPr>
            <a:spLocks xmlns:a="http://schemas.openxmlformats.org/drawingml/2006/main" noGrp="1"/>
          </p:cNvSpPr>
          <p:nvPr/>
        </p:nvSpPr>
        <p:spPr>
          <a:xfrm xmlns:a="http://schemas.openxmlformats.org/drawingml/2006/main">
            <a:off x="2324100" y="40195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1, 5 and 20 trading days</a:t>
            </a:r>
          </a:p>
        </p:txBody>
      </p:sp>
      <p:sp>
        <p:nvSpPr>
          <p:cNvPr id="19" name="">
            <a:extLst xmlns:a="http://schemas.openxmlformats.org/drawingml/2006/main">
              <a:ext uri="{FF2B5EF4-FFF2-40B4-BE49-F238E27FC236}">
                <a16:creationId xmlns:a16="http://schemas.microsoft.com/office/drawing/2014/main" id="{902B1EC5-E74C-45F3-91F3-E08CEC3DEF82}"/>
              </a:ext>
            </a:extLst>
          </p:cNvPr>
          <p:cNvSpPr>
            <a:spLocks xmlns:a="http://schemas.openxmlformats.org/drawingml/2006/main" noGrp="1"/>
          </p:cNvSpPr>
          <p:nvPr/>
        </p:nvSpPr>
        <p:spPr>
          <a:xfrm xmlns:a="http://schemas.openxmlformats.org/drawingml/2006/main">
            <a:off x="609600" y="461010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20" name="">
            <a:extLst xmlns:a="http://schemas.openxmlformats.org/drawingml/2006/main">
              <a:ext uri="{FF2B5EF4-FFF2-40B4-BE49-F238E27FC236}">
                <a16:creationId xmlns:a16="http://schemas.microsoft.com/office/drawing/2014/main" id="{67C7FC03-5B89-4124-9532-05609598C52C}"/>
              </a:ext>
            </a:extLst>
          </p:cNvPr>
          <p:cNvSpPr>
            <a:spLocks xmlns:a="http://schemas.openxmlformats.org/drawingml/2006/main" noGrp="1"/>
          </p:cNvSpPr>
          <p:nvPr/>
        </p:nvSpPr>
        <p:spPr>
          <a:xfrm xmlns:a="http://schemas.openxmlformats.org/drawingml/2006/main">
            <a:off x="647700" y="47910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WALLET MODEL</a:t>
            </a:r>
          </a:p>
        </p:txBody>
      </p:sp>
      <p:sp>
        <p:nvSpPr>
          <p:cNvPr id="21" name="">
            <a:extLst xmlns:a="http://schemas.openxmlformats.org/drawingml/2006/main">
              <a:ext uri="{FF2B5EF4-FFF2-40B4-BE49-F238E27FC236}">
                <a16:creationId xmlns:a16="http://schemas.microsoft.com/office/drawing/2014/main" id="{2AB375A1-E312-41B4-9FE8-9DC369C4F92A}"/>
              </a:ext>
            </a:extLst>
          </p:cNvPr>
          <p:cNvSpPr>
            <a:spLocks xmlns:a="http://schemas.openxmlformats.org/drawingml/2006/main" noGrp="1"/>
          </p:cNvSpPr>
          <p:nvPr/>
        </p:nvSpPr>
        <p:spPr>
          <a:xfrm xmlns:a="http://schemas.openxmlformats.org/drawingml/2006/main">
            <a:off x="2324100" y="47244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A1A1A"/>
                </a:solidFill>
                <a:latin typeface="Arial"/>
                <a:ea typeface="Arial"/>
                <a:cs typeface="Arial"/>
              </a:defRPr>
            </a:pPr>
            <a:r>
              <a:rPr sz="1800" b="1" i="0">
                <a:solidFill>
                  <a:srgbClr val="1A1A1A"/>
                </a:solidFill>
                <a:latin typeface="Arial"/>
                <a:ea typeface="Arial"/>
                <a:cs typeface="Arial"/>
              </a:rPr>
              <a:t>Address-level, past-only scoring</a:t>
            </a:r>
          </a:p>
        </p:txBody>
      </p:sp>
      <p:sp>
        <p:nvSpPr>
          <p:cNvPr id="22" name="">
            <a:extLst xmlns:a="http://schemas.openxmlformats.org/drawingml/2006/main">
              <a:ext uri="{FF2B5EF4-FFF2-40B4-BE49-F238E27FC236}">
                <a16:creationId xmlns:a16="http://schemas.microsoft.com/office/drawing/2014/main" id="{56921F04-5ABF-470F-92C5-5C573E541B5B}"/>
              </a:ext>
            </a:extLst>
          </p:cNvPr>
          <p:cNvSpPr>
            <a:spLocks xmlns:a="http://schemas.openxmlformats.org/drawingml/2006/main" noGrp="1"/>
          </p:cNvSpPr>
          <p:nvPr/>
        </p:nvSpPr>
        <p:spPr>
          <a:xfrm xmlns:a="http://schemas.openxmlformats.org/drawingml/2006/main">
            <a:off x="609600" y="5314950"/>
            <a:ext cx="67056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23" name="">
            <a:extLst xmlns:a="http://schemas.openxmlformats.org/drawingml/2006/main">
              <a:ext uri="{FF2B5EF4-FFF2-40B4-BE49-F238E27FC236}">
                <a16:creationId xmlns:a16="http://schemas.microsoft.com/office/drawing/2014/main" id="{7AD993F4-9503-40EA-BB63-9866A16D45EE}"/>
              </a:ext>
            </a:extLst>
          </p:cNvPr>
          <p:cNvSpPr>
            <a:spLocks xmlns:a="http://schemas.openxmlformats.org/drawingml/2006/main" noGrp="1"/>
          </p:cNvSpPr>
          <p:nvPr/>
        </p:nvSpPr>
        <p:spPr>
          <a:xfrm xmlns:a="http://schemas.openxmlformats.org/drawingml/2006/main">
            <a:off x="7791450" y="1809750"/>
            <a:ext cx="3790950" cy="1552575"/>
          </a:xfrm>
          <a:prstGeom xmlns:a="http://schemas.openxmlformats.org/drawingml/2006/main" prst="rect">
            <a:avLst/>
          </a:prstGeom>
          <a:solidFill xmlns:a="http://schemas.openxmlformats.org/drawingml/2006/main">
            <a:srgbClr val="A33D2E"/>
          </a:solidFill>
          <a:ln xmlns:a="http://schemas.openxmlformats.org/drawingml/2006/main" w="14288">
            <a:solidFill>
              <a:srgbClr val="A33D2E"/>
            </a:solidFill>
            <a:prstDash val="solid"/>
          </a:ln>
        </p:spPr>
      </p:sp>
      <p:sp>
        <p:nvSpPr>
          <p:cNvPr id="24" name="">
            <a:extLst xmlns:a="http://schemas.openxmlformats.org/drawingml/2006/main">
              <a:ext uri="{FF2B5EF4-FFF2-40B4-BE49-F238E27FC236}">
                <a16:creationId xmlns:a16="http://schemas.microsoft.com/office/drawing/2014/main" id="{C5BA4EC5-8C71-4AF6-B2D0-97736E324C00}"/>
              </a:ext>
            </a:extLst>
          </p:cNvPr>
          <p:cNvSpPr>
            <a:spLocks xmlns:a="http://schemas.openxmlformats.org/drawingml/2006/main" noGrp="1"/>
          </p:cNvSpPr>
          <p:nvPr/>
        </p:nvSpPr>
        <p:spPr>
          <a:xfrm xmlns:a="http://schemas.openxmlformats.org/drawingml/2006/main">
            <a:off x="8039100" y="20383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F5CFC6"/>
                </a:solidFill>
                <a:latin typeface="Arial"/>
                <a:ea typeface="Arial"/>
                <a:cs typeface="Arial"/>
              </a:defRPr>
            </a:pPr>
            <a:r>
              <a:rPr sz="825" b="1" i="0">
                <a:solidFill>
                  <a:srgbClr val="F5CFC6"/>
                </a:solidFill>
                <a:latin typeface="Arial"/>
                <a:ea typeface="Arial"/>
                <a:cs typeface="Arial"/>
              </a:rPr>
              <a:t>SUCCESS CRITERION</a:t>
            </a:r>
          </a:p>
        </p:txBody>
      </p:sp>
      <p:sp>
        <p:nvSpPr>
          <p:cNvPr id="25" name="">
            <a:extLst xmlns:a="http://schemas.openxmlformats.org/drawingml/2006/main">
              <a:ext uri="{FF2B5EF4-FFF2-40B4-BE49-F238E27FC236}">
                <a16:creationId xmlns:a16="http://schemas.microsoft.com/office/drawing/2014/main" id="{1651808B-BFC6-4BBE-AF97-DCAC3FA4EFAA}"/>
              </a:ext>
            </a:extLst>
          </p:cNvPr>
          <p:cNvSpPr>
            <a:spLocks xmlns:a="http://schemas.openxmlformats.org/drawingml/2006/main" noGrp="1"/>
          </p:cNvSpPr>
          <p:nvPr/>
        </p:nvSpPr>
        <p:spPr>
          <a:xfrm xmlns:a="http://schemas.openxmlformats.org/drawingml/2006/main">
            <a:off x="8039100" y="2409825"/>
            <a:ext cx="3295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644"/>
          </a:bodyPr>
          <a:lstStyle xmlns:a="http://schemas.openxmlformats.org/drawingml/2006/main"/>
          <a:p xmlns:a="http://schemas.openxmlformats.org/drawingml/2006/main">
            <a:pPr algn="l">
              <a:defRPr sz="1950" b="1" i="0">
                <a:solidFill>
                  <a:srgbClr val="FFFFFF"/>
                </a:solidFill>
                <a:latin typeface="Arial"/>
                <a:ea typeface="Arial"/>
                <a:cs typeface="Arial"/>
              </a:defRPr>
            </a:pPr>
            <a:r>
              <a:rPr sz="1950" b="1" i="0">
                <a:solidFill>
                  <a:srgbClr val="FFFFFF"/>
                </a:solidFill>
                <a:latin typeface="Arial"/>
                <a:ea typeface="Arial"/>
                <a:cs typeface="Arial"/>
              </a:rPr>
              <a:t>Incremental predictive value against a fixed volatility baseline</a:t>
            </a:r>
          </a:p>
        </p:txBody>
      </p:sp>
      <p:sp>
        <p:nvSpPr>
          <p:cNvPr id="26" name="">
            <a:extLst xmlns:a="http://schemas.openxmlformats.org/drawingml/2006/main">
              <a:ext uri="{FF2B5EF4-FFF2-40B4-BE49-F238E27FC236}">
                <a16:creationId xmlns:a16="http://schemas.microsoft.com/office/drawing/2014/main" id="{A389C1DD-D42C-4C47-87F4-F05FB965F4E3}"/>
              </a:ext>
            </a:extLst>
          </p:cNvPr>
          <p:cNvSpPr>
            <a:spLocks xmlns:a="http://schemas.openxmlformats.org/drawingml/2006/main" noGrp="1"/>
          </p:cNvSpPr>
          <p:nvPr/>
        </p:nvSpPr>
        <p:spPr>
          <a:xfrm xmlns:a="http://schemas.openxmlformats.org/drawingml/2006/main">
            <a:off x="7791450" y="3724275"/>
            <a:ext cx="3790950" cy="0"/>
          </a:xfrm>
          <a:prstGeom xmlns:a="http://schemas.openxmlformats.org/drawingml/2006/main" prst="line">
            <a:avLst/>
          </a:prstGeom>
          <a:noFill xmlns:a="http://schemas.openxmlformats.org/drawingml/2006/main"/>
          <a:ln xmlns:a="http://schemas.openxmlformats.org/drawingml/2006/main" w="19050">
            <a:solidFill>
              <a:srgbClr val="1A1A1A"/>
            </a:solidFill>
            <a:prstDash val="solid"/>
          </a:ln>
        </p:spPr>
      </p:sp>
      <p:sp>
        <p:nvSpPr>
          <p:cNvPr id="27" name="">
            <a:extLst xmlns:a="http://schemas.openxmlformats.org/drawingml/2006/main">
              <a:ext uri="{FF2B5EF4-FFF2-40B4-BE49-F238E27FC236}">
                <a16:creationId xmlns:a16="http://schemas.microsoft.com/office/drawing/2014/main" id="{5D796E9A-62B8-4F7A-B9C4-5948015B7BCD}"/>
              </a:ext>
            </a:extLst>
          </p:cNvPr>
          <p:cNvSpPr>
            <a:spLocks xmlns:a="http://schemas.openxmlformats.org/drawingml/2006/main" noGrp="1"/>
          </p:cNvSpPr>
          <p:nvPr/>
        </p:nvSpPr>
        <p:spPr>
          <a:xfrm xmlns:a="http://schemas.openxmlformats.org/drawingml/2006/main">
            <a:off x="7791450" y="3914775"/>
            <a:ext cx="3790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A1A1A"/>
                </a:solidFill>
                <a:latin typeface="Arial"/>
                <a:ea typeface="Arial"/>
                <a:cs typeface="Arial"/>
              </a:defRPr>
            </a:pPr>
            <a:r>
              <a:rPr sz="1725" b="1" i="0">
                <a:solidFill>
                  <a:srgbClr val="1A1A1A"/>
                </a:solidFill>
                <a:latin typeface="Arial"/>
                <a:ea typeface="Arial"/>
                <a:cs typeface="Arial"/>
              </a:rPr>
              <a:t>Extensions wait for evidence</a:t>
            </a:r>
          </a:p>
        </p:txBody>
      </p:sp>
      <p:sp>
        <p:nvSpPr>
          <p:cNvPr id="28" name="">
            <a:extLst xmlns:a="http://schemas.openxmlformats.org/drawingml/2006/main">
              <a:ext uri="{FF2B5EF4-FFF2-40B4-BE49-F238E27FC236}">
                <a16:creationId xmlns:a16="http://schemas.microsoft.com/office/drawing/2014/main" id="{4B2277F3-EDAE-48AE-9BA1-DB9D2FB3B22D}"/>
              </a:ext>
            </a:extLst>
          </p:cNvPr>
          <p:cNvSpPr>
            <a:spLocks xmlns:a="http://schemas.openxmlformats.org/drawingml/2006/main" noGrp="1"/>
          </p:cNvSpPr>
          <p:nvPr/>
        </p:nvSpPr>
        <p:spPr>
          <a:xfrm xmlns:a="http://schemas.openxmlformats.org/drawingml/2006/main">
            <a:off x="7791450" y="4400550"/>
            <a:ext cx="3790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55555"/>
                </a:solidFill>
                <a:latin typeface="Arial"/>
                <a:ea typeface="Arial"/>
                <a:cs typeface="Arial"/>
              </a:defRPr>
            </a:pPr>
            <a:r>
              <a:rPr sz="1350" b="0" i="0">
                <a:solidFill>
                  <a:srgbClr val="555555"/>
                </a:solidFill>
                <a:latin typeface="Arial"/>
                <a:ea typeface="Arial"/>
                <a:cs typeface="Arial"/>
              </a:rPr>
              <a:t>Other event classes, individual equities, cross-platform data and entity clustering remain outside the first validation cycle.</a:t>
            </a:r>
          </a:p>
        </p:txBody>
      </p:sp>
    </p:spTree>
    <p:extLst>
      <p:ext uri="{BB962C8B-B14F-4D97-AF65-F5344CB8AC3E}">
        <p14:creationId xmlns:p14="http://schemas.microsoft.com/office/powerpoint/2010/main" val="1297018249"/>
      </p:ext>
    </p:extLst>
  </p:cSld>
</p:sld>
</file>

<file path=ppt/slides/slide4.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5C2961F-EEEA-4E4D-BE74-1C612A54C6F5}"/>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DATA AND PROVENANCE</a:t>
            </a:r>
          </a:p>
        </p:txBody>
      </p:sp>
      <p:sp>
        <p:nvSpPr>
          <p:cNvPr id="2" name="">
            <a:extLst xmlns:a="http://schemas.openxmlformats.org/drawingml/2006/main">
              <a:ext uri="{FF2B5EF4-FFF2-40B4-BE49-F238E27FC236}">
                <a16:creationId xmlns:a16="http://schemas.microsoft.com/office/drawing/2014/main" id="{7B759255-D0F3-40AE-88E7-BBD90AA5DE33}"/>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Evidence becomes versioned research features</a:t>
            </a:r>
          </a:p>
        </p:txBody>
      </p:sp>
      <p:sp>
        <p:nvSpPr>
          <p:cNvPr id="3" name="">
            <a:extLst xmlns:a="http://schemas.openxmlformats.org/drawingml/2006/main">
              <a:ext uri="{FF2B5EF4-FFF2-40B4-BE49-F238E27FC236}">
                <a16:creationId xmlns:a16="http://schemas.microsoft.com/office/drawing/2014/main" id="{A5E66245-7DC9-4C02-B332-CF185CF2CE73}"/>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B92C5FC3-1694-4F52-B09B-9682AE305C0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0E1DDC11-86C7-4009-B72B-6C45CE440427}"/>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6B3C09F8-7373-4E35-86CE-93D48E069798}"/>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04 / 10</a:t>
            </a:r>
          </a:p>
        </p:txBody>
      </p:sp>
      <p:sp>
        <p:nvSpPr>
          <p:cNvPr id="7" name="">
            <a:extLst xmlns:a="http://schemas.openxmlformats.org/drawingml/2006/main">
              <a:ext uri="{FF2B5EF4-FFF2-40B4-BE49-F238E27FC236}">
                <a16:creationId xmlns:a16="http://schemas.microsoft.com/office/drawing/2014/main" id="{6CDFE811-9E24-439D-A864-47C91096C197}"/>
              </a:ext>
            </a:extLst>
          </p:cNvPr>
          <p:cNvSpPr>
            <a:spLocks xmlns:a="http://schemas.openxmlformats.org/drawingml/2006/main" noGrp="1"/>
          </p:cNvSpPr>
          <p:nvPr/>
        </p:nvSpPr>
        <p:spPr>
          <a:xfrm xmlns:a="http://schemas.openxmlformats.org/drawingml/2006/main">
            <a:off x="609600" y="16478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173A5E"/>
                </a:solidFill>
                <a:latin typeface="Arial"/>
                <a:ea typeface="Arial"/>
                <a:cs typeface="Arial"/>
              </a:defRPr>
            </a:pPr>
            <a:r>
              <a:rPr sz="1200" b="1" i="0">
                <a:solidFill>
                  <a:srgbClr val="173A5E"/>
                </a:solidFill>
                <a:latin typeface="Arial"/>
                <a:ea typeface="Arial"/>
                <a:cs typeface="Arial"/>
              </a:rPr>
              <a:t>Polymarket APIs    +    Goldsky fills    +    Polygon receipts    +    ETF prices    +    Federal Reserve releases</a:t>
            </a:r>
          </a:p>
        </p:txBody>
      </p:sp>
      <p:sp>
        <p:nvSpPr>
          <p:cNvPr id="8" name="">
            <a:extLst xmlns:a="http://schemas.openxmlformats.org/drawingml/2006/main">
              <a:ext uri="{FF2B5EF4-FFF2-40B4-BE49-F238E27FC236}">
                <a16:creationId xmlns:a16="http://schemas.microsoft.com/office/drawing/2014/main" id="{82D2076E-8272-4666-98B4-7746AFF89F3C}"/>
              </a:ext>
            </a:extLst>
          </p:cNvPr>
          <p:cNvSpPr>
            <a:spLocks xmlns:a="http://schemas.openxmlformats.org/drawingml/2006/main" noGrp="1"/>
          </p:cNvSpPr>
          <p:nvPr/>
        </p:nvSpPr>
        <p:spPr>
          <a:xfrm xmlns:a="http://schemas.openxmlformats.org/drawingml/2006/main">
            <a:off x="609600" y="2276475"/>
            <a:ext cx="2038350" cy="2324100"/>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9" name="">
            <a:extLst xmlns:a="http://schemas.openxmlformats.org/drawingml/2006/main">
              <a:ext uri="{FF2B5EF4-FFF2-40B4-BE49-F238E27FC236}">
                <a16:creationId xmlns:a16="http://schemas.microsoft.com/office/drawing/2014/main" id="{D5661CE9-5438-4B6F-8610-E5F31CB74F11}"/>
              </a:ext>
            </a:extLst>
          </p:cNvPr>
          <p:cNvSpPr>
            <a:spLocks xmlns:a="http://schemas.openxmlformats.org/drawingml/2006/main" noGrp="1"/>
          </p:cNvSpPr>
          <p:nvPr/>
        </p:nvSpPr>
        <p:spPr>
          <a:xfrm xmlns:a="http://schemas.openxmlformats.org/drawingml/2006/main">
            <a:off x="762000" y="2409825"/>
            <a:ext cx="1733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STEP 01</a:t>
            </a:r>
          </a:p>
        </p:txBody>
      </p:sp>
      <p:sp>
        <p:nvSpPr>
          <p:cNvPr id="10" name="">
            <a:extLst xmlns:a="http://schemas.openxmlformats.org/drawingml/2006/main">
              <a:ext uri="{FF2B5EF4-FFF2-40B4-BE49-F238E27FC236}">
                <a16:creationId xmlns:a16="http://schemas.microsoft.com/office/drawing/2014/main" id="{A40C7CFB-DAF5-4CD4-835E-7502625FA8D9}"/>
              </a:ext>
            </a:extLst>
          </p:cNvPr>
          <p:cNvSpPr>
            <a:spLocks xmlns:a="http://schemas.openxmlformats.org/drawingml/2006/main" noGrp="1"/>
          </p:cNvSpPr>
          <p:nvPr/>
        </p:nvSpPr>
        <p:spPr>
          <a:xfrm xmlns:a="http://schemas.openxmlformats.org/drawingml/2006/main">
            <a:off x="762000" y="2667000"/>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A1A1A"/>
                </a:solidFill>
                <a:latin typeface="Arial"/>
                <a:ea typeface="Arial"/>
                <a:cs typeface="Arial"/>
              </a:defRPr>
            </a:pPr>
            <a:r>
              <a:rPr sz="1575" b="1" i="0">
                <a:solidFill>
                  <a:srgbClr val="1A1A1A"/>
                </a:solidFill>
                <a:latin typeface="Arial"/>
                <a:ea typeface="Arial"/>
                <a:cs typeface="Arial"/>
              </a:rPr>
              <a:t>Acquire</a:t>
            </a:r>
          </a:p>
        </p:txBody>
      </p:sp>
      <p:sp>
        <p:nvSpPr>
          <p:cNvPr id="11" name="">
            <a:extLst xmlns:a="http://schemas.openxmlformats.org/drawingml/2006/main">
              <a:ext uri="{FF2B5EF4-FFF2-40B4-BE49-F238E27FC236}">
                <a16:creationId xmlns:a16="http://schemas.microsoft.com/office/drawing/2014/main" id="{711C31C1-2390-4500-921B-F3DF108CDF82}"/>
              </a:ext>
            </a:extLst>
          </p:cNvPr>
          <p:cNvSpPr>
            <a:spLocks xmlns:a="http://schemas.openxmlformats.org/drawingml/2006/main" noGrp="1"/>
          </p:cNvSpPr>
          <p:nvPr/>
        </p:nvSpPr>
        <p:spPr>
          <a:xfrm xmlns:a="http://schemas.openxmlformats.org/drawingml/2006/main">
            <a:off x="762000" y="3105150"/>
            <a:ext cx="17335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Event definitions, books, fills, receipts and asset histories.</a:t>
            </a:r>
          </a:p>
        </p:txBody>
      </p:sp>
      <p:sp>
        <p:nvSpPr>
          <p:cNvPr id="12" name="">
            <a:extLst xmlns:a="http://schemas.openxmlformats.org/drawingml/2006/main">
              <a:ext uri="{FF2B5EF4-FFF2-40B4-BE49-F238E27FC236}">
                <a16:creationId xmlns:a16="http://schemas.microsoft.com/office/drawing/2014/main" id="{FE5CAE33-433E-430B-BBE5-D7B02B05F7B9}"/>
              </a:ext>
            </a:extLst>
          </p:cNvPr>
          <p:cNvSpPr>
            <a:spLocks xmlns:a="http://schemas.openxmlformats.org/drawingml/2006/main" noGrp="1"/>
          </p:cNvSpPr>
          <p:nvPr/>
        </p:nvSpPr>
        <p:spPr>
          <a:xfrm xmlns:a="http://schemas.openxmlformats.org/drawingml/2006/main">
            <a:off x="2800350" y="2276475"/>
            <a:ext cx="2038350" cy="2324100"/>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13" name="">
            <a:extLst xmlns:a="http://schemas.openxmlformats.org/drawingml/2006/main">
              <a:ext uri="{FF2B5EF4-FFF2-40B4-BE49-F238E27FC236}">
                <a16:creationId xmlns:a16="http://schemas.microsoft.com/office/drawing/2014/main" id="{BED4AA4D-4409-44EC-8D4A-E3599DA57382}"/>
              </a:ext>
            </a:extLst>
          </p:cNvPr>
          <p:cNvSpPr>
            <a:spLocks xmlns:a="http://schemas.openxmlformats.org/drawingml/2006/main" noGrp="1"/>
          </p:cNvSpPr>
          <p:nvPr/>
        </p:nvSpPr>
        <p:spPr>
          <a:xfrm xmlns:a="http://schemas.openxmlformats.org/drawingml/2006/main">
            <a:off x="2952750" y="2409825"/>
            <a:ext cx="1733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STEP 02</a:t>
            </a:r>
          </a:p>
        </p:txBody>
      </p:sp>
      <p:sp>
        <p:nvSpPr>
          <p:cNvPr id="14" name="">
            <a:extLst xmlns:a="http://schemas.openxmlformats.org/drawingml/2006/main">
              <a:ext uri="{FF2B5EF4-FFF2-40B4-BE49-F238E27FC236}">
                <a16:creationId xmlns:a16="http://schemas.microsoft.com/office/drawing/2014/main" id="{E9B4B1B3-2617-4FAA-A53A-F117CCB8555B}"/>
              </a:ext>
            </a:extLst>
          </p:cNvPr>
          <p:cNvSpPr>
            <a:spLocks xmlns:a="http://schemas.openxmlformats.org/drawingml/2006/main" noGrp="1"/>
          </p:cNvSpPr>
          <p:nvPr/>
        </p:nvSpPr>
        <p:spPr>
          <a:xfrm xmlns:a="http://schemas.openxmlformats.org/drawingml/2006/main">
            <a:off x="2952750" y="2667000"/>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A1A1A"/>
                </a:solidFill>
                <a:latin typeface="Arial"/>
                <a:ea typeface="Arial"/>
                <a:cs typeface="Arial"/>
              </a:defRPr>
            </a:pPr>
            <a:r>
              <a:rPr sz="1575" b="1" i="0">
                <a:solidFill>
                  <a:srgbClr val="1A1A1A"/>
                </a:solidFill>
                <a:latin typeface="Arial"/>
                <a:ea typeface="Arial"/>
                <a:cs typeface="Arial"/>
              </a:rPr>
              <a:t>Reconcile</a:t>
            </a:r>
          </a:p>
        </p:txBody>
      </p:sp>
      <p:sp>
        <p:nvSpPr>
          <p:cNvPr id="15" name="">
            <a:extLst xmlns:a="http://schemas.openxmlformats.org/drawingml/2006/main">
              <a:ext uri="{FF2B5EF4-FFF2-40B4-BE49-F238E27FC236}">
                <a16:creationId xmlns:a16="http://schemas.microsoft.com/office/drawing/2014/main" id="{AD4A39E6-DD7A-4F97-AA7B-D74FA8F60972}"/>
              </a:ext>
            </a:extLst>
          </p:cNvPr>
          <p:cNvSpPr>
            <a:spLocks xmlns:a="http://schemas.openxmlformats.org/drawingml/2006/main" noGrp="1"/>
          </p:cNvSpPr>
          <p:nvPr/>
        </p:nvSpPr>
        <p:spPr>
          <a:xfrm xmlns:a="http://schemas.openxmlformats.org/drawingml/2006/main">
            <a:off x="2952750" y="3105150"/>
            <a:ext cx="17335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Identifiers, timestamps, fills, transfers and market resolution.</a:t>
            </a:r>
          </a:p>
        </p:txBody>
      </p:sp>
      <p:sp>
        <p:nvSpPr>
          <p:cNvPr id="16" name="">
            <a:extLst xmlns:a="http://schemas.openxmlformats.org/drawingml/2006/main">
              <a:ext uri="{FF2B5EF4-FFF2-40B4-BE49-F238E27FC236}">
                <a16:creationId xmlns:a16="http://schemas.microsoft.com/office/drawing/2014/main" id="{B7FBF779-5D1F-431D-9D9A-677BFAF6DDDA}"/>
              </a:ext>
            </a:extLst>
          </p:cNvPr>
          <p:cNvSpPr>
            <a:spLocks xmlns:a="http://schemas.openxmlformats.org/drawingml/2006/main" noGrp="1"/>
          </p:cNvSpPr>
          <p:nvPr/>
        </p:nvSpPr>
        <p:spPr>
          <a:xfrm xmlns:a="http://schemas.openxmlformats.org/drawingml/2006/main">
            <a:off x="4991100" y="2276475"/>
            <a:ext cx="2038350" cy="2324100"/>
          </a:xfrm>
          <a:prstGeom xmlns:a="http://schemas.openxmlformats.org/drawingml/2006/main" prst="rect">
            <a:avLst/>
          </a:prstGeom>
          <a:solidFill xmlns:a="http://schemas.openxmlformats.org/drawingml/2006/main">
            <a:srgbClr val="A33D2E"/>
          </a:solidFill>
          <a:ln xmlns:a="http://schemas.openxmlformats.org/drawingml/2006/main" w="14288">
            <a:solidFill>
              <a:srgbClr val="A33D2E"/>
            </a:solidFill>
            <a:prstDash val="solid"/>
          </a:ln>
        </p:spPr>
      </p:sp>
      <p:sp>
        <p:nvSpPr>
          <p:cNvPr id="17" name="">
            <a:extLst xmlns:a="http://schemas.openxmlformats.org/drawingml/2006/main">
              <a:ext uri="{FF2B5EF4-FFF2-40B4-BE49-F238E27FC236}">
                <a16:creationId xmlns:a16="http://schemas.microsoft.com/office/drawing/2014/main" id="{A090A0C9-CFE8-47D6-8FD0-70747A806F8A}"/>
              </a:ext>
            </a:extLst>
          </p:cNvPr>
          <p:cNvSpPr>
            <a:spLocks xmlns:a="http://schemas.openxmlformats.org/drawingml/2006/main" noGrp="1"/>
          </p:cNvSpPr>
          <p:nvPr/>
        </p:nvSpPr>
        <p:spPr>
          <a:xfrm xmlns:a="http://schemas.openxmlformats.org/drawingml/2006/main">
            <a:off x="5143500" y="2409825"/>
            <a:ext cx="1733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F5CFC6"/>
                </a:solidFill>
                <a:latin typeface="Arial"/>
                <a:ea typeface="Arial"/>
                <a:cs typeface="Arial"/>
              </a:defRPr>
            </a:pPr>
            <a:r>
              <a:rPr sz="825" b="1" i="0">
                <a:solidFill>
                  <a:srgbClr val="F5CFC6"/>
                </a:solidFill>
                <a:latin typeface="Arial"/>
                <a:ea typeface="Arial"/>
                <a:cs typeface="Arial"/>
              </a:rPr>
              <a:t>STEP 03</a:t>
            </a:r>
          </a:p>
        </p:txBody>
      </p:sp>
      <p:sp>
        <p:nvSpPr>
          <p:cNvPr id="18" name="">
            <a:extLst xmlns:a="http://schemas.openxmlformats.org/drawingml/2006/main">
              <a:ext uri="{FF2B5EF4-FFF2-40B4-BE49-F238E27FC236}">
                <a16:creationId xmlns:a16="http://schemas.microsoft.com/office/drawing/2014/main" id="{0BF760E9-5AD8-4CD3-B6D1-2356467A5436}"/>
              </a:ext>
            </a:extLst>
          </p:cNvPr>
          <p:cNvSpPr>
            <a:spLocks xmlns:a="http://schemas.openxmlformats.org/drawingml/2006/main" noGrp="1"/>
          </p:cNvSpPr>
          <p:nvPr/>
        </p:nvSpPr>
        <p:spPr>
          <a:xfrm xmlns:a="http://schemas.openxmlformats.org/drawingml/2006/main">
            <a:off x="5143500" y="2667000"/>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FFFFFF"/>
                </a:solidFill>
                <a:latin typeface="Arial"/>
                <a:ea typeface="Arial"/>
                <a:cs typeface="Arial"/>
              </a:defRPr>
            </a:pPr>
            <a:r>
              <a:rPr sz="1575" b="1" i="0">
                <a:solidFill>
                  <a:srgbClr val="FFFFFF"/>
                </a:solidFill>
                <a:latin typeface="Arial"/>
                <a:ea typeface="Arial"/>
                <a:cs typeface="Arial"/>
              </a:rPr>
              <a:t>Freeze evidence</a:t>
            </a:r>
          </a:p>
        </p:txBody>
      </p:sp>
      <p:sp>
        <p:nvSpPr>
          <p:cNvPr id="19" name="">
            <a:extLst xmlns:a="http://schemas.openxmlformats.org/drawingml/2006/main">
              <a:ext uri="{FF2B5EF4-FFF2-40B4-BE49-F238E27FC236}">
                <a16:creationId xmlns:a16="http://schemas.microsoft.com/office/drawing/2014/main" id="{8DD4BFF3-FAB3-4608-BC7C-26412768D40E}"/>
              </a:ext>
            </a:extLst>
          </p:cNvPr>
          <p:cNvSpPr>
            <a:spLocks xmlns:a="http://schemas.openxmlformats.org/drawingml/2006/main" noGrp="1"/>
          </p:cNvSpPr>
          <p:nvPr/>
        </p:nvSpPr>
        <p:spPr>
          <a:xfrm xmlns:a="http://schemas.openxmlformats.org/drawingml/2006/main">
            <a:off x="5143500" y="3105150"/>
            <a:ext cx="17335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F7EAE7"/>
                </a:solidFill>
                <a:latin typeface="Arial"/>
                <a:ea typeface="Arial"/>
                <a:cs typeface="Arial"/>
              </a:defRPr>
            </a:pPr>
            <a:r>
              <a:rPr sz="1125" b="0" i="0">
                <a:solidFill>
                  <a:srgbClr val="F7EAE7"/>
                </a:solidFill>
                <a:latin typeface="Arial"/>
                <a:ea typeface="Arial"/>
                <a:cs typeface="Arial"/>
              </a:rPr>
              <a:t>Raw records, cut-offs, quality flags and source references.</a:t>
            </a:r>
          </a:p>
        </p:txBody>
      </p:sp>
      <p:sp>
        <p:nvSpPr>
          <p:cNvPr id="20" name="">
            <a:extLst xmlns:a="http://schemas.openxmlformats.org/drawingml/2006/main">
              <a:ext uri="{FF2B5EF4-FFF2-40B4-BE49-F238E27FC236}">
                <a16:creationId xmlns:a16="http://schemas.microsoft.com/office/drawing/2014/main" id="{9629C6EF-0E46-4F44-8001-248EB501B73D}"/>
              </a:ext>
            </a:extLst>
          </p:cNvPr>
          <p:cNvSpPr>
            <a:spLocks xmlns:a="http://schemas.openxmlformats.org/drawingml/2006/main" noGrp="1"/>
          </p:cNvSpPr>
          <p:nvPr/>
        </p:nvSpPr>
        <p:spPr>
          <a:xfrm xmlns:a="http://schemas.openxmlformats.org/drawingml/2006/main">
            <a:off x="7181850" y="2276475"/>
            <a:ext cx="2038350" cy="2324100"/>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21" name="">
            <a:extLst xmlns:a="http://schemas.openxmlformats.org/drawingml/2006/main">
              <a:ext uri="{FF2B5EF4-FFF2-40B4-BE49-F238E27FC236}">
                <a16:creationId xmlns:a16="http://schemas.microsoft.com/office/drawing/2014/main" id="{9C41B33D-6E45-47D0-B5A4-C85E89954EE1}"/>
              </a:ext>
            </a:extLst>
          </p:cNvPr>
          <p:cNvSpPr>
            <a:spLocks xmlns:a="http://schemas.openxmlformats.org/drawingml/2006/main" noGrp="1"/>
          </p:cNvSpPr>
          <p:nvPr/>
        </p:nvSpPr>
        <p:spPr>
          <a:xfrm xmlns:a="http://schemas.openxmlformats.org/drawingml/2006/main">
            <a:off x="7334250" y="2409825"/>
            <a:ext cx="1733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STEP 04</a:t>
            </a:r>
          </a:p>
        </p:txBody>
      </p:sp>
      <p:sp>
        <p:nvSpPr>
          <p:cNvPr id="22" name="">
            <a:extLst xmlns:a="http://schemas.openxmlformats.org/drawingml/2006/main">
              <a:ext uri="{FF2B5EF4-FFF2-40B4-BE49-F238E27FC236}">
                <a16:creationId xmlns:a16="http://schemas.microsoft.com/office/drawing/2014/main" id="{B14BA76D-B7AF-411C-BB9C-7F2400BC0449}"/>
              </a:ext>
            </a:extLst>
          </p:cNvPr>
          <p:cNvSpPr>
            <a:spLocks xmlns:a="http://schemas.openxmlformats.org/drawingml/2006/main" noGrp="1"/>
          </p:cNvSpPr>
          <p:nvPr/>
        </p:nvSpPr>
        <p:spPr>
          <a:xfrm xmlns:a="http://schemas.openxmlformats.org/drawingml/2006/main">
            <a:off x="7334250" y="2667000"/>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A1A1A"/>
                </a:solidFill>
                <a:latin typeface="Arial"/>
                <a:ea typeface="Arial"/>
                <a:cs typeface="Arial"/>
              </a:defRPr>
            </a:pPr>
            <a:r>
              <a:rPr sz="1575" b="1" i="0">
                <a:solidFill>
                  <a:srgbClr val="1A1A1A"/>
                </a:solidFill>
                <a:latin typeface="Arial"/>
                <a:ea typeface="Arial"/>
                <a:cs typeface="Arial"/>
              </a:rPr>
              <a:t>Derive features</a:t>
            </a:r>
          </a:p>
        </p:txBody>
      </p:sp>
      <p:sp>
        <p:nvSpPr>
          <p:cNvPr id="23" name="">
            <a:extLst xmlns:a="http://schemas.openxmlformats.org/drawingml/2006/main">
              <a:ext uri="{FF2B5EF4-FFF2-40B4-BE49-F238E27FC236}">
                <a16:creationId xmlns:a16="http://schemas.microsoft.com/office/drawing/2014/main" id="{652DC966-A0A3-465C-B5D9-DC2566FAB39C}"/>
              </a:ext>
            </a:extLst>
          </p:cNvPr>
          <p:cNvSpPr>
            <a:spLocks xmlns:a="http://schemas.openxmlformats.org/drawingml/2006/main" noGrp="1"/>
          </p:cNvSpPr>
          <p:nvPr/>
        </p:nvSpPr>
        <p:spPr>
          <a:xfrm xmlns:a="http://schemas.openxmlformats.org/drawingml/2006/main">
            <a:off x="7334250" y="3105150"/>
            <a:ext cx="17335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Wallet decisions, probability signals and asset windows.</a:t>
            </a:r>
          </a:p>
        </p:txBody>
      </p:sp>
      <p:sp>
        <p:nvSpPr>
          <p:cNvPr id="24" name="">
            <a:extLst xmlns:a="http://schemas.openxmlformats.org/drawingml/2006/main">
              <a:ext uri="{FF2B5EF4-FFF2-40B4-BE49-F238E27FC236}">
                <a16:creationId xmlns:a16="http://schemas.microsoft.com/office/drawing/2014/main" id="{B00B9B7D-F9E4-4C9C-B3C1-CCD10FBFA2D7}"/>
              </a:ext>
            </a:extLst>
          </p:cNvPr>
          <p:cNvSpPr>
            <a:spLocks xmlns:a="http://schemas.openxmlformats.org/drawingml/2006/main" noGrp="1"/>
          </p:cNvSpPr>
          <p:nvPr/>
        </p:nvSpPr>
        <p:spPr>
          <a:xfrm xmlns:a="http://schemas.openxmlformats.org/drawingml/2006/main">
            <a:off x="9372600" y="2276475"/>
            <a:ext cx="2038350" cy="2324100"/>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25" name="">
            <a:extLst xmlns:a="http://schemas.openxmlformats.org/drawingml/2006/main">
              <a:ext uri="{FF2B5EF4-FFF2-40B4-BE49-F238E27FC236}">
                <a16:creationId xmlns:a16="http://schemas.microsoft.com/office/drawing/2014/main" id="{C29F6296-6BAA-419D-9437-452FC201D33A}"/>
              </a:ext>
            </a:extLst>
          </p:cNvPr>
          <p:cNvSpPr>
            <a:spLocks xmlns:a="http://schemas.openxmlformats.org/drawingml/2006/main" noGrp="1"/>
          </p:cNvSpPr>
          <p:nvPr/>
        </p:nvSpPr>
        <p:spPr>
          <a:xfrm xmlns:a="http://schemas.openxmlformats.org/drawingml/2006/main">
            <a:off x="9525000" y="2409825"/>
            <a:ext cx="1733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STEP 05</a:t>
            </a:r>
          </a:p>
        </p:txBody>
      </p:sp>
      <p:sp>
        <p:nvSpPr>
          <p:cNvPr id="26" name="">
            <a:extLst xmlns:a="http://schemas.openxmlformats.org/drawingml/2006/main">
              <a:ext uri="{FF2B5EF4-FFF2-40B4-BE49-F238E27FC236}">
                <a16:creationId xmlns:a16="http://schemas.microsoft.com/office/drawing/2014/main" id="{5F9F95AA-A7FF-4206-A4F1-4C9E1DA3608F}"/>
              </a:ext>
            </a:extLst>
          </p:cNvPr>
          <p:cNvSpPr>
            <a:spLocks xmlns:a="http://schemas.openxmlformats.org/drawingml/2006/main" noGrp="1"/>
          </p:cNvSpPr>
          <p:nvPr/>
        </p:nvSpPr>
        <p:spPr>
          <a:xfrm xmlns:a="http://schemas.openxmlformats.org/drawingml/2006/main">
            <a:off x="9525000" y="2667000"/>
            <a:ext cx="173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A1A1A"/>
                </a:solidFill>
                <a:latin typeface="Arial"/>
                <a:ea typeface="Arial"/>
                <a:cs typeface="Arial"/>
              </a:defRPr>
            </a:pPr>
            <a:r>
              <a:rPr sz="1575" b="1" i="0">
                <a:solidFill>
                  <a:srgbClr val="1A1A1A"/>
                </a:solidFill>
                <a:latin typeface="Arial"/>
                <a:ea typeface="Arial"/>
                <a:cs typeface="Arial"/>
              </a:rPr>
              <a:t>Save runs</a:t>
            </a:r>
          </a:p>
        </p:txBody>
      </p:sp>
      <p:sp>
        <p:nvSpPr>
          <p:cNvPr id="27" name="">
            <a:extLst xmlns:a="http://schemas.openxmlformats.org/drawingml/2006/main">
              <a:ext uri="{FF2B5EF4-FFF2-40B4-BE49-F238E27FC236}">
                <a16:creationId xmlns:a16="http://schemas.microsoft.com/office/drawing/2014/main" id="{7724C3FD-6650-4573-A9BF-3ACF57157770}"/>
              </a:ext>
            </a:extLst>
          </p:cNvPr>
          <p:cNvSpPr>
            <a:spLocks xmlns:a="http://schemas.openxmlformats.org/drawingml/2006/main" noGrp="1"/>
          </p:cNvSpPr>
          <p:nvPr/>
        </p:nvSpPr>
        <p:spPr>
          <a:xfrm xmlns:a="http://schemas.openxmlformats.org/drawingml/2006/main">
            <a:off x="9525000" y="3105150"/>
            <a:ext cx="17335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Model version, seed, inputs, outputs and evidence manifest.</a:t>
            </a:r>
          </a:p>
        </p:txBody>
      </p:sp>
      <p:sp>
        <p:nvSpPr>
          <p:cNvPr id="28" name="">
            <a:extLst xmlns:a="http://schemas.openxmlformats.org/drawingml/2006/main">
              <a:ext uri="{FF2B5EF4-FFF2-40B4-BE49-F238E27FC236}">
                <a16:creationId xmlns:a16="http://schemas.microsoft.com/office/drawing/2014/main" id="{3DF9E6C8-A7C2-467F-8A55-A975A01AAD00}"/>
              </a:ext>
            </a:extLst>
          </p:cNvPr>
          <p:cNvSpPr>
            <a:spLocks xmlns:a="http://schemas.openxmlformats.org/drawingml/2006/main" noGrp="1"/>
          </p:cNvSpPr>
          <p:nvPr/>
        </p:nvSpPr>
        <p:spPr>
          <a:xfrm xmlns:a="http://schemas.openxmlformats.org/drawingml/2006/main">
            <a:off x="609600" y="4972050"/>
            <a:ext cx="10972800" cy="590550"/>
          </a:xfrm>
          <a:prstGeom xmlns:a="http://schemas.openxmlformats.org/drawingml/2006/main" prst="rect">
            <a:avLst/>
          </a:prstGeom>
          <a:solidFill xmlns:a="http://schemas.openxmlformats.org/drawingml/2006/main">
            <a:srgbClr val="F3E6E1"/>
          </a:solidFill>
          <a:ln xmlns:a="http://schemas.openxmlformats.org/drawingml/2006/main" w="0">
            <a:solidFill>
              <a:srgbClr val="A33D2E"/>
            </a:solidFill>
            <a:prstDash val="solid"/>
          </a:ln>
        </p:spPr>
      </p:sp>
      <p:sp>
        <p:nvSpPr>
          <p:cNvPr id="29" name="">
            <a:extLst xmlns:a="http://schemas.openxmlformats.org/drawingml/2006/main">
              <a:ext uri="{FF2B5EF4-FFF2-40B4-BE49-F238E27FC236}">
                <a16:creationId xmlns:a16="http://schemas.microsoft.com/office/drawing/2014/main" id="{172E0D4F-DE61-4A30-B595-BC3B0A028B3B}"/>
              </a:ext>
            </a:extLst>
          </p:cNvPr>
          <p:cNvSpPr>
            <a:spLocks xmlns:a="http://schemas.openxmlformats.org/drawingml/2006/main" noGrp="1"/>
          </p:cNvSpPr>
          <p:nvPr/>
        </p:nvSpPr>
        <p:spPr>
          <a:xfrm xmlns:a="http://schemas.openxmlformats.org/drawingml/2006/main">
            <a:off x="819150" y="5133975"/>
            <a:ext cx="1055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i="0">
                <a:solidFill>
                  <a:srgbClr val="173A5E"/>
                </a:solidFill>
                <a:latin typeface="Arial"/>
                <a:ea typeface="Arial"/>
                <a:cs typeface="Arial"/>
              </a:defRPr>
            </a:pPr>
            <a:r>
              <a:rPr sz="1575" b="1" i="0">
                <a:solidFill>
                  <a:srgbClr val="173A5E"/>
                </a:solidFill>
                <a:latin typeface="Arial"/>
                <a:ea typeface="Arial"/>
                <a:cs typeface="Arial"/>
              </a:rPr>
              <a:t>Every forecast uses only information available at its historical cut-off.</a:t>
            </a:r>
          </a:p>
        </p:txBody>
      </p:sp>
    </p:spTree>
    <p:extLst>
      <p:ext uri="{BB962C8B-B14F-4D97-AF65-F5344CB8AC3E}">
        <p14:creationId xmlns:p14="http://schemas.microsoft.com/office/powerpoint/2010/main" val="1599550666"/>
      </p:ext>
    </p:extLst>
  </p:cSld>
</p:sld>
</file>

<file path=ppt/slides/slide5.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3D4A8CC-15F6-41B3-AA81-76F9BB0BDF20}"/>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PROBABILITY RESEARCH</a:t>
            </a:r>
          </a:p>
        </p:txBody>
      </p:sp>
      <p:sp>
        <p:nvSpPr>
          <p:cNvPr id="2" name="">
            <a:extLst xmlns:a="http://schemas.openxmlformats.org/drawingml/2006/main">
              <a:ext uri="{FF2B5EF4-FFF2-40B4-BE49-F238E27FC236}">
                <a16:creationId xmlns:a16="http://schemas.microsoft.com/office/drawing/2014/main" id="{9E56C36C-9543-456D-A402-E824508F8274}"/>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Wallet evidence must earn its weight</a:t>
            </a:r>
          </a:p>
        </p:txBody>
      </p:sp>
      <p:sp>
        <p:nvSpPr>
          <p:cNvPr id="3" name="">
            <a:extLst xmlns:a="http://schemas.openxmlformats.org/drawingml/2006/main">
              <a:ext uri="{FF2B5EF4-FFF2-40B4-BE49-F238E27FC236}">
                <a16:creationId xmlns:a16="http://schemas.microsoft.com/office/drawing/2014/main" id="{3399127F-C0D1-44D5-8614-257655A1C7EB}"/>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25702A91-7731-4FC4-A77A-71987D79371A}"/>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AF54D5D6-EA8E-4F7F-A7E5-086B1FB037E0}"/>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E630A699-14EF-4AEE-BFCC-2D7374F9B4AC}"/>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05 / 10</a:t>
            </a:r>
          </a:p>
        </p:txBody>
      </p:sp>
      <p:sp>
        <p:nvSpPr>
          <p:cNvPr id="7" name="">
            <a:extLst xmlns:a="http://schemas.openxmlformats.org/drawingml/2006/main">
              <a:ext uri="{FF2B5EF4-FFF2-40B4-BE49-F238E27FC236}">
                <a16:creationId xmlns:a16="http://schemas.microsoft.com/office/drawing/2014/main" id="{DF6C95AA-8079-4753-A054-1A676734F56A}"/>
              </a:ext>
            </a:extLst>
          </p:cNvPr>
          <p:cNvSpPr>
            <a:spLocks xmlns:a="http://schemas.openxmlformats.org/drawingml/2006/main" noGrp="1"/>
          </p:cNvSpPr>
          <p:nvPr/>
        </p:nvSpPr>
        <p:spPr>
          <a:xfrm xmlns:a="http://schemas.openxmlformats.org/drawingml/2006/main">
            <a:off x="609600" y="1838325"/>
            <a:ext cx="247650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8" name="">
            <a:extLst xmlns:a="http://schemas.openxmlformats.org/drawingml/2006/main">
              <a:ext uri="{FF2B5EF4-FFF2-40B4-BE49-F238E27FC236}">
                <a16:creationId xmlns:a16="http://schemas.microsoft.com/office/drawing/2014/main" id="{36D88D86-55EC-4C52-AF2B-1088F6F641C6}"/>
              </a:ext>
            </a:extLst>
          </p:cNvPr>
          <p:cNvSpPr>
            <a:spLocks xmlns:a="http://schemas.openxmlformats.org/drawingml/2006/main" noGrp="1"/>
          </p:cNvSpPr>
          <p:nvPr/>
        </p:nvSpPr>
        <p:spPr>
          <a:xfrm xmlns:a="http://schemas.openxmlformats.org/drawingml/2006/main">
            <a:off x="609600" y="20097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6FB1B723-44EB-4BA4-9F92-D9D3DDA92F37}"/>
              </a:ext>
            </a:extLst>
          </p:cNvPr>
          <p:cNvSpPr>
            <a:spLocks xmlns:a="http://schemas.openxmlformats.org/drawingml/2006/main" noGrp="1"/>
          </p:cNvSpPr>
          <p:nvPr/>
        </p:nvSpPr>
        <p:spPr>
          <a:xfrm xmlns:a="http://schemas.openxmlformats.org/drawingml/2006/main">
            <a:off x="609600" y="2324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A1A1A"/>
                </a:solidFill>
                <a:latin typeface="Arial"/>
                <a:ea typeface="Arial"/>
                <a:cs typeface="Arial"/>
              </a:defRPr>
            </a:pPr>
            <a:r>
              <a:rPr sz="1650" b="1" i="0">
                <a:solidFill>
                  <a:srgbClr val="1A1A1A"/>
                </a:solidFill>
                <a:latin typeface="Arial"/>
                <a:ea typeface="Arial"/>
                <a:cs typeface="Arial"/>
              </a:rPr>
              <a:t>Consolidate decisions</a:t>
            </a:r>
          </a:p>
        </p:txBody>
      </p:sp>
      <p:sp>
        <p:nvSpPr>
          <p:cNvPr id="10" name="">
            <a:extLst xmlns:a="http://schemas.openxmlformats.org/drawingml/2006/main">
              <a:ext uri="{FF2B5EF4-FFF2-40B4-BE49-F238E27FC236}">
                <a16:creationId xmlns:a16="http://schemas.microsoft.com/office/drawing/2014/main" id="{ECD9D58B-7D06-4AF2-9E35-EE5A9F962D00}"/>
              </a:ext>
            </a:extLst>
          </p:cNvPr>
          <p:cNvSpPr>
            <a:spLocks xmlns:a="http://schemas.openxmlformats.org/drawingml/2006/main" noGrp="1"/>
          </p:cNvSpPr>
          <p:nvPr/>
        </p:nvSpPr>
        <p:spPr>
          <a:xfrm xmlns:a="http://schemas.openxmlformats.org/drawingml/2006/main">
            <a:off x="609600" y="30289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Separate directional exposure from balanced YES and NO holdings.</a:t>
            </a:r>
          </a:p>
        </p:txBody>
      </p:sp>
      <p:sp>
        <p:nvSpPr>
          <p:cNvPr id="11" name="">
            <a:extLst xmlns:a="http://schemas.openxmlformats.org/drawingml/2006/main">
              <a:ext uri="{FF2B5EF4-FFF2-40B4-BE49-F238E27FC236}">
                <a16:creationId xmlns:a16="http://schemas.microsoft.com/office/drawing/2014/main" id="{E9C7E059-1190-44AC-9F37-DFE2A45FC4DF}"/>
              </a:ext>
            </a:extLst>
          </p:cNvPr>
          <p:cNvSpPr>
            <a:spLocks xmlns:a="http://schemas.openxmlformats.org/drawingml/2006/main" noGrp="1"/>
          </p:cNvSpPr>
          <p:nvPr/>
        </p:nvSpPr>
        <p:spPr>
          <a:xfrm xmlns:a="http://schemas.openxmlformats.org/drawingml/2006/main">
            <a:off x="3352800" y="1838325"/>
            <a:ext cx="2476500" cy="0"/>
          </a:xfrm>
          <a:prstGeom xmlns:a="http://schemas.openxmlformats.org/drawingml/2006/main" prst="line">
            <a:avLst/>
          </a:prstGeom>
          <a:noFill xmlns:a="http://schemas.openxmlformats.org/drawingml/2006/main"/>
          <a:ln xmlns:a="http://schemas.openxmlformats.org/drawingml/2006/main" w="23813">
            <a:solidFill>
              <a:srgbClr val="A33D2E"/>
            </a:solidFill>
            <a:prstDash val="solid"/>
          </a:ln>
        </p:spPr>
      </p:sp>
      <p:sp>
        <p:nvSpPr>
          <p:cNvPr id="12" name="">
            <a:extLst xmlns:a="http://schemas.openxmlformats.org/drawingml/2006/main">
              <a:ext uri="{FF2B5EF4-FFF2-40B4-BE49-F238E27FC236}">
                <a16:creationId xmlns:a16="http://schemas.microsoft.com/office/drawing/2014/main" id="{8BE2D7ED-2A32-471A-89B8-49A9362B9F47}"/>
              </a:ext>
            </a:extLst>
          </p:cNvPr>
          <p:cNvSpPr>
            <a:spLocks xmlns:a="http://schemas.openxmlformats.org/drawingml/2006/main" noGrp="1"/>
          </p:cNvSpPr>
          <p:nvPr/>
        </p:nvSpPr>
        <p:spPr>
          <a:xfrm xmlns:a="http://schemas.openxmlformats.org/drawingml/2006/main">
            <a:off x="3352800" y="20097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946F9CAD-5344-451E-ABD7-5E80C86586FB}"/>
              </a:ext>
            </a:extLst>
          </p:cNvPr>
          <p:cNvSpPr>
            <a:spLocks xmlns:a="http://schemas.openxmlformats.org/drawingml/2006/main" noGrp="1"/>
          </p:cNvSpPr>
          <p:nvPr/>
        </p:nvSpPr>
        <p:spPr>
          <a:xfrm xmlns:a="http://schemas.openxmlformats.org/drawingml/2006/main">
            <a:off x="3352800" y="2324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A1A1A"/>
                </a:solidFill>
                <a:latin typeface="Arial"/>
                <a:ea typeface="Arial"/>
                <a:cs typeface="Arial"/>
              </a:defRPr>
            </a:pPr>
            <a:r>
              <a:rPr sz="1650" b="1" i="0">
                <a:solidFill>
                  <a:srgbClr val="1A1A1A"/>
                </a:solidFill>
                <a:latin typeface="Arial"/>
                <a:ea typeface="Arial"/>
                <a:cs typeface="Arial"/>
              </a:rPr>
              <a:t>Score past informativeness</a:t>
            </a:r>
          </a:p>
        </p:txBody>
      </p:sp>
      <p:sp>
        <p:nvSpPr>
          <p:cNvPr id="14" name="">
            <a:extLst xmlns:a="http://schemas.openxmlformats.org/drawingml/2006/main">
              <a:ext uri="{FF2B5EF4-FFF2-40B4-BE49-F238E27FC236}">
                <a16:creationId xmlns:a16="http://schemas.microsoft.com/office/drawing/2014/main" id="{693E12BC-74FA-4947-AD39-577F031401DA}"/>
              </a:ext>
            </a:extLst>
          </p:cNvPr>
          <p:cNvSpPr>
            <a:spLocks xmlns:a="http://schemas.openxmlformats.org/drawingml/2006/main" noGrp="1"/>
          </p:cNvSpPr>
          <p:nvPr/>
        </p:nvSpPr>
        <p:spPr>
          <a:xfrm xmlns:a="http://schemas.openxmlformats.org/drawingml/2006/main">
            <a:off x="3352800" y="30289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Use eventual outcomes, later price movement and breadth of history.</a:t>
            </a:r>
          </a:p>
        </p:txBody>
      </p:sp>
      <p:sp>
        <p:nvSpPr>
          <p:cNvPr id="15" name="">
            <a:extLst xmlns:a="http://schemas.openxmlformats.org/drawingml/2006/main">
              <a:ext uri="{FF2B5EF4-FFF2-40B4-BE49-F238E27FC236}">
                <a16:creationId xmlns:a16="http://schemas.microsoft.com/office/drawing/2014/main" id="{7D35110C-4EC5-420F-8ADE-C33A4D71CF55}"/>
              </a:ext>
            </a:extLst>
          </p:cNvPr>
          <p:cNvSpPr>
            <a:spLocks xmlns:a="http://schemas.openxmlformats.org/drawingml/2006/main" noGrp="1"/>
          </p:cNvSpPr>
          <p:nvPr/>
        </p:nvSpPr>
        <p:spPr>
          <a:xfrm xmlns:a="http://schemas.openxmlformats.org/drawingml/2006/main">
            <a:off x="6096000" y="1838325"/>
            <a:ext cx="247650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16" name="">
            <a:extLst xmlns:a="http://schemas.openxmlformats.org/drawingml/2006/main">
              <a:ext uri="{FF2B5EF4-FFF2-40B4-BE49-F238E27FC236}">
                <a16:creationId xmlns:a16="http://schemas.microsoft.com/office/drawing/2014/main" id="{5D765D7D-C37B-43F9-9559-7A47AF166ABE}"/>
              </a:ext>
            </a:extLst>
          </p:cNvPr>
          <p:cNvSpPr>
            <a:spLocks xmlns:a="http://schemas.openxmlformats.org/drawingml/2006/main" noGrp="1"/>
          </p:cNvSpPr>
          <p:nvPr/>
        </p:nvSpPr>
        <p:spPr>
          <a:xfrm xmlns:a="http://schemas.openxmlformats.org/drawingml/2006/main">
            <a:off x="6096000" y="20097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B65EBA1A-A949-455B-9F38-E98D22B9F749}"/>
              </a:ext>
            </a:extLst>
          </p:cNvPr>
          <p:cNvSpPr>
            <a:spLocks xmlns:a="http://schemas.openxmlformats.org/drawingml/2006/main" noGrp="1"/>
          </p:cNvSpPr>
          <p:nvPr/>
        </p:nvSpPr>
        <p:spPr>
          <a:xfrm xmlns:a="http://schemas.openxmlformats.org/drawingml/2006/main">
            <a:off x="6096000" y="2324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A1A1A"/>
                </a:solidFill>
                <a:latin typeface="Arial"/>
                <a:ea typeface="Arial"/>
                <a:cs typeface="Arial"/>
              </a:defRPr>
            </a:pPr>
            <a:r>
              <a:rPr sz="1650" b="1" i="0">
                <a:solidFill>
                  <a:srgbClr val="1A1A1A"/>
                </a:solidFill>
                <a:latin typeface="Arial"/>
                <a:ea typeface="Arial"/>
                <a:cs typeface="Arial"/>
              </a:rPr>
              <a:t>Shrink uncertain scores</a:t>
            </a:r>
          </a:p>
        </p:txBody>
      </p:sp>
      <p:sp>
        <p:nvSpPr>
          <p:cNvPr id="18" name="">
            <a:extLst xmlns:a="http://schemas.openxmlformats.org/drawingml/2006/main">
              <a:ext uri="{FF2B5EF4-FFF2-40B4-BE49-F238E27FC236}">
                <a16:creationId xmlns:a16="http://schemas.microsoft.com/office/drawing/2014/main" id="{9005DB51-CC36-45F8-86D2-74A52B553FE8}"/>
              </a:ext>
            </a:extLst>
          </p:cNvPr>
          <p:cNvSpPr>
            <a:spLocks xmlns:a="http://schemas.openxmlformats.org/drawingml/2006/main" noGrp="1"/>
          </p:cNvSpPr>
          <p:nvPr/>
        </p:nvSpPr>
        <p:spPr>
          <a:xfrm xmlns:a="http://schemas.openxmlformats.org/drawingml/2006/main">
            <a:off x="6096000" y="30289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Pull sparse histories toward the population average.</a:t>
            </a:r>
          </a:p>
        </p:txBody>
      </p:sp>
      <p:sp>
        <p:nvSpPr>
          <p:cNvPr id="19" name="">
            <a:extLst xmlns:a="http://schemas.openxmlformats.org/drawingml/2006/main">
              <a:ext uri="{FF2B5EF4-FFF2-40B4-BE49-F238E27FC236}">
                <a16:creationId xmlns:a16="http://schemas.microsoft.com/office/drawing/2014/main" id="{09143E24-1FD9-4C6E-A848-6A4245ED246F}"/>
              </a:ext>
            </a:extLst>
          </p:cNvPr>
          <p:cNvSpPr>
            <a:spLocks xmlns:a="http://schemas.openxmlformats.org/drawingml/2006/main" noGrp="1"/>
          </p:cNvSpPr>
          <p:nvPr/>
        </p:nvSpPr>
        <p:spPr>
          <a:xfrm xmlns:a="http://schemas.openxmlformats.org/drawingml/2006/main">
            <a:off x="8839200" y="1838325"/>
            <a:ext cx="2476500" cy="0"/>
          </a:xfrm>
          <a:prstGeom xmlns:a="http://schemas.openxmlformats.org/drawingml/2006/main" prst="line">
            <a:avLst/>
          </a:prstGeom>
          <a:noFill xmlns:a="http://schemas.openxmlformats.org/drawingml/2006/main"/>
          <a:ln xmlns:a="http://schemas.openxmlformats.org/drawingml/2006/main" w="23813">
            <a:solidFill>
              <a:srgbClr val="1A1A1A"/>
            </a:solidFill>
            <a:prstDash val="solid"/>
          </a:ln>
        </p:spPr>
      </p:sp>
      <p:sp>
        <p:nvSpPr>
          <p:cNvPr id="20" name="">
            <a:extLst xmlns:a="http://schemas.openxmlformats.org/drawingml/2006/main">
              <a:ext uri="{FF2B5EF4-FFF2-40B4-BE49-F238E27FC236}">
                <a16:creationId xmlns:a16="http://schemas.microsoft.com/office/drawing/2014/main" id="{F587988D-7BDF-489F-B167-DD862102EA42}"/>
              </a:ext>
            </a:extLst>
          </p:cNvPr>
          <p:cNvSpPr>
            <a:spLocks xmlns:a="http://schemas.openxmlformats.org/drawingml/2006/main" noGrp="1"/>
          </p:cNvSpPr>
          <p:nvPr/>
        </p:nvSpPr>
        <p:spPr>
          <a:xfrm xmlns:a="http://schemas.openxmlformats.org/drawingml/2006/main">
            <a:off x="8839200" y="20097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4E6AEB0C-8489-4EDC-B3E9-47E992E007FD}"/>
              </a:ext>
            </a:extLst>
          </p:cNvPr>
          <p:cNvSpPr>
            <a:spLocks xmlns:a="http://schemas.openxmlformats.org/drawingml/2006/main" noGrp="1"/>
          </p:cNvSpPr>
          <p:nvPr/>
        </p:nvSpPr>
        <p:spPr>
          <a:xfrm xmlns:a="http://schemas.openxmlformats.org/drawingml/2006/main">
            <a:off x="8839200" y="232410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A1A1A"/>
                </a:solidFill>
                <a:latin typeface="Arial"/>
                <a:ea typeface="Arial"/>
                <a:cs typeface="Arial"/>
              </a:defRPr>
            </a:pPr>
            <a:r>
              <a:rPr sz="1650" b="1" i="0">
                <a:solidFill>
                  <a:srgbClr val="1A1A1A"/>
                </a:solidFill>
                <a:latin typeface="Arial"/>
                <a:ea typeface="Arial"/>
                <a:cs typeface="Arial"/>
              </a:rPr>
              <a:t>Calibrate probability</a:t>
            </a:r>
          </a:p>
        </p:txBody>
      </p:sp>
      <p:sp>
        <p:nvSpPr>
          <p:cNvPr id="22" name="">
            <a:extLst xmlns:a="http://schemas.openxmlformats.org/drawingml/2006/main">
              <a:ext uri="{FF2B5EF4-FFF2-40B4-BE49-F238E27FC236}">
                <a16:creationId xmlns:a16="http://schemas.microsoft.com/office/drawing/2014/main" id="{EC1D52FE-DB5B-4243-8071-9C1F744E42E6}"/>
              </a:ext>
            </a:extLst>
          </p:cNvPr>
          <p:cNvSpPr>
            <a:spLocks xmlns:a="http://schemas.openxmlformats.org/drawingml/2006/main" noGrp="1"/>
          </p:cNvSpPr>
          <p:nvPr/>
        </p:nvSpPr>
        <p:spPr>
          <a:xfrm xmlns:a="http://schemas.openxmlformats.org/drawingml/2006/main">
            <a:off x="8839200" y="3028950"/>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Add wallet flow and market-quality controls to a regularised logistic model.</a:t>
            </a:r>
          </a:p>
        </p:txBody>
      </p:sp>
      <p:sp>
        <p:nvSpPr>
          <p:cNvPr id="23" name="">
            <a:extLst xmlns:a="http://schemas.openxmlformats.org/drawingml/2006/main">
              <a:ext uri="{FF2B5EF4-FFF2-40B4-BE49-F238E27FC236}">
                <a16:creationId xmlns:a16="http://schemas.microsoft.com/office/drawing/2014/main" id="{BCA75012-EA0F-4D93-A823-BEEF72841052}"/>
              </a:ext>
            </a:extLst>
          </p:cNvPr>
          <p:cNvSpPr>
            <a:spLocks xmlns:a="http://schemas.openxmlformats.org/drawingml/2006/main" noGrp="1"/>
          </p:cNvSpPr>
          <p:nvPr/>
        </p:nvSpPr>
        <p:spPr>
          <a:xfrm xmlns:a="http://schemas.openxmlformats.org/drawingml/2006/main">
            <a:off x="609600" y="4171950"/>
            <a:ext cx="2914650" cy="14573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24" name="">
            <a:extLst xmlns:a="http://schemas.openxmlformats.org/drawingml/2006/main">
              <a:ext uri="{FF2B5EF4-FFF2-40B4-BE49-F238E27FC236}">
                <a16:creationId xmlns:a16="http://schemas.microsoft.com/office/drawing/2014/main" id="{B49E68AB-E759-4AFE-8FB2-94D8FCA5C4A6}"/>
              </a:ext>
            </a:extLst>
          </p:cNvPr>
          <p:cNvSpPr>
            <a:spLocks xmlns:a="http://schemas.openxmlformats.org/drawingml/2006/main" noGrp="1"/>
          </p:cNvSpPr>
          <p:nvPr/>
        </p:nvSpPr>
        <p:spPr>
          <a:xfrm xmlns:a="http://schemas.openxmlformats.org/drawingml/2006/main">
            <a:off x="800100" y="4362450"/>
            <a:ext cx="190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MARKET ESTIMATE</a:t>
            </a:r>
          </a:p>
        </p:txBody>
      </p:sp>
      <p:sp>
        <p:nvSpPr>
          <p:cNvPr id="25" name="">
            <a:extLst xmlns:a="http://schemas.openxmlformats.org/drawingml/2006/main">
              <a:ext uri="{FF2B5EF4-FFF2-40B4-BE49-F238E27FC236}">
                <a16:creationId xmlns:a16="http://schemas.microsoft.com/office/drawing/2014/main" id="{B47A5142-B7A0-4F96-BE1E-815231196FA7}"/>
              </a:ext>
            </a:extLst>
          </p:cNvPr>
          <p:cNvSpPr>
            <a:spLocks xmlns:a="http://schemas.openxmlformats.org/drawingml/2006/main" noGrp="1"/>
          </p:cNvSpPr>
          <p:nvPr/>
        </p:nvSpPr>
        <p:spPr>
          <a:xfrm xmlns:a="http://schemas.openxmlformats.org/drawingml/2006/main">
            <a:off x="800100" y="46291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A33D2E"/>
                </a:solidFill>
                <a:latin typeface="Arial"/>
                <a:ea typeface="Arial"/>
                <a:cs typeface="Arial"/>
              </a:defRPr>
            </a:pPr>
            <a:r>
              <a:rPr sz="2850" b="1" i="0">
                <a:solidFill>
                  <a:srgbClr val="A33D2E"/>
                </a:solidFill>
                <a:latin typeface="Arial"/>
                <a:ea typeface="Arial"/>
                <a:cs typeface="Arial"/>
              </a:rPr>
              <a:t>p raw</a:t>
            </a:r>
          </a:p>
        </p:txBody>
      </p:sp>
      <p:sp>
        <p:nvSpPr>
          <p:cNvPr id="26" name="">
            <a:extLst xmlns:a="http://schemas.openxmlformats.org/drawingml/2006/main">
              <a:ext uri="{FF2B5EF4-FFF2-40B4-BE49-F238E27FC236}">
                <a16:creationId xmlns:a16="http://schemas.microsoft.com/office/drawing/2014/main" id="{691406CE-C26F-4ADB-8B03-132CCA58C179}"/>
              </a:ext>
            </a:extLst>
          </p:cNvPr>
          <p:cNvSpPr>
            <a:spLocks xmlns:a="http://schemas.openxmlformats.org/drawingml/2006/main" noGrp="1"/>
          </p:cNvSpPr>
          <p:nvPr/>
        </p:nvSpPr>
        <p:spPr>
          <a:xfrm xmlns:a="http://schemas.openxmlformats.org/drawingml/2006/main">
            <a:off x="800100" y="51435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YES bid/ask midpoint with spread, depth and timestamp.</a:t>
            </a:r>
          </a:p>
        </p:txBody>
      </p:sp>
      <p:sp>
        <p:nvSpPr>
          <p:cNvPr id="27" name="">
            <a:extLst xmlns:a="http://schemas.openxmlformats.org/drawingml/2006/main">
              <a:ext uri="{FF2B5EF4-FFF2-40B4-BE49-F238E27FC236}">
                <a16:creationId xmlns:a16="http://schemas.microsoft.com/office/drawing/2014/main" id="{8254523B-67BD-4CA3-A8FD-89DF5F6049C6}"/>
              </a:ext>
            </a:extLst>
          </p:cNvPr>
          <p:cNvSpPr>
            <a:spLocks xmlns:a="http://schemas.openxmlformats.org/drawingml/2006/main" noGrp="1"/>
          </p:cNvSpPr>
          <p:nvPr/>
        </p:nvSpPr>
        <p:spPr>
          <a:xfrm xmlns:a="http://schemas.openxmlformats.org/drawingml/2006/main">
            <a:off x="3695700" y="4171950"/>
            <a:ext cx="2914650" cy="1457325"/>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28" name="">
            <a:extLst xmlns:a="http://schemas.openxmlformats.org/drawingml/2006/main">
              <a:ext uri="{FF2B5EF4-FFF2-40B4-BE49-F238E27FC236}">
                <a16:creationId xmlns:a16="http://schemas.microsoft.com/office/drawing/2014/main" id="{33231BC8-FB6B-42B1-8B84-D636E5CE31CD}"/>
              </a:ext>
            </a:extLst>
          </p:cNvPr>
          <p:cNvSpPr>
            <a:spLocks xmlns:a="http://schemas.openxmlformats.org/drawingml/2006/main" noGrp="1"/>
          </p:cNvSpPr>
          <p:nvPr/>
        </p:nvSpPr>
        <p:spPr>
          <a:xfrm xmlns:a="http://schemas.openxmlformats.org/drawingml/2006/main">
            <a:off x="3886200" y="436245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EXPERIMENTAL ESTIMATE</a:t>
            </a:r>
          </a:p>
        </p:txBody>
      </p:sp>
      <p:sp>
        <p:nvSpPr>
          <p:cNvPr id="29" name="">
            <a:extLst xmlns:a="http://schemas.openxmlformats.org/drawingml/2006/main">
              <a:ext uri="{FF2B5EF4-FFF2-40B4-BE49-F238E27FC236}">
                <a16:creationId xmlns:a16="http://schemas.microsoft.com/office/drawing/2014/main" id="{785DDEEF-0DE7-422E-92E2-824213B6AF30}"/>
              </a:ext>
            </a:extLst>
          </p:cNvPr>
          <p:cNvSpPr>
            <a:spLocks xmlns:a="http://schemas.openxmlformats.org/drawingml/2006/main" noGrp="1"/>
          </p:cNvSpPr>
          <p:nvPr/>
        </p:nvSpPr>
        <p:spPr>
          <a:xfrm xmlns:a="http://schemas.openxmlformats.org/drawingml/2006/main">
            <a:off x="3886200" y="46291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A33D2E"/>
                </a:solidFill>
                <a:latin typeface="Arial"/>
                <a:ea typeface="Arial"/>
                <a:cs typeface="Arial"/>
              </a:defRPr>
            </a:pPr>
            <a:r>
              <a:rPr sz="2850" b="1" i="0">
                <a:solidFill>
                  <a:srgbClr val="A33D2E"/>
                </a:solidFill>
                <a:latin typeface="Arial"/>
                <a:ea typeface="Arial"/>
                <a:cs typeface="Arial"/>
              </a:rPr>
              <a:t>p adjusted</a:t>
            </a:r>
          </a:p>
        </p:txBody>
      </p:sp>
      <p:sp>
        <p:nvSpPr>
          <p:cNvPr id="30" name="">
            <a:extLst xmlns:a="http://schemas.openxmlformats.org/drawingml/2006/main">
              <a:ext uri="{FF2B5EF4-FFF2-40B4-BE49-F238E27FC236}">
                <a16:creationId xmlns:a16="http://schemas.microsoft.com/office/drawing/2014/main" id="{12342D3F-3A58-49AB-9A8C-C4E36C5A8DA2}"/>
              </a:ext>
            </a:extLst>
          </p:cNvPr>
          <p:cNvSpPr>
            <a:spLocks xmlns:a="http://schemas.openxmlformats.org/drawingml/2006/main" noGrp="1"/>
          </p:cNvSpPr>
          <p:nvPr/>
        </p:nvSpPr>
        <p:spPr>
          <a:xfrm xmlns:a="http://schemas.openxmlformats.org/drawingml/2006/main">
            <a:off x="3886200" y="51435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Calibrated model with eligible-wallet flow.</a:t>
            </a:r>
          </a:p>
        </p:txBody>
      </p:sp>
      <p:sp>
        <p:nvSpPr>
          <p:cNvPr id="31" name="">
            <a:extLst xmlns:a="http://schemas.openxmlformats.org/drawingml/2006/main">
              <a:ext uri="{FF2B5EF4-FFF2-40B4-BE49-F238E27FC236}">
                <a16:creationId xmlns:a16="http://schemas.microsoft.com/office/drawing/2014/main" id="{F0B49CC3-E3D1-4980-84C1-54CA41950722}"/>
              </a:ext>
            </a:extLst>
          </p:cNvPr>
          <p:cNvSpPr>
            <a:spLocks xmlns:a="http://schemas.openxmlformats.org/drawingml/2006/main" noGrp="1"/>
          </p:cNvSpPr>
          <p:nvPr/>
        </p:nvSpPr>
        <p:spPr>
          <a:xfrm xmlns:a="http://schemas.openxmlformats.org/drawingml/2006/main">
            <a:off x="6781800" y="4171950"/>
            <a:ext cx="4800600" cy="1457325"/>
          </a:xfrm>
          <a:prstGeom xmlns:a="http://schemas.openxmlformats.org/drawingml/2006/main" prst="rect">
            <a:avLst/>
          </a:prstGeom>
          <a:solidFill xmlns:a="http://schemas.openxmlformats.org/drawingml/2006/main">
            <a:srgbClr val="F3EEE5"/>
          </a:solidFill>
          <a:ln xmlns:a="http://schemas.openxmlformats.org/drawingml/2006/main" w="14288">
            <a:solidFill>
              <a:srgbClr val="1A1A1A"/>
            </a:solidFill>
            <a:prstDash val="dash"/>
          </a:ln>
        </p:spPr>
      </p:sp>
      <p:sp>
        <p:nvSpPr>
          <p:cNvPr id="32" name="">
            <a:extLst xmlns:a="http://schemas.openxmlformats.org/drawingml/2006/main">
              <a:ext uri="{FF2B5EF4-FFF2-40B4-BE49-F238E27FC236}">
                <a16:creationId xmlns:a16="http://schemas.microsoft.com/office/drawing/2014/main" id="{5F3F573C-A8C7-4C08-86BE-87E53016CF7B}"/>
              </a:ext>
            </a:extLst>
          </p:cNvPr>
          <p:cNvSpPr>
            <a:spLocks xmlns:a="http://schemas.openxmlformats.org/drawingml/2006/main" noGrp="1"/>
          </p:cNvSpPr>
          <p:nvPr/>
        </p:nvSpPr>
        <p:spPr>
          <a:xfrm xmlns:a="http://schemas.openxmlformats.org/drawingml/2006/main">
            <a:off x="6991350" y="436245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PROVISIONAL ELIGIBILITY</a:t>
            </a:r>
          </a:p>
        </p:txBody>
      </p:sp>
      <p:sp>
        <p:nvSpPr>
          <p:cNvPr id="33" name="">
            <a:extLst xmlns:a="http://schemas.openxmlformats.org/drawingml/2006/main">
              <a:ext uri="{FF2B5EF4-FFF2-40B4-BE49-F238E27FC236}">
                <a16:creationId xmlns:a16="http://schemas.microsoft.com/office/drawing/2014/main" id="{E3973B42-B77D-4A49-93BA-FA141990555B}"/>
              </a:ext>
            </a:extLst>
          </p:cNvPr>
          <p:cNvSpPr>
            <a:spLocks xmlns:a="http://schemas.openxmlformats.org/drawingml/2006/main" noGrp="1"/>
          </p:cNvSpPr>
          <p:nvPr/>
        </p:nvSpPr>
        <p:spPr>
          <a:xfrm xmlns:a="http://schemas.openxmlformats.org/drawingml/2006/main">
            <a:off x="6991350" y="4648200"/>
            <a:ext cx="430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i="0">
                <a:solidFill>
                  <a:srgbClr val="A33D2E"/>
                </a:solidFill>
                <a:latin typeface="Arial"/>
                <a:ea typeface="Arial"/>
                <a:cs typeface="Arial"/>
              </a:defRPr>
            </a:pPr>
            <a:r>
              <a:rPr sz="2100" b="1" i="0">
                <a:solidFill>
                  <a:srgbClr val="A33D2E"/>
                </a:solidFill>
                <a:latin typeface="Arial"/>
                <a:ea typeface="Arial"/>
                <a:cs typeface="Arial"/>
              </a:rPr>
              <a:t>≥10 earlier resolved events</a:t>
            </a:r>
          </a:p>
        </p:txBody>
      </p:sp>
      <p:sp>
        <p:nvSpPr>
          <p:cNvPr id="34" name="">
            <a:extLst xmlns:a="http://schemas.openxmlformats.org/drawingml/2006/main">
              <a:ext uri="{FF2B5EF4-FFF2-40B4-BE49-F238E27FC236}">
                <a16:creationId xmlns:a16="http://schemas.microsoft.com/office/drawing/2014/main" id="{4F9BF710-A884-49CF-839B-52CEA164697D}"/>
              </a:ext>
            </a:extLst>
          </p:cNvPr>
          <p:cNvSpPr>
            <a:spLocks xmlns:a="http://schemas.openxmlformats.org/drawingml/2006/main" noGrp="1"/>
          </p:cNvSpPr>
          <p:nvPr/>
        </p:nvSpPr>
        <p:spPr>
          <a:xfrm xmlns:a="http://schemas.openxmlformats.org/drawingml/2006/main">
            <a:off x="6991350" y="5153025"/>
            <a:ext cx="430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Across at least 3 announcement dates. Test 5 and 20 in sensitivity analysis.</a:t>
            </a:r>
          </a:p>
        </p:txBody>
      </p:sp>
    </p:spTree>
    <p:extLst>
      <p:ext uri="{BB962C8B-B14F-4D97-AF65-F5344CB8AC3E}">
        <p14:creationId xmlns:p14="http://schemas.microsoft.com/office/powerpoint/2010/main" val="883407693"/>
      </p:ext>
    </p:extLst>
  </p:cSld>
</p:sld>
</file>

<file path=ppt/slides/slide6.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F25EC2E-C4A2-4B9B-A7D2-60DB56346504}"/>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FORECASTING AND SCENARIOS</a:t>
            </a:r>
          </a:p>
        </p:txBody>
      </p:sp>
      <p:sp>
        <p:nvSpPr>
          <p:cNvPr id="2" name="">
            <a:extLst xmlns:a="http://schemas.openxmlformats.org/drawingml/2006/main">
              <a:ext uri="{FF2B5EF4-FFF2-40B4-BE49-F238E27FC236}">
                <a16:creationId xmlns:a16="http://schemas.microsoft.com/office/drawing/2014/main" id="{8CAB8802-0AE5-4678-A4B5-2EA81C3B13F9}"/>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One controlled comparison, two research outputs</a:t>
            </a:r>
          </a:p>
        </p:txBody>
      </p:sp>
      <p:sp>
        <p:nvSpPr>
          <p:cNvPr id="3" name="">
            <a:extLst xmlns:a="http://schemas.openxmlformats.org/drawingml/2006/main">
              <a:ext uri="{FF2B5EF4-FFF2-40B4-BE49-F238E27FC236}">
                <a16:creationId xmlns:a16="http://schemas.microsoft.com/office/drawing/2014/main" id="{08A88BB8-E3C4-4139-AF04-316A95365898}"/>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DAD2D80E-A70C-466E-ADF1-CB1AEA671DE4}"/>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1B2B2CB3-39BC-4FBF-B5E5-86798563DBDD}"/>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1A41D150-8A48-4758-98AA-EE83A5BADECD}"/>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06 / 10</a:t>
            </a:r>
          </a:p>
        </p:txBody>
      </p:sp>
      <p:sp>
        <p:nvSpPr>
          <p:cNvPr id="7" name="">
            <a:extLst xmlns:a="http://schemas.openxmlformats.org/drawingml/2006/main">
              <a:ext uri="{FF2B5EF4-FFF2-40B4-BE49-F238E27FC236}">
                <a16:creationId xmlns:a16="http://schemas.microsoft.com/office/drawing/2014/main" id="{6D8F66EB-85E6-49E3-833E-F872AB94133B}"/>
              </a:ext>
            </a:extLst>
          </p:cNvPr>
          <p:cNvSpPr>
            <a:spLocks xmlns:a="http://schemas.openxmlformats.org/drawingml/2006/main" noGrp="1"/>
          </p:cNvSpPr>
          <p:nvPr/>
        </p:nvSpPr>
        <p:spPr>
          <a:xfrm xmlns:a="http://schemas.openxmlformats.org/drawingml/2006/main">
            <a:off x="609600" y="1762125"/>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i="0">
                <a:solidFill>
                  <a:srgbClr val="1A1A1A"/>
                </a:solidFill>
                <a:latin typeface="Arial"/>
                <a:ea typeface="Arial"/>
                <a:cs typeface="Arial"/>
              </a:defRPr>
            </a:pPr>
            <a:r>
              <a:rPr sz="3300" b="1" i="0">
                <a:solidFill>
                  <a:srgbClr val="1A1A1A"/>
                </a:solidFill>
                <a:latin typeface="Arial"/>
                <a:ea typeface="Arial"/>
                <a:cs typeface="Arial"/>
              </a:rPr>
              <a:t>RVₜ,ₕ = Σ r²ₜ₊ₕ</a:t>
            </a:r>
          </a:p>
        </p:txBody>
      </p:sp>
      <p:sp>
        <p:nvSpPr>
          <p:cNvPr id="8" name="">
            <a:extLst xmlns:a="http://schemas.openxmlformats.org/drawingml/2006/main">
              <a:ext uri="{FF2B5EF4-FFF2-40B4-BE49-F238E27FC236}">
                <a16:creationId xmlns:a16="http://schemas.microsoft.com/office/drawing/2014/main" id="{80BF6B04-3CF8-46C3-B253-4C5511D83947}"/>
              </a:ext>
            </a:extLst>
          </p:cNvPr>
          <p:cNvSpPr>
            <a:spLocks xmlns:a="http://schemas.openxmlformats.org/drawingml/2006/main" noGrp="1"/>
          </p:cNvSpPr>
          <p:nvPr/>
        </p:nvSpPr>
        <p:spPr>
          <a:xfrm xmlns:a="http://schemas.openxmlformats.org/drawingml/2006/main">
            <a:off x="609600" y="2409825"/>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555555"/>
                </a:solidFill>
                <a:latin typeface="Arial"/>
                <a:ea typeface="Arial"/>
                <a:cs typeface="Arial"/>
              </a:defRPr>
            </a:pPr>
            <a:r>
              <a:rPr sz="1200" b="1" i="0">
                <a:solidFill>
                  <a:srgbClr val="555555"/>
                </a:solidFill>
                <a:latin typeface="Arial"/>
                <a:ea typeface="Arial"/>
                <a:cs typeface="Arial"/>
              </a:rPr>
              <a:t>H = 1, 5 and 20 trading days</a:t>
            </a:r>
          </a:p>
        </p:txBody>
      </p:sp>
      <p:sp>
        <p:nvSpPr>
          <p:cNvPr id="9" name="">
            <a:extLst xmlns:a="http://schemas.openxmlformats.org/drawingml/2006/main">
              <a:ext uri="{FF2B5EF4-FFF2-40B4-BE49-F238E27FC236}">
                <a16:creationId xmlns:a16="http://schemas.microsoft.com/office/drawing/2014/main" id="{6C5D6925-4957-4923-8B9B-45F8FA7C484C}"/>
              </a:ext>
            </a:extLst>
          </p:cNvPr>
          <p:cNvSpPr>
            <a:spLocks xmlns:a="http://schemas.openxmlformats.org/drawingml/2006/main" noGrp="1"/>
          </p:cNvSpPr>
          <p:nvPr/>
        </p:nvSpPr>
        <p:spPr>
          <a:xfrm xmlns:a="http://schemas.openxmlformats.org/drawingml/2006/main">
            <a:off x="609600" y="2819400"/>
            <a:ext cx="6667500" cy="0"/>
          </a:xfrm>
          <a:prstGeom xmlns:a="http://schemas.openxmlformats.org/drawingml/2006/main" prst="line">
            <a:avLst/>
          </a:prstGeom>
          <a:noFill xmlns:a="http://schemas.openxmlformats.org/drawingml/2006/main"/>
          <a:ln xmlns:a="http://schemas.openxmlformats.org/drawingml/2006/main" w="19050">
            <a:solidFill>
              <a:srgbClr val="1A1A1A"/>
            </a:solidFill>
            <a:prstDash val="solid"/>
          </a:ln>
        </p:spPr>
      </p:sp>
      <p:sp>
        <p:nvSpPr>
          <p:cNvPr id="10" name="">
            <a:extLst xmlns:a="http://schemas.openxmlformats.org/drawingml/2006/main">
              <a:ext uri="{FF2B5EF4-FFF2-40B4-BE49-F238E27FC236}">
                <a16:creationId xmlns:a16="http://schemas.microsoft.com/office/drawing/2014/main" id="{887711EF-E571-484E-A5AB-2C66B376E2E3}"/>
              </a:ext>
            </a:extLst>
          </p:cNvPr>
          <p:cNvSpPr>
            <a:spLocks xmlns:a="http://schemas.openxmlformats.org/drawingml/2006/main" noGrp="1"/>
          </p:cNvSpPr>
          <p:nvPr/>
        </p:nvSpPr>
        <p:spPr>
          <a:xfrm xmlns:a="http://schemas.openxmlformats.org/drawingml/2006/main">
            <a:off x="609600" y="30670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BASELINE</a:t>
            </a:r>
          </a:p>
        </p:txBody>
      </p:sp>
      <p:sp>
        <p:nvSpPr>
          <p:cNvPr id="11" name="">
            <a:extLst xmlns:a="http://schemas.openxmlformats.org/drawingml/2006/main">
              <a:ext uri="{FF2B5EF4-FFF2-40B4-BE49-F238E27FC236}">
                <a16:creationId xmlns:a16="http://schemas.microsoft.com/office/drawing/2014/main" id="{90CBD46F-76E1-436F-81CE-CF72373A5C25}"/>
              </a:ext>
            </a:extLst>
          </p:cNvPr>
          <p:cNvSpPr>
            <a:spLocks xmlns:a="http://schemas.openxmlformats.org/drawingml/2006/main" noGrp="1"/>
          </p:cNvSpPr>
          <p:nvPr/>
        </p:nvSpPr>
        <p:spPr>
          <a:xfrm xmlns:a="http://schemas.openxmlformats.org/drawingml/2006/main">
            <a:off x="609600" y="333375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A1A1A"/>
                </a:solidFill>
                <a:latin typeface="Arial"/>
                <a:ea typeface="Arial"/>
                <a:cs typeface="Arial"/>
              </a:defRPr>
            </a:pPr>
            <a:r>
              <a:rPr sz="1875" b="1" i="0">
                <a:solidFill>
                  <a:srgbClr val="1A1A1A"/>
                </a:solidFill>
                <a:latin typeface="Arial"/>
                <a:ea typeface="Arial"/>
                <a:cs typeface="Arial"/>
              </a:rPr>
              <a:t>Recent-return regression</a:t>
            </a:r>
          </a:p>
        </p:txBody>
      </p:sp>
      <p:sp>
        <p:nvSpPr>
          <p:cNvPr id="12" name="">
            <a:extLst xmlns:a="http://schemas.openxmlformats.org/drawingml/2006/main">
              <a:ext uri="{FF2B5EF4-FFF2-40B4-BE49-F238E27FC236}">
                <a16:creationId xmlns:a16="http://schemas.microsoft.com/office/drawing/2014/main" id="{6F59C306-388D-4211-B746-EDD37CEBBC61}"/>
              </a:ext>
            </a:extLst>
          </p:cNvPr>
          <p:cNvSpPr>
            <a:spLocks xmlns:a="http://schemas.openxmlformats.org/drawingml/2006/main" noGrp="1"/>
          </p:cNvSpPr>
          <p:nvPr/>
        </p:nvSpPr>
        <p:spPr>
          <a:xfrm xmlns:a="http://schemas.openxmlformats.org/drawingml/2006/main">
            <a:off x="609600" y="377190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55555"/>
                </a:solidFill>
                <a:latin typeface="Arial"/>
                <a:ea typeface="Arial"/>
                <a:cs typeface="Arial"/>
              </a:defRPr>
            </a:pPr>
            <a:r>
              <a:rPr sz="1275" b="0" i="0">
                <a:solidFill>
                  <a:srgbClr val="555555"/>
                </a:solidFill>
                <a:latin typeface="Arial"/>
                <a:ea typeface="Arial"/>
                <a:cs typeface="Arial"/>
              </a:rPr>
              <a:t>Average squared daily return over the preceding 20 trading days.</a:t>
            </a:r>
          </a:p>
        </p:txBody>
      </p:sp>
      <p:sp>
        <p:nvSpPr>
          <p:cNvPr id="13" name="">
            <a:extLst xmlns:a="http://schemas.openxmlformats.org/drawingml/2006/main">
              <a:ext uri="{FF2B5EF4-FFF2-40B4-BE49-F238E27FC236}">
                <a16:creationId xmlns:a16="http://schemas.microsoft.com/office/drawing/2014/main" id="{BB81F4C7-5F23-466D-B94E-884342087EC5}"/>
              </a:ext>
            </a:extLst>
          </p:cNvPr>
          <p:cNvSpPr>
            <a:spLocks xmlns:a="http://schemas.openxmlformats.org/drawingml/2006/main" noGrp="1"/>
          </p:cNvSpPr>
          <p:nvPr/>
        </p:nvSpPr>
        <p:spPr>
          <a:xfrm xmlns:a="http://schemas.openxmlformats.org/drawingml/2006/main">
            <a:off x="3924300" y="2990850"/>
            <a:ext cx="3352800" cy="1571625"/>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14" name="">
            <a:extLst xmlns:a="http://schemas.openxmlformats.org/drawingml/2006/main">
              <a:ext uri="{FF2B5EF4-FFF2-40B4-BE49-F238E27FC236}">
                <a16:creationId xmlns:a16="http://schemas.microsoft.com/office/drawing/2014/main" id="{5A31C805-B811-4E20-8181-1B2B891F4BF0}"/>
              </a:ext>
            </a:extLst>
          </p:cNvPr>
          <p:cNvSpPr>
            <a:spLocks xmlns:a="http://schemas.openxmlformats.org/drawingml/2006/main" noGrp="1"/>
          </p:cNvSpPr>
          <p:nvPr/>
        </p:nvSpPr>
        <p:spPr>
          <a:xfrm xmlns:a="http://schemas.openxmlformats.org/drawingml/2006/main">
            <a:off x="4133850" y="31813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AUGMENTED</a:t>
            </a:r>
          </a:p>
        </p:txBody>
      </p:sp>
      <p:sp>
        <p:nvSpPr>
          <p:cNvPr id="15" name="">
            <a:extLst xmlns:a="http://schemas.openxmlformats.org/drawingml/2006/main">
              <a:ext uri="{FF2B5EF4-FFF2-40B4-BE49-F238E27FC236}">
                <a16:creationId xmlns:a16="http://schemas.microsoft.com/office/drawing/2014/main" id="{F81D9CFE-5256-49AE-B401-3EEE5B0DBCDF}"/>
              </a:ext>
            </a:extLst>
          </p:cNvPr>
          <p:cNvSpPr>
            <a:spLocks xmlns:a="http://schemas.openxmlformats.org/drawingml/2006/main" noGrp="1"/>
          </p:cNvSpPr>
          <p:nvPr/>
        </p:nvSpPr>
        <p:spPr>
          <a:xfrm xmlns:a="http://schemas.openxmlformats.org/drawingml/2006/main">
            <a:off x="4133850" y="3457575"/>
            <a:ext cx="2933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203"/>
          </a:bodyPr>
          <a:lstStyle xmlns:a="http://schemas.openxmlformats.org/drawingml/2006/main"/>
          <a:p xmlns:a="http://schemas.openxmlformats.org/drawingml/2006/main">
            <a:pPr algn="l">
              <a:defRPr sz="1725" b="1" i="0">
                <a:solidFill>
                  <a:srgbClr val="1A1A1A"/>
                </a:solidFill>
                <a:latin typeface="Arial"/>
                <a:ea typeface="Arial"/>
                <a:cs typeface="Arial"/>
              </a:defRPr>
            </a:pPr>
            <a:r>
              <a:rPr sz="1725" b="1" i="0">
                <a:solidFill>
                  <a:srgbClr val="1A1A1A"/>
                </a:solidFill>
                <a:latin typeface="Arial"/>
                <a:ea typeface="Arial"/>
                <a:cs typeface="Arial"/>
              </a:rPr>
              <a:t>Same model plus event features</a:t>
            </a:r>
          </a:p>
        </p:txBody>
      </p:sp>
      <p:sp>
        <p:nvSpPr>
          <p:cNvPr id="16" name="">
            <a:extLst xmlns:a="http://schemas.openxmlformats.org/drawingml/2006/main">
              <a:ext uri="{FF2B5EF4-FFF2-40B4-BE49-F238E27FC236}">
                <a16:creationId xmlns:a16="http://schemas.microsoft.com/office/drawing/2014/main" id="{608EF0ED-EAF1-41DD-A270-4BA4AFB00D5E}"/>
              </a:ext>
            </a:extLst>
          </p:cNvPr>
          <p:cNvSpPr>
            <a:spLocks xmlns:a="http://schemas.openxmlformats.org/drawingml/2006/main" noGrp="1"/>
          </p:cNvSpPr>
          <p:nvPr/>
        </p:nvSpPr>
        <p:spPr>
          <a:xfrm xmlns:a="http://schemas.openxmlformats.org/drawingml/2006/main">
            <a:off x="4133850" y="406717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354"/>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Add p raw and the wallet adjustment p adjusted − p raw.</a:t>
            </a:r>
          </a:p>
        </p:txBody>
      </p:sp>
      <p:sp>
        <p:nvSpPr>
          <p:cNvPr id="17" name="">
            <a:extLst xmlns:a="http://schemas.openxmlformats.org/drawingml/2006/main">
              <a:ext uri="{FF2B5EF4-FFF2-40B4-BE49-F238E27FC236}">
                <a16:creationId xmlns:a16="http://schemas.microsoft.com/office/drawing/2014/main" id="{9EBE1E10-A0E6-4873-9CCD-533F842E7E6E}"/>
              </a:ext>
            </a:extLst>
          </p:cNvPr>
          <p:cNvSpPr>
            <a:spLocks xmlns:a="http://schemas.openxmlformats.org/drawingml/2006/main" noGrp="1"/>
          </p:cNvSpPr>
          <p:nvPr/>
        </p:nvSpPr>
        <p:spPr>
          <a:xfrm xmlns:a="http://schemas.openxmlformats.org/drawingml/2006/main">
            <a:off x="609600" y="48196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73A5E"/>
                </a:solidFill>
                <a:latin typeface="Arial"/>
                <a:ea typeface="Arial"/>
                <a:cs typeface="Arial"/>
              </a:defRPr>
            </a:pPr>
            <a:r>
              <a:rPr sz="1425" b="1" i="0">
                <a:solidFill>
                  <a:srgbClr val="173A5E"/>
                </a:solidFill>
                <a:latin typeface="Arial"/>
                <a:ea typeface="Arial"/>
                <a:cs typeface="Arial"/>
              </a:rPr>
              <a:t>Compare MSE and QLIKE on identical forecast dates and units.</a:t>
            </a:r>
          </a:p>
        </p:txBody>
      </p:sp>
      <p:sp>
        <p:nvSpPr>
          <p:cNvPr id="18" name="">
            <a:extLst xmlns:a="http://schemas.openxmlformats.org/drawingml/2006/main">
              <a:ext uri="{FF2B5EF4-FFF2-40B4-BE49-F238E27FC236}">
                <a16:creationId xmlns:a16="http://schemas.microsoft.com/office/drawing/2014/main" id="{4D5A7A49-F143-40E8-83C2-F5803567D2D4}"/>
              </a:ext>
            </a:extLst>
          </p:cNvPr>
          <p:cNvSpPr>
            <a:spLocks xmlns:a="http://schemas.openxmlformats.org/drawingml/2006/main" noGrp="1"/>
          </p:cNvSpPr>
          <p:nvPr/>
        </p:nvSpPr>
        <p:spPr>
          <a:xfrm xmlns:a="http://schemas.openxmlformats.org/drawingml/2006/main">
            <a:off x="7715250" y="1762125"/>
            <a:ext cx="3867150" cy="3657600"/>
          </a:xfrm>
          <a:prstGeom xmlns:a="http://schemas.openxmlformats.org/drawingml/2006/main" prst="rect">
            <a:avLst/>
          </a:prstGeom>
          <a:solidFill xmlns:a="http://schemas.openxmlformats.org/drawingml/2006/main">
            <a:srgbClr val="A33D2E"/>
          </a:solidFill>
          <a:ln xmlns:a="http://schemas.openxmlformats.org/drawingml/2006/main" w="14288">
            <a:solidFill>
              <a:srgbClr val="A33D2E"/>
            </a:solidFill>
            <a:prstDash val="solid"/>
          </a:ln>
        </p:spPr>
      </p:sp>
      <p:sp>
        <p:nvSpPr>
          <p:cNvPr id="19" name="">
            <a:extLst xmlns:a="http://schemas.openxmlformats.org/drawingml/2006/main">
              <a:ext uri="{FF2B5EF4-FFF2-40B4-BE49-F238E27FC236}">
                <a16:creationId xmlns:a16="http://schemas.microsoft.com/office/drawing/2014/main" id="{EB7BC570-BC92-4273-B167-009A43091221}"/>
              </a:ext>
            </a:extLst>
          </p:cNvPr>
          <p:cNvSpPr>
            <a:spLocks xmlns:a="http://schemas.openxmlformats.org/drawingml/2006/main" noGrp="1"/>
          </p:cNvSpPr>
          <p:nvPr/>
        </p:nvSpPr>
        <p:spPr>
          <a:xfrm xmlns:a="http://schemas.openxmlformats.org/drawingml/2006/main">
            <a:off x="8001000" y="20383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F5CFC6"/>
                </a:solidFill>
                <a:latin typeface="Arial"/>
                <a:ea typeface="Arial"/>
                <a:cs typeface="Arial"/>
              </a:defRPr>
            </a:pPr>
            <a:r>
              <a:rPr sz="825" b="1" i="0">
                <a:solidFill>
                  <a:srgbClr val="F5CFC6"/>
                </a:solidFill>
                <a:latin typeface="Arial"/>
                <a:ea typeface="Arial"/>
                <a:cs typeface="Arial"/>
              </a:rPr>
              <a:t>PORTFOLIO SCENARIOS</a:t>
            </a:r>
          </a:p>
        </p:txBody>
      </p:sp>
      <p:sp>
        <p:nvSpPr>
          <p:cNvPr id="20" name="">
            <a:extLst xmlns:a="http://schemas.openxmlformats.org/drawingml/2006/main">
              <a:ext uri="{FF2B5EF4-FFF2-40B4-BE49-F238E27FC236}">
                <a16:creationId xmlns:a16="http://schemas.microsoft.com/office/drawing/2014/main" id="{1BEA05F3-EC29-4116-BB87-F8BF8A98163D}"/>
              </a:ext>
            </a:extLst>
          </p:cNvPr>
          <p:cNvSpPr>
            <a:spLocks xmlns:a="http://schemas.openxmlformats.org/drawingml/2006/main" noGrp="1"/>
          </p:cNvSpPr>
          <p:nvPr/>
        </p:nvSpPr>
        <p:spPr>
          <a:xfrm xmlns:a="http://schemas.openxmlformats.org/drawingml/2006/main">
            <a:off x="8001000" y="2409825"/>
            <a:ext cx="3295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i="0">
                <a:solidFill>
                  <a:srgbClr val="FFFFFF"/>
                </a:solidFill>
                <a:latin typeface="Arial"/>
                <a:ea typeface="Arial"/>
                <a:cs typeface="Arial"/>
              </a:defRPr>
            </a:pPr>
            <a:r>
              <a:rPr sz="2025" b="1" i="0">
                <a:solidFill>
                  <a:srgbClr val="FFFFFF"/>
                </a:solidFill>
                <a:latin typeface="Arial"/>
                <a:ea typeface="Arial"/>
                <a:cs typeface="Arial"/>
              </a:rPr>
              <a:t>Conditional YES and NO return distributions</a:t>
            </a:r>
          </a:p>
        </p:txBody>
      </p:sp>
      <p:sp>
        <p:nvSpPr>
          <p:cNvPr id="21" name="">
            <a:extLst xmlns:a="http://schemas.openxmlformats.org/drawingml/2006/main">
              <a:ext uri="{FF2B5EF4-FFF2-40B4-BE49-F238E27FC236}">
                <a16:creationId xmlns:a16="http://schemas.microsoft.com/office/drawing/2014/main" id="{BBA048B6-86CE-4B68-AF69-7BD735813D0C}"/>
              </a:ext>
            </a:extLst>
          </p:cNvPr>
          <p:cNvSpPr>
            <a:spLocks xmlns:a="http://schemas.openxmlformats.org/drawingml/2006/main" noGrp="1"/>
          </p:cNvSpPr>
          <p:nvPr/>
        </p:nvSpPr>
        <p:spPr>
          <a:xfrm xmlns:a="http://schemas.openxmlformats.org/drawingml/2006/main">
            <a:off x="8001000" y="3295650"/>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Scenario return</a:t>
            </a:r>
          </a:p>
        </p:txBody>
      </p:sp>
      <p:sp>
        <p:nvSpPr>
          <p:cNvPr id="22" name="">
            <a:extLst xmlns:a="http://schemas.openxmlformats.org/drawingml/2006/main">
              <a:ext uri="{FF2B5EF4-FFF2-40B4-BE49-F238E27FC236}">
                <a16:creationId xmlns:a16="http://schemas.microsoft.com/office/drawing/2014/main" id="{121BCA56-ED80-427F-9C30-C3BCC6593EB8}"/>
              </a:ext>
            </a:extLst>
          </p:cNvPr>
          <p:cNvSpPr>
            <a:spLocks xmlns:a="http://schemas.openxmlformats.org/drawingml/2006/main" noGrp="1"/>
          </p:cNvSpPr>
          <p:nvPr/>
        </p:nvSpPr>
        <p:spPr>
          <a:xfrm xmlns:a="http://schemas.openxmlformats.org/drawingml/2006/main">
            <a:off x="8001000" y="3571875"/>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23" name="">
            <a:extLst xmlns:a="http://schemas.openxmlformats.org/drawingml/2006/main">
              <a:ext uri="{FF2B5EF4-FFF2-40B4-BE49-F238E27FC236}">
                <a16:creationId xmlns:a16="http://schemas.microsoft.com/office/drawing/2014/main" id="{3752E93C-03E8-44C1-9933-8FE723864CB1}"/>
              </a:ext>
            </a:extLst>
          </p:cNvPr>
          <p:cNvSpPr>
            <a:spLocks xmlns:a="http://schemas.openxmlformats.org/drawingml/2006/main" noGrp="1"/>
          </p:cNvSpPr>
          <p:nvPr/>
        </p:nvSpPr>
        <p:spPr>
          <a:xfrm xmlns:a="http://schemas.openxmlformats.org/drawingml/2006/main">
            <a:off x="8001000" y="3667125"/>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Horizon volatility</a:t>
            </a:r>
          </a:p>
        </p:txBody>
      </p:sp>
      <p:sp>
        <p:nvSpPr>
          <p:cNvPr id="24" name="">
            <a:extLst xmlns:a="http://schemas.openxmlformats.org/drawingml/2006/main">
              <a:ext uri="{FF2B5EF4-FFF2-40B4-BE49-F238E27FC236}">
                <a16:creationId xmlns:a16="http://schemas.microsoft.com/office/drawing/2014/main" id="{BFAE33DB-CDAD-45CC-814F-31737EE60BAA}"/>
              </a:ext>
            </a:extLst>
          </p:cNvPr>
          <p:cNvSpPr>
            <a:spLocks xmlns:a="http://schemas.openxmlformats.org/drawingml/2006/main" noGrp="1"/>
          </p:cNvSpPr>
          <p:nvPr/>
        </p:nvSpPr>
        <p:spPr>
          <a:xfrm xmlns:a="http://schemas.openxmlformats.org/drawingml/2006/main">
            <a:off x="8001000" y="3943350"/>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25" name="">
            <a:extLst xmlns:a="http://schemas.openxmlformats.org/drawingml/2006/main">
              <a:ext uri="{FF2B5EF4-FFF2-40B4-BE49-F238E27FC236}">
                <a16:creationId xmlns:a16="http://schemas.microsoft.com/office/drawing/2014/main" id="{5EB6AA3F-EC0C-4377-B8D0-D3C388E437AC}"/>
              </a:ext>
            </a:extLst>
          </p:cNvPr>
          <p:cNvSpPr>
            <a:spLocks xmlns:a="http://schemas.openxmlformats.org/drawingml/2006/main" noGrp="1"/>
          </p:cNvSpPr>
          <p:nvPr/>
        </p:nvSpPr>
        <p:spPr>
          <a:xfrm xmlns:a="http://schemas.openxmlformats.org/drawingml/2006/main">
            <a:off x="8001000" y="4038600"/>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Loss probability</a:t>
            </a:r>
          </a:p>
        </p:txBody>
      </p:sp>
      <p:sp>
        <p:nvSpPr>
          <p:cNvPr id="26" name="">
            <a:extLst xmlns:a="http://schemas.openxmlformats.org/drawingml/2006/main">
              <a:ext uri="{FF2B5EF4-FFF2-40B4-BE49-F238E27FC236}">
                <a16:creationId xmlns:a16="http://schemas.microsoft.com/office/drawing/2014/main" id="{85D5B4B5-51D7-4BF0-9B34-EE4D8B8437FF}"/>
              </a:ext>
            </a:extLst>
          </p:cNvPr>
          <p:cNvSpPr>
            <a:spLocks xmlns:a="http://schemas.openxmlformats.org/drawingml/2006/main" noGrp="1"/>
          </p:cNvSpPr>
          <p:nvPr/>
        </p:nvSpPr>
        <p:spPr>
          <a:xfrm xmlns:a="http://schemas.openxmlformats.org/drawingml/2006/main">
            <a:off x="8001000" y="4314825"/>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27" name="">
            <a:extLst xmlns:a="http://schemas.openxmlformats.org/drawingml/2006/main">
              <a:ext uri="{FF2B5EF4-FFF2-40B4-BE49-F238E27FC236}">
                <a16:creationId xmlns:a16="http://schemas.microsoft.com/office/drawing/2014/main" id="{E221081E-43F4-4FF6-B6B7-7BDE573448F6}"/>
              </a:ext>
            </a:extLst>
          </p:cNvPr>
          <p:cNvSpPr>
            <a:spLocks xmlns:a="http://schemas.openxmlformats.org/drawingml/2006/main" noGrp="1"/>
          </p:cNvSpPr>
          <p:nvPr/>
        </p:nvSpPr>
        <p:spPr>
          <a:xfrm xmlns:a="http://schemas.openxmlformats.org/drawingml/2006/main">
            <a:off x="8001000" y="4410075"/>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95% VaR</a:t>
            </a:r>
          </a:p>
        </p:txBody>
      </p:sp>
      <p:sp>
        <p:nvSpPr>
          <p:cNvPr id="28" name="">
            <a:extLst xmlns:a="http://schemas.openxmlformats.org/drawingml/2006/main">
              <a:ext uri="{FF2B5EF4-FFF2-40B4-BE49-F238E27FC236}">
                <a16:creationId xmlns:a16="http://schemas.microsoft.com/office/drawing/2014/main" id="{B02FAEBC-0CC4-4C30-B408-84DD617AEB4C}"/>
              </a:ext>
            </a:extLst>
          </p:cNvPr>
          <p:cNvSpPr>
            <a:spLocks xmlns:a="http://schemas.openxmlformats.org/drawingml/2006/main" noGrp="1"/>
          </p:cNvSpPr>
          <p:nvPr/>
        </p:nvSpPr>
        <p:spPr>
          <a:xfrm xmlns:a="http://schemas.openxmlformats.org/drawingml/2006/main">
            <a:off x="8001000" y="4686300"/>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29" name="">
            <a:extLst xmlns:a="http://schemas.openxmlformats.org/drawingml/2006/main">
              <a:ext uri="{FF2B5EF4-FFF2-40B4-BE49-F238E27FC236}">
                <a16:creationId xmlns:a16="http://schemas.microsoft.com/office/drawing/2014/main" id="{7EDD696D-929E-4206-B1A6-E2397B3CCDFA}"/>
              </a:ext>
            </a:extLst>
          </p:cNvPr>
          <p:cNvSpPr>
            <a:spLocks xmlns:a="http://schemas.openxmlformats.org/drawingml/2006/main" noGrp="1"/>
          </p:cNvSpPr>
          <p:nvPr/>
        </p:nvSpPr>
        <p:spPr>
          <a:xfrm xmlns:a="http://schemas.openxmlformats.org/drawingml/2006/main">
            <a:off x="8001000" y="4781550"/>
            <a:ext cx="329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95% expected shortfall</a:t>
            </a:r>
          </a:p>
        </p:txBody>
      </p:sp>
      <p:sp>
        <p:nvSpPr>
          <p:cNvPr id="30" name="">
            <a:extLst xmlns:a="http://schemas.openxmlformats.org/drawingml/2006/main">
              <a:ext uri="{FF2B5EF4-FFF2-40B4-BE49-F238E27FC236}">
                <a16:creationId xmlns:a16="http://schemas.microsoft.com/office/drawing/2014/main" id="{450F54AA-80C5-4371-A839-87227D376CD6}"/>
              </a:ext>
            </a:extLst>
          </p:cNvPr>
          <p:cNvSpPr>
            <a:spLocks xmlns:a="http://schemas.openxmlformats.org/drawingml/2006/main" noGrp="1"/>
          </p:cNvSpPr>
          <p:nvPr/>
        </p:nvSpPr>
        <p:spPr>
          <a:xfrm xmlns:a="http://schemas.openxmlformats.org/drawingml/2006/main">
            <a:off x="8001000" y="5057775"/>
            <a:ext cx="3295650" cy="0"/>
          </a:xfrm>
          <a:prstGeom xmlns:a="http://schemas.openxmlformats.org/drawingml/2006/main" prst="line">
            <a:avLst/>
          </a:prstGeom>
          <a:noFill xmlns:a="http://schemas.openxmlformats.org/drawingml/2006/main"/>
          <a:ln xmlns:a="http://schemas.openxmlformats.org/drawingml/2006/main" w="9525">
            <a:solidFill>
              <a:srgbClr val="D98E81"/>
            </a:solidFill>
            <a:prstDash val="solid"/>
          </a:ln>
        </p:spPr>
      </p:sp>
      <p:sp>
        <p:nvSpPr>
          <p:cNvPr id="31" name="">
            <a:extLst xmlns:a="http://schemas.openxmlformats.org/drawingml/2006/main">
              <a:ext uri="{FF2B5EF4-FFF2-40B4-BE49-F238E27FC236}">
                <a16:creationId xmlns:a16="http://schemas.microsoft.com/office/drawing/2014/main" id="{D429FB3F-BE8A-49E5-A43D-314B614F43AC}"/>
              </a:ext>
            </a:extLst>
          </p:cNvPr>
          <p:cNvSpPr>
            <a:spLocks xmlns:a="http://schemas.openxmlformats.org/drawingml/2006/main" noGrp="1"/>
          </p:cNvSpPr>
          <p:nvPr/>
        </p:nvSpPr>
        <p:spPr>
          <a:xfrm xmlns:a="http://schemas.openxmlformats.org/drawingml/2006/main">
            <a:off x="8001000" y="503872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i="0">
                <a:solidFill>
                  <a:srgbClr val="F7EAE7"/>
                </a:solidFill>
                <a:latin typeface="Arial"/>
                <a:ea typeface="Arial"/>
                <a:cs typeface="Arial"/>
              </a:defRPr>
            </a:pPr>
            <a:r>
              <a:rPr sz="975" b="0" i="0">
                <a:solidFill>
                  <a:srgbClr val="F7EAE7"/>
                </a:solidFill>
                <a:latin typeface="Arial"/>
                <a:ea typeface="Arial"/>
                <a:cs typeface="Arial"/>
              </a:rPr>
              <a:t>Joint returns preserve cross-asset dependence.</a:t>
            </a:r>
          </a:p>
        </p:txBody>
      </p:sp>
    </p:spTree>
    <p:extLst>
      <p:ext uri="{BB962C8B-B14F-4D97-AF65-F5344CB8AC3E}">
        <p14:creationId xmlns:p14="http://schemas.microsoft.com/office/powerpoint/2010/main" val="1715996698"/>
      </p:ext>
    </p:extLst>
  </p:cSld>
</p:sld>
</file>

<file path=ppt/slides/slide7.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A670638-CE53-4CF8-9857-8A00A6DA94CA}"/>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SYSTEM DESIGN</a:t>
            </a:r>
          </a:p>
        </p:txBody>
      </p:sp>
      <p:sp>
        <p:nvSpPr>
          <p:cNvPr id="2" name="">
            <a:extLst xmlns:a="http://schemas.openxmlformats.org/drawingml/2006/main">
              <a:ext uri="{FF2B5EF4-FFF2-40B4-BE49-F238E27FC236}">
                <a16:creationId xmlns:a16="http://schemas.microsoft.com/office/drawing/2014/main" id="{6E49A7AD-3CEA-4495-820F-C265281242F5}"/>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Calculations remain separate from explanations</a:t>
            </a:r>
          </a:p>
        </p:txBody>
      </p:sp>
      <p:sp>
        <p:nvSpPr>
          <p:cNvPr id="3" name="">
            <a:extLst xmlns:a="http://schemas.openxmlformats.org/drawingml/2006/main">
              <a:ext uri="{FF2B5EF4-FFF2-40B4-BE49-F238E27FC236}">
                <a16:creationId xmlns:a16="http://schemas.microsoft.com/office/drawing/2014/main" id="{2F21A8E6-B5D6-4C72-AD23-8E1BB892E4B0}"/>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F7C3B7F3-8069-484F-A325-2E4F68FCAEF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1FA01170-4DF3-4351-9F12-6E3D807D8196}"/>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0E0104AE-1DBD-46B6-A166-6160DA4E6767}"/>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07 / 10</a:t>
            </a:r>
          </a:p>
        </p:txBody>
      </p:sp>
      <p:sp>
        <p:nvSpPr>
          <p:cNvPr id="7" name="">
            <a:extLst xmlns:a="http://schemas.openxmlformats.org/drawingml/2006/main">
              <a:ext uri="{FF2B5EF4-FFF2-40B4-BE49-F238E27FC236}">
                <a16:creationId xmlns:a16="http://schemas.microsoft.com/office/drawing/2014/main" id="{4C01FC82-7127-47DF-B09E-E73055F69047}"/>
              </a:ext>
            </a:extLst>
          </p:cNvPr>
          <p:cNvSpPr>
            <a:spLocks xmlns:a="http://schemas.openxmlformats.org/drawingml/2006/main" noGrp="1"/>
          </p:cNvSpPr>
          <p:nvPr/>
        </p:nvSpPr>
        <p:spPr>
          <a:xfrm xmlns:a="http://schemas.openxmlformats.org/drawingml/2006/main">
            <a:off x="609600" y="1828800"/>
            <a:ext cx="3028950" cy="16859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8" name="">
            <a:extLst xmlns:a="http://schemas.openxmlformats.org/drawingml/2006/main">
              <a:ext uri="{FF2B5EF4-FFF2-40B4-BE49-F238E27FC236}">
                <a16:creationId xmlns:a16="http://schemas.microsoft.com/office/drawing/2014/main" id="{9080723D-E588-4979-A11E-A7ADD04983A9}"/>
              </a:ext>
            </a:extLst>
          </p:cNvPr>
          <p:cNvSpPr>
            <a:spLocks xmlns:a="http://schemas.openxmlformats.org/drawingml/2006/main" noGrp="1"/>
          </p:cNvSpPr>
          <p:nvPr/>
        </p:nvSpPr>
        <p:spPr>
          <a:xfrm xmlns:a="http://schemas.openxmlformats.org/drawingml/2006/main">
            <a:off x="838200" y="203835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A5FC29A6-042E-4E4F-88A1-561D2D83DD95}"/>
              </a:ext>
            </a:extLst>
          </p:cNvPr>
          <p:cNvSpPr>
            <a:spLocks xmlns:a="http://schemas.openxmlformats.org/drawingml/2006/main" noGrp="1"/>
          </p:cNvSpPr>
          <p:nvPr/>
        </p:nvSpPr>
        <p:spPr>
          <a:xfrm xmlns:a="http://schemas.openxmlformats.org/drawingml/2006/main">
            <a:off x="838200" y="23526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A1A1A"/>
                </a:solidFill>
                <a:latin typeface="Arial"/>
                <a:ea typeface="Arial"/>
                <a:cs typeface="Arial"/>
              </a:defRPr>
            </a:pPr>
            <a:r>
              <a:rPr sz="1875" b="1" i="0">
                <a:solidFill>
                  <a:srgbClr val="1A1A1A"/>
                </a:solidFill>
                <a:latin typeface="Arial"/>
                <a:ea typeface="Arial"/>
                <a:cs typeface="Arial"/>
              </a:rPr>
              <a:t>Evidence layer</a:t>
            </a:r>
          </a:p>
        </p:txBody>
      </p:sp>
      <p:sp>
        <p:nvSpPr>
          <p:cNvPr id="10" name="">
            <a:extLst xmlns:a="http://schemas.openxmlformats.org/drawingml/2006/main">
              <a:ext uri="{FF2B5EF4-FFF2-40B4-BE49-F238E27FC236}">
                <a16:creationId xmlns:a16="http://schemas.microsoft.com/office/drawing/2014/main" id="{6D4310ED-811A-49AE-89F3-B6F84B3EC3C4}"/>
              </a:ext>
            </a:extLst>
          </p:cNvPr>
          <p:cNvSpPr>
            <a:spLocks xmlns:a="http://schemas.openxmlformats.org/drawingml/2006/main" noGrp="1"/>
          </p:cNvSpPr>
          <p:nvPr/>
        </p:nvSpPr>
        <p:spPr>
          <a:xfrm xmlns:a="http://schemas.openxmlformats.org/drawingml/2006/main">
            <a:off x="838200" y="287655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APIs, receipts, PostgreSQL, Parquet and versioned source records</a:t>
            </a:r>
          </a:p>
        </p:txBody>
      </p:sp>
      <p:sp>
        <p:nvSpPr>
          <p:cNvPr id="11" name="">
            <a:extLst xmlns:a="http://schemas.openxmlformats.org/drawingml/2006/main">
              <a:ext uri="{FF2B5EF4-FFF2-40B4-BE49-F238E27FC236}">
                <a16:creationId xmlns:a16="http://schemas.microsoft.com/office/drawing/2014/main" id="{2BC5541A-5F3C-450F-9F33-825B1A8DA7D9}"/>
              </a:ext>
            </a:extLst>
          </p:cNvPr>
          <p:cNvSpPr>
            <a:spLocks xmlns:a="http://schemas.openxmlformats.org/drawingml/2006/main" noGrp="1"/>
          </p:cNvSpPr>
          <p:nvPr/>
        </p:nvSpPr>
        <p:spPr>
          <a:xfrm xmlns:a="http://schemas.openxmlformats.org/drawingml/2006/main">
            <a:off x="4514850" y="1828800"/>
            <a:ext cx="3162300" cy="1685925"/>
          </a:xfrm>
          <a:prstGeom xmlns:a="http://schemas.openxmlformats.org/drawingml/2006/main" prst="rect">
            <a:avLst/>
          </a:prstGeom>
          <a:solidFill xmlns:a="http://schemas.openxmlformats.org/drawingml/2006/main">
            <a:srgbClr val="F3E6E1"/>
          </a:solidFill>
          <a:ln xmlns:a="http://schemas.openxmlformats.org/drawingml/2006/main" w="14288">
            <a:solidFill>
              <a:srgbClr val="A33D2E"/>
            </a:solidFill>
            <a:prstDash val="solid"/>
          </a:ln>
        </p:spPr>
      </p:sp>
      <p:sp>
        <p:nvSpPr>
          <p:cNvPr id="12" name="">
            <a:extLst xmlns:a="http://schemas.openxmlformats.org/drawingml/2006/main">
              <a:ext uri="{FF2B5EF4-FFF2-40B4-BE49-F238E27FC236}">
                <a16:creationId xmlns:a16="http://schemas.microsoft.com/office/drawing/2014/main" id="{86961D5A-D941-48EE-B815-0E341182B2DC}"/>
              </a:ext>
            </a:extLst>
          </p:cNvPr>
          <p:cNvSpPr>
            <a:spLocks xmlns:a="http://schemas.openxmlformats.org/drawingml/2006/main" noGrp="1"/>
          </p:cNvSpPr>
          <p:nvPr/>
        </p:nvSpPr>
        <p:spPr>
          <a:xfrm xmlns:a="http://schemas.openxmlformats.org/drawingml/2006/main">
            <a:off x="4743450" y="20383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ANALYTICS</a:t>
            </a:r>
          </a:p>
        </p:txBody>
      </p:sp>
      <p:sp>
        <p:nvSpPr>
          <p:cNvPr id="13" name="">
            <a:extLst xmlns:a="http://schemas.openxmlformats.org/drawingml/2006/main">
              <a:ext uri="{FF2B5EF4-FFF2-40B4-BE49-F238E27FC236}">
                <a16:creationId xmlns:a16="http://schemas.microsoft.com/office/drawing/2014/main" id="{61DB3632-AA30-4C4C-908A-EDB68D70DF08}"/>
              </a:ext>
            </a:extLst>
          </p:cNvPr>
          <p:cNvSpPr>
            <a:spLocks xmlns:a="http://schemas.openxmlformats.org/drawingml/2006/main" noGrp="1"/>
          </p:cNvSpPr>
          <p:nvPr/>
        </p:nvSpPr>
        <p:spPr>
          <a:xfrm xmlns:a="http://schemas.openxmlformats.org/drawingml/2006/main">
            <a:off x="4743450" y="2352675"/>
            <a:ext cx="2705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1A1A1A"/>
                </a:solidFill>
                <a:latin typeface="Arial"/>
                <a:ea typeface="Arial"/>
                <a:cs typeface="Arial"/>
              </a:defRPr>
            </a:pPr>
            <a:r>
              <a:rPr sz="1875" b="1" i="0">
                <a:solidFill>
                  <a:srgbClr val="1A1A1A"/>
                </a:solidFill>
                <a:latin typeface="Arial"/>
                <a:ea typeface="Arial"/>
                <a:cs typeface="Arial"/>
              </a:rPr>
              <a:t>Research services</a:t>
            </a:r>
          </a:p>
        </p:txBody>
      </p:sp>
      <p:sp>
        <p:nvSpPr>
          <p:cNvPr id="14" name="">
            <a:extLst xmlns:a="http://schemas.openxmlformats.org/drawingml/2006/main">
              <a:ext uri="{FF2B5EF4-FFF2-40B4-BE49-F238E27FC236}">
                <a16:creationId xmlns:a16="http://schemas.microsoft.com/office/drawing/2014/main" id="{F00C24BF-A97D-44EA-8880-076D38445411}"/>
              </a:ext>
            </a:extLst>
          </p:cNvPr>
          <p:cNvSpPr>
            <a:spLocks xmlns:a="http://schemas.openxmlformats.org/drawingml/2006/main" noGrp="1"/>
          </p:cNvSpPr>
          <p:nvPr/>
        </p:nvSpPr>
        <p:spPr>
          <a:xfrm xmlns:a="http://schemas.openxmlformats.org/drawingml/2006/main">
            <a:off x="4743450" y="2876550"/>
            <a:ext cx="2705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Wallet scoring, probability calibration, forecasting and scenarios</a:t>
            </a:r>
          </a:p>
        </p:txBody>
      </p:sp>
      <p:sp>
        <p:nvSpPr>
          <p:cNvPr id="15" name="">
            <a:extLst xmlns:a="http://schemas.openxmlformats.org/drawingml/2006/main">
              <a:ext uri="{FF2B5EF4-FFF2-40B4-BE49-F238E27FC236}">
                <a16:creationId xmlns:a16="http://schemas.microsoft.com/office/drawing/2014/main" id="{B1CBAC9C-6BF5-4693-AAA6-B50E2DF885FB}"/>
              </a:ext>
            </a:extLst>
          </p:cNvPr>
          <p:cNvSpPr>
            <a:spLocks xmlns:a="http://schemas.openxmlformats.org/drawingml/2006/main" noGrp="1"/>
          </p:cNvSpPr>
          <p:nvPr/>
        </p:nvSpPr>
        <p:spPr>
          <a:xfrm xmlns:a="http://schemas.openxmlformats.org/drawingml/2006/main">
            <a:off x="8553450" y="1828800"/>
            <a:ext cx="3028950" cy="16859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sp>
        <p:nvSpPr>
          <p:cNvPr id="16" name="">
            <a:extLst xmlns:a="http://schemas.openxmlformats.org/drawingml/2006/main">
              <a:ext uri="{FF2B5EF4-FFF2-40B4-BE49-F238E27FC236}">
                <a16:creationId xmlns:a16="http://schemas.microsoft.com/office/drawing/2014/main" id="{85AD01C9-27DB-4309-92D2-77C9AFD76255}"/>
              </a:ext>
            </a:extLst>
          </p:cNvPr>
          <p:cNvSpPr>
            <a:spLocks xmlns:a="http://schemas.openxmlformats.org/drawingml/2006/main" noGrp="1"/>
          </p:cNvSpPr>
          <p:nvPr/>
        </p:nvSpPr>
        <p:spPr>
          <a:xfrm xmlns:a="http://schemas.openxmlformats.org/drawingml/2006/main">
            <a:off x="8782050" y="20383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DELIVERY</a:t>
            </a:r>
          </a:p>
        </p:txBody>
      </p:sp>
      <p:sp>
        <p:nvSpPr>
          <p:cNvPr id="17" name="">
            <a:extLst xmlns:a="http://schemas.openxmlformats.org/drawingml/2006/main">
              <a:ext uri="{FF2B5EF4-FFF2-40B4-BE49-F238E27FC236}">
                <a16:creationId xmlns:a16="http://schemas.microsoft.com/office/drawing/2014/main" id="{5EE4169A-19B4-4E2E-A036-3147CD8C52B8}"/>
              </a:ext>
            </a:extLst>
          </p:cNvPr>
          <p:cNvSpPr>
            <a:spLocks xmlns:a="http://schemas.openxmlformats.org/drawingml/2006/main" noGrp="1"/>
          </p:cNvSpPr>
          <p:nvPr/>
        </p:nvSpPr>
        <p:spPr>
          <a:xfrm xmlns:a="http://schemas.openxmlformats.org/drawingml/2006/main">
            <a:off x="8782050" y="23526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0950"/>
          </a:bodyPr>
          <a:lstStyle xmlns:a="http://schemas.openxmlformats.org/drawingml/2006/main"/>
          <a:p xmlns:a="http://schemas.openxmlformats.org/drawingml/2006/main">
            <a:pPr algn="l">
              <a:defRPr sz="1875" b="1" i="0">
                <a:solidFill>
                  <a:srgbClr val="1A1A1A"/>
                </a:solidFill>
                <a:latin typeface="Arial"/>
                <a:ea typeface="Arial"/>
                <a:cs typeface="Arial"/>
              </a:defRPr>
            </a:pPr>
            <a:r>
              <a:rPr sz="1875" b="1" i="0">
                <a:solidFill>
                  <a:srgbClr val="1A1A1A"/>
                </a:solidFill>
                <a:latin typeface="Arial"/>
                <a:ea typeface="Arial"/>
                <a:cs typeface="Arial"/>
              </a:rPr>
              <a:t>Dashboard and assistant</a:t>
            </a:r>
          </a:p>
        </p:txBody>
      </p:sp>
      <p:sp>
        <p:nvSpPr>
          <p:cNvPr id="18" name="">
            <a:extLst xmlns:a="http://schemas.openxmlformats.org/drawingml/2006/main">
              <a:ext uri="{FF2B5EF4-FFF2-40B4-BE49-F238E27FC236}">
                <a16:creationId xmlns:a16="http://schemas.microsoft.com/office/drawing/2014/main" id="{9B0DC45C-FA60-41A5-A69A-9DD8D94F0577}"/>
              </a:ext>
            </a:extLst>
          </p:cNvPr>
          <p:cNvSpPr>
            <a:spLocks xmlns:a="http://schemas.openxmlformats.org/drawingml/2006/main" noGrp="1"/>
          </p:cNvSpPr>
          <p:nvPr/>
        </p:nvSpPr>
        <p:spPr>
          <a:xfrm xmlns:a="http://schemas.openxmlformats.org/drawingml/2006/main">
            <a:off x="8782050" y="2876550"/>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555555"/>
                </a:solidFill>
                <a:latin typeface="Arial"/>
                <a:ea typeface="Arial"/>
                <a:cs typeface="Arial"/>
              </a:defRPr>
            </a:pPr>
            <a:r>
              <a:rPr sz="1200" b="0" i="0">
                <a:solidFill>
                  <a:srgbClr val="555555"/>
                </a:solidFill>
                <a:latin typeface="Arial"/>
                <a:ea typeface="Arial"/>
                <a:cs typeface="Arial"/>
              </a:rPr>
              <a:t>Validated APIs, saved runs, evidence links and research reports</a:t>
            </a:r>
          </a:p>
        </p:txBody>
      </p:sp>
      <p:sp>
        <p:nvSpPr>
          <p:cNvPr id="19" name="">
            <a:extLst xmlns:a="http://schemas.openxmlformats.org/drawingml/2006/main">
              <a:ext uri="{FF2B5EF4-FFF2-40B4-BE49-F238E27FC236}">
                <a16:creationId xmlns:a16="http://schemas.microsoft.com/office/drawing/2014/main" id="{5EE12376-2193-4C2B-9DC2-B7DBBEBE7C0B}"/>
              </a:ext>
            </a:extLst>
          </p:cNvPr>
          <p:cNvSpPr>
            <a:spLocks xmlns:a="http://schemas.openxmlformats.org/drawingml/2006/main" noGrp="1"/>
          </p:cNvSpPr>
          <p:nvPr/>
        </p:nvSpPr>
        <p:spPr>
          <a:xfrm xmlns:a="http://schemas.openxmlformats.org/drawingml/2006/main">
            <a:off x="3781425" y="24003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765"/>
          </a:bodyPr>
          <a:lstStyle xmlns:a="http://schemas.openxmlformats.org/drawingml/2006/main"/>
          <a:p xmlns:a="http://schemas.openxmlformats.org/drawingml/2006/main">
            <a:pPr algn="ctr">
              <a:defRPr sz="4050" b="1" i="0">
                <a:solidFill>
                  <a:srgbClr val="A33D2E"/>
                </a:solidFill>
                <a:latin typeface="Arial"/>
                <a:ea typeface="Arial"/>
                <a:cs typeface="Arial"/>
              </a:defRPr>
            </a:pPr>
            <a:r>
              <a:rPr sz="4050" b="1" i="0">
                <a:solidFill>
                  <a:srgbClr val="A33D2E"/>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260D0868-9E57-4275-9167-7386667007AD}"/>
              </a:ext>
            </a:extLst>
          </p:cNvPr>
          <p:cNvSpPr>
            <a:spLocks xmlns:a="http://schemas.openxmlformats.org/drawingml/2006/main" noGrp="1"/>
          </p:cNvSpPr>
          <p:nvPr/>
        </p:nvSpPr>
        <p:spPr>
          <a:xfrm xmlns:a="http://schemas.openxmlformats.org/drawingml/2006/main">
            <a:off x="7820025" y="24003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765"/>
          </a:bodyPr>
          <a:lstStyle xmlns:a="http://schemas.openxmlformats.org/drawingml/2006/main"/>
          <a:p xmlns:a="http://schemas.openxmlformats.org/drawingml/2006/main">
            <a:pPr algn="ctr">
              <a:defRPr sz="4050" b="1" i="0">
                <a:solidFill>
                  <a:srgbClr val="A33D2E"/>
                </a:solidFill>
                <a:latin typeface="Arial"/>
                <a:ea typeface="Arial"/>
                <a:cs typeface="Arial"/>
              </a:defRPr>
            </a:pPr>
            <a:r>
              <a:rPr sz="4050" b="1" i="0">
                <a:solidFill>
                  <a:srgbClr val="A33D2E"/>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08A4DA87-3D6C-4E37-B0C5-45E454F1D968}"/>
              </a:ext>
            </a:extLst>
          </p:cNvPr>
          <p:cNvSpPr>
            <a:spLocks xmlns:a="http://schemas.openxmlformats.org/drawingml/2006/main" noGrp="1"/>
          </p:cNvSpPr>
          <p:nvPr/>
        </p:nvSpPr>
        <p:spPr>
          <a:xfrm xmlns:a="http://schemas.openxmlformats.org/drawingml/2006/main">
            <a:off x="609600" y="4010025"/>
            <a:ext cx="3352800" cy="0"/>
          </a:xfrm>
          <a:prstGeom xmlns:a="http://schemas.openxmlformats.org/drawingml/2006/main" prst="line">
            <a:avLst/>
          </a:prstGeom>
          <a:noFill xmlns:a="http://schemas.openxmlformats.org/drawingml/2006/main"/>
          <a:ln xmlns:a="http://schemas.openxmlformats.org/drawingml/2006/main" w="14288">
            <a:solidFill>
              <a:srgbClr val="1A1A1A"/>
            </a:solidFill>
            <a:prstDash val="solid"/>
          </a:ln>
        </p:spPr>
      </p:sp>
      <p:sp>
        <p:nvSpPr>
          <p:cNvPr id="22" name="">
            <a:extLst xmlns:a="http://schemas.openxmlformats.org/drawingml/2006/main">
              <a:ext uri="{FF2B5EF4-FFF2-40B4-BE49-F238E27FC236}">
                <a16:creationId xmlns:a16="http://schemas.microsoft.com/office/drawing/2014/main" id="{847FBCE6-B96F-4112-9A0C-2E11F2DAED81}"/>
              </a:ext>
            </a:extLst>
          </p:cNvPr>
          <p:cNvSpPr>
            <a:spLocks xmlns:a="http://schemas.openxmlformats.org/drawingml/2006/main" noGrp="1"/>
          </p:cNvSpPr>
          <p:nvPr/>
        </p:nvSpPr>
        <p:spPr>
          <a:xfrm xmlns:a="http://schemas.openxmlformats.org/drawingml/2006/main">
            <a:off x="609600" y="4171950"/>
            <a:ext cx="419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A33D2E"/>
                </a:solidFill>
                <a:latin typeface="Arial"/>
                <a:ea typeface="Arial"/>
                <a:cs typeface="Arial"/>
              </a:defRPr>
            </a:pPr>
            <a:r>
              <a:rPr sz="2325" b="1" i="0">
                <a:solidFill>
                  <a:srgbClr val="A33D2E"/>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F2097ABD-BCC1-4DDE-A8B7-C60F6EDAFF1B}"/>
              </a:ext>
            </a:extLst>
          </p:cNvPr>
          <p:cNvSpPr>
            <a:spLocks xmlns:a="http://schemas.openxmlformats.org/drawingml/2006/main" noGrp="1"/>
          </p:cNvSpPr>
          <p:nvPr/>
        </p:nvSpPr>
        <p:spPr>
          <a:xfrm xmlns:a="http://schemas.openxmlformats.org/drawingml/2006/main">
            <a:off x="1085850" y="4171950"/>
            <a:ext cx="2876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Event research agent</a:t>
            </a:r>
          </a:p>
        </p:txBody>
      </p:sp>
      <p:sp>
        <p:nvSpPr>
          <p:cNvPr id="24" name="">
            <a:extLst xmlns:a="http://schemas.openxmlformats.org/drawingml/2006/main">
              <a:ext uri="{FF2B5EF4-FFF2-40B4-BE49-F238E27FC236}">
                <a16:creationId xmlns:a16="http://schemas.microsoft.com/office/drawing/2014/main" id="{13514F8D-1A1C-4E1E-BDDF-C14FDB1A1AE0}"/>
              </a:ext>
            </a:extLst>
          </p:cNvPr>
          <p:cNvSpPr>
            <a:spLocks xmlns:a="http://schemas.openxmlformats.org/drawingml/2006/main" noGrp="1"/>
          </p:cNvSpPr>
          <p:nvPr/>
        </p:nvSpPr>
        <p:spPr>
          <a:xfrm xmlns:a="http://schemas.openxmlformats.org/drawingml/2006/main">
            <a:off x="1085850" y="4533900"/>
            <a:ext cx="287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Retrieves evidence and proposes asset mappings for review.</a:t>
            </a:r>
          </a:p>
        </p:txBody>
      </p:sp>
      <p:sp>
        <p:nvSpPr>
          <p:cNvPr id="25" name="">
            <a:extLst xmlns:a="http://schemas.openxmlformats.org/drawingml/2006/main">
              <a:ext uri="{FF2B5EF4-FFF2-40B4-BE49-F238E27FC236}">
                <a16:creationId xmlns:a16="http://schemas.microsoft.com/office/drawing/2014/main" id="{E8638504-6185-439F-A6D6-E0AF23F3A9BD}"/>
              </a:ext>
            </a:extLst>
          </p:cNvPr>
          <p:cNvSpPr>
            <a:spLocks xmlns:a="http://schemas.openxmlformats.org/drawingml/2006/main" noGrp="1"/>
          </p:cNvSpPr>
          <p:nvPr/>
        </p:nvSpPr>
        <p:spPr>
          <a:xfrm xmlns:a="http://schemas.openxmlformats.org/drawingml/2006/main">
            <a:off x="4267200" y="4010025"/>
            <a:ext cx="3352800" cy="0"/>
          </a:xfrm>
          <a:prstGeom xmlns:a="http://schemas.openxmlformats.org/drawingml/2006/main" prst="line">
            <a:avLst/>
          </a:prstGeom>
          <a:noFill xmlns:a="http://schemas.openxmlformats.org/drawingml/2006/main"/>
          <a:ln xmlns:a="http://schemas.openxmlformats.org/drawingml/2006/main" w="14288">
            <a:solidFill>
              <a:srgbClr val="1A1A1A"/>
            </a:solidFill>
            <a:prstDash val="solid"/>
          </a:ln>
        </p:spPr>
      </p:sp>
      <p:sp>
        <p:nvSpPr>
          <p:cNvPr id="26" name="">
            <a:extLst xmlns:a="http://schemas.openxmlformats.org/drawingml/2006/main">
              <a:ext uri="{FF2B5EF4-FFF2-40B4-BE49-F238E27FC236}">
                <a16:creationId xmlns:a16="http://schemas.microsoft.com/office/drawing/2014/main" id="{91D6D5A8-94E0-4683-96C7-F9B74B47FDAE}"/>
              </a:ext>
            </a:extLst>
          </p:cNvPr>
          <p:cNvSpPr>
            <a:spLocks xmlns:a="http://schemas.openxmlformats.org/drawingml/2006/main" noGrp="1"/>
          </p:cNvSpPr>
          <p:nvPr/>
        </p:nvSpPr>
        <p:spPr>
          <a:xfrm xmlns:a="http://schemas.openxmlformats.org/drawingml/2006/main">
            <a:off x="4267200" y="4171950"/>
            <a:ext cx="419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A33D2E"/>
                </a:solidFill>
                <a:latin typeface="Arial"/>
                <a:ea typeface="Arial"/>
                <a:cs typeface="Arial"/>
              </a:defRPr>
            </a:pPr>
            <a:r>
              <a:rPr sz="2325" b="1" i="0">
                <a:solidFill>
                  <a:srgbClr val="A33D2E"/>
                </a:solidFill>
                <a:latin typeface="Arial"/>
                <a:ea typeface="Arial"/>
                <a:cs typeface="Arial"/>
              </a:rPr>
              <a:t>2</a:t>
            </a:r>
          </a:p>
        </p:txBody>
      </p:sp>
      <p:sp>
        <p:nvSpPr>
          <p:cNvPr id="27" name="">
            <a:extLst xmlns:a="http://schemas.openxmlformats.org/drawingml/2006/main">
              <a:ext uri="{FF2B5EF4-FFF2-40B4-BE49-F238E27FC236}">
                <a16:creationId xmlns:a16="http://schemas.microsoft.com/office/drawing/2014/main" id="{2D57F607-9ECB-4CCF-B2F4-34AAFA3F763D}"/>
              </a:ext>
            </a:extLst>
          </p:cNvPr>
          <p:cNvSpPr>
            <a:spLocks xmlns:a="http://schemas.openxmlformats.org/drawingml/2006/main" noGrp="1"/>
          </p:cNvSpPr>
          <p:nvPr/>
        </p:nvSpPr>
        <p:spPr>
          <a:xfrm xmlns:a="http://schemas.openxmlformats.org/drawingml/2006/main">
            <a:off x="4743450" y="4171950"/>
            <a:ext cx="2876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Analysis coordinator</a:t>
            </a:r>
          </a:p>
        </p:txBody>
      </p:sp>
      <p:sp>
        <p:nvSpPr>
          <p:cNvPr id="28" name="">
            <a:extLst xmlns:a="http://schemas.openxmlformats.org/drawingml/2006/main">
              <a:ext uri="{FF2B5EF4-FFF2-40B4-BE49-F238E27FC236}">
                <a16:creationId xmlns:a16="http://schemas.microsoft.com/office/drawing/2014/main" id="{75D3EDF1-6B49-49BA-8C41-1D390D1E7BCB}"/>
              </a:ext>
            </a:extLst>
          </p:cNvPr>
          <p:cNvSpPr>
            <a:spLocks xmlns:a="http://schemas.openxmlformats.org/drawingml/2006/main" noGrp="1"/>
          </p:cNvSpPr>
          <p:nvPr/>
        </p:nvSpPr>
        <p:spPr>
          <a:xfrm xmlns:a="http://schemas.openxmlformats.org/drawingml/2006/main">
            <a:off x="4743450" y="4533900"/>
            <a:ext cx="287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Validates inputs and submits typed calculation requests.</a:t>
            </a:r>
          </a:p>
        </p:txBody>
      </p:sp>
      <p:sp>
        <p:nvSpPr>
          <p:cNvPr id="29" name="">
            <a:extLst xmlns:a="http://schemas.openxmlformats.org/drawingml/2006/main">
              <a:ext uri="{FF2B5EF4-FFF2-40B4-BE49-F238E27FC236}">
                <a16:creationId xmlns:a16="http://schemas.microsoft.com/office/drawing/2014/main" id="{1A83F9B2-D3AE-4172-AEE7-5B88E3FB3103}"/>
              </a:ext>
            </a:extLst>
          </p:cNvPr>
          <p:cNvSpPr>
            <a:spLocks xmlns:a="http://schemas.openxmlformats.org/drawingml/2006/main" noGrp="1"/>
          </p:cNvSpPr>
          <p:nvPr/>
        </p:nvSpPr>
        <p:spPr>
          <a:xfrm xmlns:a="http://schemas.openxmlformats.org/drawingml/2006/main">
            <a:off x="7924800" y="4010025"/>
            <a:ext cx="3352800" cy="0"/>
          </a:xfrm>
          <a:prstGeom xmlns:a="http://schemas.openxmlformats.org/drawingml/2006/main" prst="line">
            <a:avLst/>
          </a:prstGeom>
          <a:noFill xmlns:a="http://schemas.openxmlformats.org/drawingml/2006/main"/>
          <a:ln xmlns:a="http://schemas.openxmlformats.org/drawingml/2006/main" w="14288">
            <a:solidFill>
              <a:srgbClr val="1A1A1A"/>
            </a:solidFill>
            <a:prstDash val="solid"/>
          </a:ln>
        </p:spPr>
      </p:sp>
      <p:sp>
        <p:nvSpPr>
          <p:cNvPr id="30" name="">
            <a:extLst xmlns:a="http://schemas.openxmlformats.org/drawingml/2006/main">
              <a:ext uri="{FF2B5EF4-FFF2-40B4-BE49-F238E27FC236}">
                <a16:creationId xmlns:a16="http://schemas.microsoft.com/office/drawing/2014/main" id="{69A5DE13-AE2E-406A-9E19-CF4E0266DE84}"/>
              </a:ext>
            </a:extLst>
          </p:cNvPr>
          <p:cNvSpPr>
            <a:spLocks xmlns:a="http://schemas.openxmlformats.org/drawingml/2006/main" noGrp="1"/>
          </p:cNvSpPr>
          <p:nvPr/>
        </p:nvSpPr>
        <p:spPr>
          <a:xfrm xmlns:a="http://schemas.openxmlformats.org/drawingml/2006/main">
            <a:off x="7924800" y="4171950"/>
            <a:ext cx="419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A33D2E"/>
                </a:solidFill>
                <a:latin typeface="Arial"/>
                <a:ea typeface="Arial"/>
                <a:cs typeface="Arial"/>
              </a:defRPr>
            </a:pPr>
            <a:r>
              <a:rPr sz="2325" b="1" i="0">
                <a:solidFill>
                  <a:srgbClr val="A33D2E"/>
                </a:solidFill>
                <a:latin typeface="Arial"/>
                <a:ea typeface="Arial"/>
                <a:cs typeface="Arial"/>
              </a:rPr>
              <a:t>3</a:t>
            </a:r>
          </a:p>
        </p:txBody>
      </p:sp>
      <p:sp>
        <p:nvSpPr>
          <p:cNvPr id="31" name="">
            <a:extLst xmlns:a="http://schemas.openxmlformats.org/drawingml/2006/main">
              <a:ext uri="{FF2B5EF4-FFF2-40B4-BE49-F238E27FC236}">
                <a16:creationId xmlns:a16="http://schemas.microsoft.com/office/drawing/2014/main" id="{E9DD3494-A926-4F9E-BC32-FC531EAACDA3}"/>
              </a:ext>
            </a:extLst>
          </p:cNvPr>
          <p:cNvSpPr>
            <a:spLocks xmlns:a="http://schemas.openxmlformats.org/drawingml/2006/main" noGrp="1"/>
          </p:cNvSpPr>
          <p:nvPr/>
        </p:nvSpPr>
        <p:spPr>
          <a:xfrm xmlns:a="http://schemas.openxmlformats.org/drawingml/2006/main">
            <a:off x="8401050" y="4171950"/>
            <a:ext cx="2876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Explanation agent</a:t>
            </a:r>
          </a:p>
        </p:txBody>
      </p:sp>
      <p:sp>
        <p:nvSpPr>
          <p:cNvPr id="32" name="">
            <a:extLst xmlns:a="http://schemas.openxmlformats.org/drawingml/2006/main">
              <a:ext uri="{FF2B5EF4-FFF2-40B4-BE49-F238E27FC236}">
                <a16:creationId xmlns:a16="http://schemas.microsoft.com/office/drawing/2014/main" id="{32D4B1E5-A693-4078-9C2E-DAD6079F4C6F}"/>
              </a:ext>
            </a:extLst>
          </p:cNvPr>
          <p:cNvSpPr>
            <a:spLocks xmlns:a="http://schemas.openxmlformats.org/drawingml/2006/main" noGrp="1"/>
          </p:cNvSpPr>
          <p:nvPr/>
        </p:nvSpPr>
        <p:spPr>
          <a:xfrm xmlns:a="http://schemas.openxmlformats.org/drawingml/2006/main">
            <a:off x="8401050" y="4533900"/>
            <a:ext cx="287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Reads saved results and answers with source references.</a:t>
            </a:r>
          </a:p>
        </p:txBody>
      </p:sp>
      <p:sp>
        <p:nvSpPr>
          <p:cNvPr id="33" name="">
            <a:extLst xmlns:a="http://schemas.openxmlformats.org/drawingml/2006/main">
              <a:ext uri="{FF2B5EF4-FFF2-40B4-BE49-F238E27FC236}">
                <a16:creationId xmlns:a16="http://schemas.microsoft.com/office/drawing/2014/main" id="{06F87431-F120-412F-B6D5-0D036CAB7EC4}"/>
              </a:ext>
            </a:extLst>
          </p:cNvPr>
          <p:cNvSpPr>
            <a:spLocks xmlns:a="http://schemas.openxmlformats.org/drawingml/2006/main" noGrp="1"/>
          </p:cNvSpPr>
          <p:nvPr/>
        </p:nvSpPr>
        <p:spPr>
          <a:xfrm xmlns:a="http://schemas.openxmlformats.org/drawingml/2006/main">
            <a:off x="2095500" y="5305425"/>
            <a:ext cx="8001000" cy="438150"/>
          </a:xfrm>
          <a:prstGeom xmlns:a="http://schemas.openxmlformats.org/drawingml/2006/main" prst="rect">
            <a:avLst/>
          </a:prstGeom>
          <a:solidFill xmlns:a="http://schemas.openxmlformats.org/drawingml/2006/main">
            <a:srgbClr val="F3E6E1"/>
          </a:solidFill>
          <a:ln xmlns:a="http://schemas.openxmlformats.org/drawingml/2006/main" w="0">
            <a:solidFill>
              <a:srgbClr val="A33D2E"/>
            </a:solidFill>
            <a:prstDash val="solid"/>
          </a:ln>
        </p:spPr>
      </p:sp>
      <p:sp>
        <p:nvSpPr>
          <p:cNvPr id="34" name="">
            <a:extLst xmlns:a="http://schemas.openxmlformats.org/drawingml/2006/main">
              <a:ext uri="{FF2B5EF4-FFF2-40B4-BE49-F238E27FC236}">
                <a16:creationId xmlns:a16="http://schemas.microsoft.com/office/drawing/2014/main" id="{D514902F-AA92-4E06-8608-08C5CAB3B5A5}"/>
              </a:ext>
            </a:extLst>
          </p:cNvPr>
          <p:cNvSpPr>
            <a:spLocks xmlns:a="http://schemas.openxmlformats.org/drawingml/2006/main" noGrp="1"/>
          </p:cNvSpPr>
          <p:nvPr/>
        </p:nvSpPr>
        <p:spPr>
          <a:xfrm xmlns:a="http://schemas.openxmlformats.org/drawingml/2006/main">
            <a:off x="2286000" y="54197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i="0">
                <a:solidFill>
                  <a:srgbClr val="173A5E"/>
                </a:solidFill>
                <a:latin typeface="Arial"/>
                <a:ea typeface="Arial"/>
                <a:cs typeface="Arial"/>
              </a:defRPr>
            </a:pPr>
            <a:r>
              <a:rPr sz="1275" b="1" i="0">
                <a:solidFill>
                  <a:srgbClr val="173A5E"/>
                </a:solidFill>
                <a:latin typeface="Arial"/>
                <a:ea typeface="Arial"/>
                <a:cs typeface="Arial"/>
              </a:rPr>
              <a:t>The assistant cannot change wallet eligibility, fitted models or saved numerical results.</a:t>
            </a:r>
          </a:p>
        </p:txBody>
      </p:sp>
    </p:spTree>
    <p:extLst>
      <p:ext uri="{BB962C8B-B14F-4D97-AF65-F5344CB8AC3E}">
        <p14:creationId xmlns:p14="http://schemas.microsoft.com/office/powerpoint/2010/main" val="2056178767"/>
      </p:ext>
    </p:extLst>
  </p:cSld>
</p:sld>
</file>

<file path=ppt/slides/slide8.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F19809E-296C-4D91-931E-B891C47ED462}"/>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PRODUCT EXPERIENCE</a:t>
            </a:r>
          </a:p>
        </p:txBody>
      </p:sp>
      <p:sp>
        <p:nvSpPr>
          <p:cNvPr id="2" name="">
            <a:extLst xmlns:a="http://schemas.openxmlformats.org/drawingml/2006/main">
              <a:ext uri="{FF2B5EF4-FFF2-40B4-BE49-F238E27FC236}">
                <a16:creationId xmlns:a16="http://schemas.microsoft.com/office/drawing/2014/main" id="{A3160F8A-060D-4281-A3E2-06125C6CE19F}"/>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Evidence and scenarios in one research journey</a:t>
            </a:r>
          </a:p>
        </p:txBody>
      </p:sp>
      <p:sp>
        <p:nvSpPr>
          <p:cNvPr id="3" name="">
            <a:extLst xmlns:a="http://schemas.openxmlformats.org/drawingml/2006/main">
              <a:ext uri="{FF2B5EF4-FFF2-40B4-BE49-F238E27FC236}">
                <a16:creationId xmlns:a16="http://schemas.microsoft.com/office/drawing/2014/main" id="{D7C2275A-65C9-4CC1-B5EB-346C00A5D2EA}"/>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E16D8D8A-24C2-4B58-8D29-466053E5EC62}"/>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3CFFA20B-1CEF-4A80-BC48-AA41A502F195}"/>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2AAE6876-8F4F-41DF-A2C8-E586E9F8CA7A}"/>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08 / 10</a:t>
            </a:r>
          </a:p>
        </p:txBody>
      </p:sp>
      <p:sp>
        <p:nvSpPr>
          <p:cNvPr id="7" name="">
            <a:extLst xmlns:a="http://schemas.openxmlformats.org/drawingml/2006/main">
              <a:ext uri="{FF2B5EF4-FFF2-40B4-BE49-F238E27FC236}">
                <a16:creationId xmlns:a16="http://schemas.microsoft.com/office/drawing/2014/main" id="{9F3BDAB4-7B03-4372-BD8F-D273E30D45A0}"/>
              </a:ext>
            </a:extLst>
          </p:cNvPr>
          <p:cNvSpPr>
            <a:spLocks xmlns:a="http://schemas.openxmlformats.org/drawingml/2006/main" noGrp="1"/>
          </p:cNvSpPr>
          <p:nvPr/>
        </p:nvSpPr>
        <p:spPr>
          <a:xfrm xmlns:a="http://schemas.openxmlformats.org/drawingml/2006/main">
            <a:off x="609600" y="1762125"/>
            <a:ext cx="5276850" cy="34766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89e5ade5caf433a"/>
          <a:stretch xmlns:a="http://schemas.openxmlformats.org/drawingml/2006/main"/>
        </p:blipFill>
        <p:spPr>
          <a:xfrm xmlns:a="http://schemas.openxmlformats.org/drawingml/2006/main">
            <a:off x="723900" y="2079862"/>
            <a:ext cx="5048250" cy="2841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359A501-3929-47B0-BE5C-091419B6FD95}"/>
              </a:ext>
            </a:extLst>
          </p:cNvPr>
          <p:cNvSpPr>
            <a:spLocks xmlns:a="http://schemas.openxmlformats.org/drawingml/2006/main" noGrp="1"/>
          </p:cNvSpPr>
          <p:nvPr/>
        </p:nvSpPr>
        <p:spPr>
          <a:xfrm xmlns:a="http://schemas.openxmlformats.org/drawingml/2006/main">
            <a:off x="6305550" y="1762125"/>
            <a:ext cx="5276850" cy="3476625"/>
          </a:xfrm>
          <a:prstGeom xmlns:a="http://schemas.openxmlformats.org/drawingml/2006/main" prst="rect">
            <a:avLst/>
          </a:prstGeom>
          <a:solidFill xmlns:a="http://schemas.openxmlformats.org/drawingml/2006/main">
            <a:srgbClr val="FFFFFF"/>
          </a:solidFill>
          <a:ln xmlns:a="http://schemas.openxmlformats.org/drawingml/2006/main" w="14288">
            <a:solidFill>
              <a:srgbClr val="1A1A1A"/>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5799ca096ea403b"/>
          <a:stretch xmlns:a="http://schemas.openxmlformats.org/drawingml/2006/main"/>
        </p:blipFill>
        <p:spPr>
          <a:xfrm xmlns:a="http://schemas.openxmlformats.org/drawingml/2006/main">
            <a:off x="6419850" y="2079862"/>
            <a:ext cx="5048250" cy="28411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2FFB1B7-391C-48C9-9FD1-D37F2F5CF9E2}"/>
              </a:ext>
            </a:extLst>
          </p:cNvPr>
          <p:cNvSpPr>
            <a:spLocks xmlns:a="http://schemas.openxmlformats.org/drawingml/2006/main" noGrp="1"/>
          </p:cNvSpPr>
          <p:nvPr/>
        </p:nvSpPr>
        <p:spPr>
          <a:xfrm xmlns:a="http://schemas.openxmlformats.org/drawingml/2006/main">
            <a:off x="609600" y="54292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Overview</a:t>
            </a:r>
          </a:p>
        </p:txBody>
      </p:sp>
      <p:sp>
        <p:nvSpPr>
          <p:cNvPr id="12" name="">
            <a:extLst xmlns:a="http://schemas.openxmlformats.org/drawingml/2006/main">
              <a:ext uri="{FF2B5EF4-FFF2-40B4-BE49-F238E27FC236}">
                <a16:creationId xmlns:a16="http://schemas.microsoft.com/office/drawing/2014/main" id="{F3A0B78A-E0C5-49AB-B9E2-AF12DFEF1143}"/>
              </a:ext>
            </a:extLst>
          </p:cNvPr>
          <p:cNvSpPr>
            <a:spLocks xmlns:a="http://schemas.openxmlformats.org/drawingml/2006/main" noGrp="1"/>
          </p:cNvSpPr>
          <p:nvPr/>
        </p:nvSpPr>
        <p:spPr>
          <a:xfrm xmlns:a="http://schemas.openxmlformats.org/drawingml/2006/main">
            <a:off x="1543050" y="5429250"/>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Compare market and wallet-informed probabilities with supporting evidence.</a:t>
            </a:r>
          </a:p>
        </p:txBody>
      </p:sp>
      <p:sp>
        <p:nvSpPr>
          <p:cNvPr id="13" name="">
            <a:extLst xmlns:a="http://schemas.openxmlformats.org/drawingml/2006/main">
              <a:ext uri="{FF2B5EF4-FFF2-40B4-BE49-F238E27FC236}">
                <a16:creationId xmlns:a16="http://schemas.microsoft.com/office/drawing/2014/main" id="{53A019CF-1BE6-4882-B32F-9E0CA7507D08}"/>
              </a:ext>
            </a:extLst>
          </p:cNvPr>
          <p:cNvSpPr>
            <a:spLocks xmlns:a="http://schemas.openxmlformats.org/drawingml/2006/main" noGrp="1"/>
          </p:cNvSpPr>
          <p:nvPr/>
        </p:nvSpPr>
        <p:spPr>
          <a:xfrm xmlns:a="http://schemas.openxmlformats.org/drawingml/2006/main">
            <a:off x="6305550" y="54292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A1A1A"/>
                </a:solidFill>
                <a:latin typeface="Arial"/>
                <a:ea typeface="Arial"/>
                <a:cs typeface="Arial"/>
              </a:defRPr>
            </a:pPr>
            <a:r>
              <a:rPr sz="1425" b="1" i="0">
                <a:solidFill>
                  <a:srgbClr val="1A1A1A"/>
                </a:solidFill>
                <a:latin typeface="Arial"/>
                <a:ea typeface="Arial"/>
                <a:cs typeface="Arial"/>
              </a:rPr>
              <a:t>Scenarios</a:t>
            </a:r>
          </a:p>
        </p:txBody>
      </p:sp>
      <p:sp>
        <p:nvSpPr>
          <p:cNvPr id="14" name="">
            <a:extLst xmlns:a="http://schemas.openxmlformats.org/drawingml/2006/main">
              <a:ext uri="{FF2B5EF4-FFF2-40B4-BE49-F238E27FC236}">
                <a16:creationId xmlns:a16="http://schemas.microsoft.com/office/drawing/2014/main" id="{A3C559E4-39A9-470D-B8CA-AA186B567948}"/>
              </a:ext>
            </a:extLst>
          </p:cNvPr>
          <p:cNvSpPr>
            <a:spLocks xmlns:a="http://schemas.openxmlformats.org/drawingml/2006/main" noGrp="1"/>
          </p:cNvSpPr>
          <p:nvPr/>
        </p:nvSpPr>
        <p:spPr>
          <a:xfrm xmlns:a="http://schemas.openxmlformats.org/drawingml/2006/main">
            <a:off x="7239000" y="5429250"/>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555555"/>
                </a:solidFill>
                <a:latin typeface="Arial"/>
                <a:ea typeface="Arial"/>
                <a:cs typeface="Arial"/>
              </a:defRPr>
            </a:pPr>
            <a:r>
              <a:rPr sz="1125" b="0" i="0">
                <a:solidFill>
                  <a:srgbClr val="555555"/>
                </a:solidFill>
                <a:latin typeface="Arial"/>
                <a:ea typeface="Arial"/>
                <a:cs typeface="Arial"/>
              </a:rPr>
              <a:t>Connect a paper portfolio to VaR, expected shortfall and assumptions.</a:t>
            </a:r>
          </a:p>
        </p:txBody>
      </p:sp>
      <p:sp>
        <p:nvSpPr>
          <p:cNvPr id="15" name="">
            <a:extLst xmlns:a="http://schemas.openxmlformats.org/drawingml/2006/main">
              <a:ext uri="{FF2B5EF4-FFF2-40B4-BE49-F238E27FC236}">
                <a16:creationId xmlns:a16="http://schemas.microsoft.com/office/drawing/2014/main" id="{98F052AA-791D-4CBA-8B4B-59FE0C98536C}"/>
              </a:ext>
            </a:extLst>
          </p:cNvPr>
          <p:cNvSpPr>
            <a:spLocks xmlns:a="http://schemas.openxmlformats.org/drawingml/2006/main" noGrp="1"/>
          </p:cNvSpPr>
          <p:nvPr/>
        </p:nvSpPr>
        <p:spPr>
          <a:xfrm xmlns:a="http://schemas.openxmlformats.org/drawingml/2006/main">
            <a:off x="609600" y="605790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A33D2E"/>
                </a:solidFill>
                <a:latin typeface="Arial"/>
                <a:ea typeface="Arial"/>
                <a:cs typeface="Arial"/>
              </a:defRPr>
            </a:pPr>
            <a:r>
              <a:rPr sz="750" b="1" i="0">
                <a:solidFill>
                  <a:srgbClr val="A33D2E"/>
                </a:solidFill>
                <a:latin typeface="Arial"/>
                <a:ea typeface="Arial"/>
                <a:cs typeface="Arial"/>
              </a:rPr>
              <a:t>ILLUSTRATIVE CONCEPT SCREENS. VALUES SHOWN ARE NOT RESEARCH RESULTS.</a:t>
            </a:r>
          </a:p>
        </p:txBody>
      </p:sp>
    </p:spTree>
    <p:extLst>
      <p:ext uri="{BB962C8B-B14F-4D97-AF65-F5344CB8AC3E}">
        <p14:creationId xmlns:p14="http://schemas.microsoft.com/office/powerpoint/2010/main" val="208615969"/>
      </p:ext>
    </p:extLst>
  </p:cSld>
</p:sld>
</file>

<file path=ppt/slides/slide9.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887FCE6-273F-4EFA-B83B-577D3FAEFC07}"/>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TESTING AND EVALUATION</a:t>
            </a:r>
          </a:p>
        </p:txBody>
      </p:sp>
      <p:sp>
        <p:nvSpPr>
          <p:cNvPr id="2" name="">
            <a:extLst xmlns:a="http://schemas.openxmlformats.org/drawingml/2006/main">
              <a:ext uri="{FF2B5EF4-FFF2-40B4-BE49-F238E27FC236}">
                <a16:creationId xmlns:a16="http://schemas.microsoft.com/office/drawing/2014/main" id="{8AC4EC17-30AE-4137-AB0A-F9D5B1CC4C9E}"/>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A valid null result still counts</a:t>
            </a:r>
          </a:p>
        </p:txBody>
      </p:sp>
      <p:sp>
        <p:nvSpPr>
          <p:cNvPr id="3" name="">
            <a:extLst xmlns:a="http://schemas.openxmlformats.org/drawingml/2006/main">
              <a:ext uri="{FF2B5EF4-FFF2-40B4-BE49-F238E27FC236}">
                <a16:creationId xmlns:a16="http://schemas.microsoft.com/office/drawing/2014/main" id="{2ED17236-6567-4204-B720-06390886824F}"/>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840C7254-7E5E-44D6-A42A-1B7EBCD886A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62314765-BD87-4B67-ADBF-585CEC968804}"/>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E38DA3CE-038B-4C9C-B6B2-F96C80B29725}"/>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09 / 10</a:t>
            </a:r>
          </a:p>
        </p:txBody>
      </p:sp>
      <p:graphicFrame>
        <p:nvGraphicFramePr>
          <p:cNvPr id="27" name=""/>
          <p:cNvGraphicFramePr/>
          <p:nvPr/>
        </p:nvGraphicFramePr>
        <p:xfrm>
          <a:off xmlns:a="http://schemas.openxmlformats.org/drawingml/2006/main" x="609600" y="1781175"/>
          <a:ext xmlns:a="http://schemas.openxmlformats.org/drawingml/2006/main" cx="7429500" cy="3657600"/>
        </p:xfrm>
        <a:graphic xmlns:a="http://schemas.openxmlformats.org/drawingml/2006/main">
          <a:graphicData uri="http://schemas.openxmlformats.org/drawingml/2006/table">
            <a:tbl>
              <a:tblPr/>
              <a:tblGrid>
                <a:gridCol w="1924050"/>
                <a:gridCol w="3314700"/>
                <a:gridCol w="2190750"/>
              </a:tblGrid>
              <a:tr h="457200">
                <a:tc>
                  <a:txBody>
                    <a:bodyPr lIns="95250" tIns="76200" rIns="95250" bIns="76200">
                      <a:normAutofit/>
                    </a:bodyPr>
                    <a:lstStyle/>
                    <a:p>
                      <a:r>
                        <a:rPr sz="1125" b="1">
                          <a:solidFill>
                            <a:srgbClr val="FFFFFF"/>
                          </a:solidFill>
                          <a:latin typeface="Arial"/>
                          <a:ea typeface="Arial"/>
                          <a:cs typeface="Arial"/>
                        </a:rPr>
                        <a:t>Objective</a:t>
                      </a:r>
                    </a:p>
                  </a:txBody>
                  <a:tcPr marL="91440" marR="91440" marT="45720" marB="45720" anchor="ctr">
                    <a:solidFill>
                      <a:srgbClr val="1A1A1A"/>
                    </a:solidFill>
                  </a:tcPr>
                </a:tc>
                <a:tc>
                  <a:txBody>
                    <a:bodyPr lIns="95250" tIns="76200" rIns="95250" bIns="76200">
                      <a:normAutofit/>
                    </a:bodyPr>
                    <a:lstStyle/>
                    <a:p>
                      <a:r>
                        <a:rPr sz="1125" b="1">
                          <a:solidFill>
                            <a:srgbClr val="FFFFFF"/>
                          </a:solidFill>
                          <a:latin typeface="Arial"/>
                          <a:ea typeface="Arial"/>
                          <a:cs typeface="Arial"/>
                        </a:rPr>
                        <a:t>Comparison</a:t>
                      </a:r>
                    </a:p>
                  </a:txBody>
                  <a:tcPr marL="91440" marR="91440" marT="45720" marB="45720" anchor="ctr">
                    <a:solidFill>
                      <a:srgbClr val="1A1A1A"/>
                    </a:solidFill>
                  </a:tcPr>
                </a:tc>
                <a:tc>
                  <a:txBody>
                    <a:bodyPr lIns="95250" tIns="76200" rIns="95250" bIns="76200">
                      <a:normAutofit/>
                    </a:bodyPr>
                    <a:lstStyle/>
                    <a:p>
                      <a:r>
                        <a:rPr sz="1125" b="1">
                          <a:solidFill>
                            <a:srgbClr val="FFFFFF"/>
                          </a:solidFill>
                          <a:latin typeface="Arial"/>
                          <a:ea typeface="Arial"/>
                          <a:cs typeface="Arial"/>
                        </a:rPr>
                        <a:t>Metric</a:t>
                      </a:r>
                    </a:p>
                  </a:txBody>
                  <a:tcPr marL="91440" marR="91440" marT="45720" marB="45720" anchor="ctr">
                    <a:solidFill>
                      <a:srgbClr val="1A1A1A"/>
                    </a:solidFill>
                  </a:tcPr>
                </a:tc>
              </a:tr>
              <a:tr h="800100">
                <a:tc>
                  <a:txBody>
                    <a:bodyPr lIns="95250" tIns="76200" rIns="95250" bIns="76200">
                      <a:normAutofit/>
                    </a:bodyPr>
                    <a:lstStyle/>
                    <a:p>
                      <a:r>
                        <a:rPr sz="1200" b="1">
                          <a:solidFill>
                            <a:srgbClr val="1A1A1A"/>
                          </a:solidFill>
                          <a:latin typeface="Arial"/>
                          <a:ea typeface="Arial"/>
                          <a:cs typeface="Arial"/>
                        </a:rPr>
                        <a:t>Wallet identification</a:t>
                      </a:r>
                    </a:p>
                  </a:txBody>
                  <a:tcPr marL="91440" marR="91440" marT="45720" marB="45720" anchor="ctr">
                    <a:solidFill>
                      <a:srgbClr val="FFFFFF"/>
                    </a:solidFill>
                  </a:tcPr>
                </a:tc>
                <a:tc>
                  <a:txBody>
                    <a:bodyPr lIns="95250" tIns="76200" rIns="95250" bIns="76200">
                      <a:normAutofit/>
                    </a:bodyPr>
                    <a:lstStyle/>
                    <a:p>
                      <a:r>
                        <a:rPr sz="1200" b="0">
                          <a:solidFill>
                            <a:srgbClr val="1A1A1A"/>
                          </a:solidFill>
                          <a:latin typeface="Arial"/>
                          <a:ea typeface="Arial"/>
                          <a:cs typeface="Arial"/>
                        </a:rPr>
                        <a:t>Score vs label-shuffled baseline</a:t>
                      </a:r>
                    </a:p>
                  </a:txBody>
                  <a:tcPr marL="91440" marR="91440" marT="45720" marB="45720" anchor="ctr">
                    <a:solidFill>
                      <a:srgbClr val="FFFFFF"/>
                    </a:solidFill>
                  </a:tcPr>
                </a:tc>
                <a:tc>
                  <a:txBody>
                    <a:bodyPr lIns="95250" tIns="76200" rIns="95250" bIns="76200">
                      <a:normAutofit/>
                    </a:bodyPr>
                    <a:lstStyle/>
                    <a:p>
                      <a:r>
                        <a:rPr sz="1200" b="0">
                          <a:solidFill>
                            <a:srgbClr val="1A1A1A"/>
                          </a:solidFill>
                          <a:latin typeface="Arial"/>
                          <a:ea typeface="Arial"/>
                          <a:cs typeface="Arial"/>
                        </a:rPr>
                        <a:t>Brier score and accuracy</a:t>
                      </a:r>
                    </a:p>
                  </a:txBody>
                  <a:tcPr marL="91440" marR="91440" marT="45720" marB="45720" anchor="ctr">
                    <a:solidFill>
                      <a:srgbClr val="FFFFFF"/>
                    </a:solidFill>
                  </a:tcPr>
                </a:tc>
              </a:tr>
              <a:tr h="800100">
                <a:tc>
                  <a:txBody>
                    <a:bodyPr lIns="95250" tIns="76200" rIns="95250" bIns="76200">
                      <a:normAutofit/>
                    </a:bodyPr>
                    <a:lstStyle/>
                    <a:p>
                      <a:r>
                        <a:rPr sz="1200" b="1">
                          <a:solidFill>
                            <a:srgbClr val="1A1A1A"/>
                          </a:solidFill>
                          <a:latin typeface="Arial"/>
                          <a:ea typeface="Arial"/>
                          <a:cs typeface="Arial"/>
                        </a:rPr>
                        <a:t>Adjusted probability</a:t>
                      </a:r>
                    </a:p>
                  </a:txBody>
                  <a:tcPr marL="91440" marR="91440" marT="45720" marB="45720" anchor="ctr">
                    <a:solidFill>
                      <a:srgbClr val="F8F5EF"/>
                    </a:solidFill>
                  </a:tcPr>
                </a:tc>
                <a:tc>
                  <a:txBody>
                    <a:bodyPr lIns="95250" tIns="76200" rIns="95250" bIns="76200">
                      <a:normAutofit/>
                    </a:bodyPr>
                    <a:lstStyle/>
                    <a:p>
                      <a:r>
                        <a:rPr sz="1200" b="0">
                          <a:solidFill>
                            <a:srgbClr val="1A1A1A"/>
                          </a:solidFill>
                          <a:latin typeface="Arial"/>
                          <a:ea typeface="Arial"/>
                          <a:cs typeface="Arial"/>
                        </a:rPr>
                        <a:t>Raw price, liquidity, flow, wallet signal</a:t>
                      </a:r>
                    </a:p>
                  </a:txBody>
                  <a:tcPr marL="91440" marR="91440" marT="45720" marB="45720" anchor="ctr">
                    <a:solidFill>
                      <a:srgbClr val="F8F5EF"/>
                    </a:solidFill>
                  </a:tcPr>
                </a:tc>
                <a:tc>
                  <a:txBody>
                    <a:bodyPr lIns="95250" tIns="76200" rIns="95250" bIns="76200">
                      <a:normAutofit/>
                    </a:bodyPr>
                    <a:lstStyle/>
                    <a:p>
                      <a:r>
                        <a:rPr sz="1200" b="0">
                          <a:solidFill>
                            <a:srgbClr val="1A1A1A"/>
                          </a:solidFill>
                          <a:latin typeface="Arial"/>
                          <a:ea typeface="Arial"/>
                          <a:cs typeface="Arial"/>
                        </a:rPr>
                        <a:t>Brier score and log loss</a:t>
                      </a:r>
                    </a:p>
                  </a:txBody>
                  <a:tcPr marL="91440" marR="91440" marT="45720" marB="45720" anchor="ctr">
                    <a:solidFill>
                      <a:srgbClr val="F8F5EF"/>
                    </a:solidFill>
                  </a:tcPr>
                </a:tc>
              </a:tr>
              <a:tr h="800100">
                <a:tc>
                  <a:txBody>
                    <a:bodyPr lIns="95250" tIns="76200" rIns="95250" bIns="76200">
                      <a:normAutofit/>
                    </a:bodyPr>
                    <a:lstStyle/>
                    <a:p>
                      <a:r>
                        <a:rPr sz="1200" b="1">
                          <a:solidFill>
                            <a:srgbClr val="1A1A1A"/>
                          </a:solidFill>
                          <a:latin typeface="Arial"/>
                          <a:ea typeface="Arial"/>
                          <a:cs typeface="Arial"/>
                        </a:rPr>
                        <a:t>Volatility forecast</a:t>
                      </a:r>
                    </a:p>
                  </a:txBody>
                  <a:tcPr marL="91440" marR="91440" marT="45720" marB="45720" anchor="ctr">
                    <a:solidFill>
                      <a:srgbClr val="FFFFFF"/>
                    </a:solidFill>
                  </a:tcPr>
                </a:tc>
                <a:tc>
                  <a:txBody>
                    <a:bodyPr lIns="95250" tIns="76200" rIns="95250" bIns="76200">
                      <a:normAutofit/>
                    </a:bodyPr>
                    <a:lstStyle/>
                    <a:p>
                      <a:r>
                        <a:rPr sz="1200" b="0">
                          <a:solidFill>
                            <a:srgbClr val="1A1A1A"/>
                          </a:solidFill>
                          <a:latin typeface="Arial"/>
                          <a:ea typeface="Arial"/>
                          <a:cs typeface="Arial"/>
                        </a:rPr>
                        <a:t>Baseline vs augmented model</a:t>
                      </a:r>
                    </a:p>
                  </a:txBody>
                  <a:tcPr marL="91440" marR="91440" marT="45720" marB="45720" anchor="ctr">
                    <a:solidFill>
                      <a:srgbClr val="FFFFFF"/>
                    </a:solidFill>
                  </a:tcPr>
                </a:tc>
                <a:tc>
                  <a:txBody>
                    <a:bodyPr lIns="95250" tIns="76200" rIns="95250" bIns="76200">
                      <a:normAutofit/>
                    </a:bodyPr>
                    <a:lstStyle/>
                    <a:p>
                      <a:r>
                        <a:rPr sz="1200" b="0">
                          <a:solidFill>
                            <a:srgbClr val="1A1A1A"/>
                          </a:solidFill>
                          <a:latin typeface="Arial"/>
                          <a:ea typeface="Arial"/>
                          <a:cs typeface="Arial"/>
                        </a:rPr>
                        <a:t>MSE and QLIKE</a:t>
                      </a:r>
                    </a:p>
                  </a:txBody>
                  <a:tcPr marL="91440" marR="91440" marT="45720" marB="45720" anchor="ctr">
                    <a:solidFill>
                      <a:srgbClr val="FFFFFF"/>
                    </a:solidFill>
                  </a:tcPr>
                </a:tc>
              </a:tr>
              <a:tr h="800100">
                <a:tc>
                  <a:txBody>
                    <a:bodyPr lIns="95250" tIns="76200" rIns="95250" bIns="76200">
                      <a:normAutofit/>
                    </a:bodyPr>
                    <a:lstStyle/>
                    <a:p>
                      <a:r>
                        <a:rPr sz="1200" b="1">
                          <a:solidFill>
                            <a:srgbClr val="1A1A1A"/>
                          </a:solidFill>
                          <a:latin typeface="Arial"/>
                          <a:ea typeface="Arial"/>
                          <a:cs typeface="Arial"/>
                        </a:rPr>
                        <a:t>Dashboard and assistant</a:t>
                      </a:r>
                    </a:p>
                  </a:txBody>
                  <a:tcPr marL="91440" marR="91440" marT="45720" marB="45720" anchor="ctr">
                    <a:solidFill>
                      <a:srgbClr val="F8F5EF"/>
                    </a:solidFill>
                  </a:tcPr>
                </a:tc>
                <a:tc>
                  <a:txBody>
                    <a:bodyPr lIns="95250" tIns="76200" rIns="95250" bIns="76200">
                      <a:normAutofit/>
                    </a:bodyPr>
                    <a:lstStyle/>
                    <a:p>
                      <a:r>
                        <a:rPr sz="1200" b="0">
                          <a:solidFill>
                            <a:srgbClr val="1A1A1A"/>
                          </a:solidFill>
                          <a:latin typeface="Arial"/>
                          <a:ea typeface="Arial"/>
                          <a:cs typeface="Arial"/>
                        </a:rPr>
                        <a:t>User tasks and stored results</a:t>
                      </a:r>
                    </a:p>
                  </a:txBody>
                  <a:tcPr marL="91440" marR="91440" marT="45720" marB="45720" anchor="ctr">
                    <a:solidFill>
                      <a:srgbClr val="F8F5EF"/>
                    </a:solidFill>
                  </a:tcPr>
                </a:tc>
                <a:tc>
                  <a:txBody>
                    <a:bodyPr lIns="95250" tIns="76200" rIns="95250" bIns="76200">
                      <a:normAutofit/>
                    </a:bodyPr>
                    <a:lstStyle/>
                    <a:p>
                      <a:r>
                        <a:rPr sz="1200" b="0">
                          <a:solidFill>
                            <a:srgbClr val="1A1A1A"/>
                          </a:solidFill>
                          <a:latin typeface="Arial"/>
                          <a:ea typeface="Arial"/>
                          <a:cs typeface="Arial"/>
                        </a:rPr>
                        <a:t>Completion, agreement, abstention</a:t>
                      </a:r>
                    </a:p>
                  </a:txBody>
                  <a:tcPr marL="91440" marR="91440" marT="45720" marB="45720" anchor="ctr">
                    <a:solidFill>
                      <a:srgbClr val="F8F5EF"/>
                    </a:solidFill>
                  </a:tcPr>
                </a:tc>
              </a:tr>
            </a:tbl>
          </a:graphicData>
        </a:graphic>
      </p:graphicFrame>
      <p:sp>
        <p:nvSpPr>
          <p:cNvPr id="8" name="">
            <a:extLst xmlns:a="http://schemas.openxmlformats.org/drawingml/2006/main">
              <a:ext uri="{FF2B5EF4-FFF2-40B4-BE49-F238E27FC236}">
                <a16:creationId xmlns:a16="http://schemas.microsoft.com/office/drawing/2014/main" id="{C1410F9F-A5AE-4644-AB3C-C1F080462C9B}"/>
              </a:ext>
            </a:extLst>
          </p:cNvPr>
          <p:cNvSpPr>
            <a:spLocks xmlns:a="http://schemas.openxmlformats.org/drawingml/2006/main" noGrp="1"/>
          </p:cNvSpPr>
          <p:nvPr/>
        </p:nvSpPr>
        <p:spPr>
          <a:xfrm xmlns:a="http://schemas.openxmlformats.org/drawingml/2006/main">
            <a:off x="8382000" y="1781175"/>
            <a:ext cx="320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EC8BE"/>
            </a:solidFill>
            <a:prstDash val="solid"/>
          </a:ln>
        </p:spPr>
      </p:sp>
      <p:sp>
        <p:nvSpPr>
          <p:cNvPr id="9" name="">
            <a:extLst xmlns:a="http://schemas.openxmlformats.org/drawingml/2006/main">
              <a:ext uri="{FF2B5EF4-FFF2-40B4-BE49-F238E27FC236}">
                <a16:creationId xmlns:a16="http://schemas.microsoft.com/office/drawing/2014/main" id="{1C1C1294-FDB9-4957-8A7B-D0B4C1FF1D03}"/>
              </a:ext>
            </a:extLst>
          </p:cNvPr>
          <p:cNvSpPr>
            <a:spLocks xmlns:a="http://schemas.openxmlformats.org/drawingml/2006/main" noGrp="1"/>
          </p:cNvSpPr>
          <p:nvPr/>
        </p:nvSpPr>
        <p:spPr>
          <a:xfrm xmlns:a="http://schemas.openxmlformats.org/drawingml/2006/main">
            <a:off x="8534400" y="1952625"/>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A33D2E"/>
                </a:solidFill>
                <a:latin typeface="Arial"/>
                <a:ea typeface="Arial"/>
                <a:cs typeface="Arial"/>
              </a:defRPr>
            </a:pPr>
            <a:r>
              <a:rPr sz="1875" b="1" i="0">
                <a:solidFill>
                  <a:srgbClr val="A33D2E"/>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2074E74C-C164-4CF1-8503-B3B5CFF2F11F}"/>
              </a:ext>
            </a:extLst>
          </p:cNvPr>
          <p:cNvSpPr>
            <a:spLocks xmlns:a="http://schemas.openxmlformats.org/drawingml/2006/main" noGrp="1"/>
          </p:cNvSpPr>
          <p:nvPr/>
        </p:nvSpPr>
        <p:spPr>
          <a:xfrm xmlns:a="http://schemas.openxmlformats.org/drawingml/2006/main">
            <a:off x="9048750" y="19240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A1A1A"/>
                </a:solidFill>
                <a:latin typeface="Arial"/>
                <a:ea typeface="Arial"/>
                <a:cs typeface="Arial"/>
              </a:defRPr>
            </a:pPr>
            <a:r>
              <a:rPr sz="1125" b="1" i="0">
                <a:solidFill>
                  <a:srgbClr val="1A1A1A"/>
                </a:solidFill>
                <a:latin typeface="Arial"/>
                <a:ea typeface="Arial"/>
                <a:cs typeface="Arial"/>
              </a:rPr>
              <a:t>Chronological train, validation and test split</a:t>
            </a:r>
          </a:p>
        </p:txBody>
      </p:sp>
      <p:sp>
        <p:nvSpPr>
          <p:cNvPr id="11" name="">
            <a:extLst xmlns:a="http://schemas.openxmlformats.org/drawingml/2006/main">
              <a:ext uri="{FF2B5EF4-FFF2-40B4-BE49-F238E27FC236}">
                <a16:creationId xmlns:a16="http://schemas.microsoft.com/office/drawing/2014/main" id="{AFE13D3B-BF15-42ED-B903-9368F5126F97}"/>
              </a:ext>
            </a:extLst>
          </p:cNvPr>
          <p:cNvSpPr>
            <a:spLocks xmlns:a="http://schemas.openxmlformats.org/drawingml/2006/main" noGrp="1"/>
          </p:cNvSpPr>
          <p:nvPr/>
        </p:nvSpPr>
        <p:spPr>
          <a:xfrm xmlns:a="http://schemas.openxmlformats.org/drawingml/2006/main">
            <a:off x="8382000" y="2686050"/>
            <a:ext cx="320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EC8BE"/>
            </a:solidFill>
            <a:prstDash val="solid"/>
          </a:ln>
        </p:spPr>
      </p:sp>
      <p:sp>
        <p:nvSpPr>
          <p:cNvPr id="12" name="">
            <a:extLst xmlns:a="http://schemas.openxmlformats.org/drawingml/2006/main">
              <a:ext uri="{FF2B5EF4-FFF2-40B4-BE49-F238E27FC236}">
                <a16:creationId xmlns:a16="http://schemas.microsoft.com/office/drawing/2014/main" id="{5FE53679-8B4F-49FD-8A0D-2B8489E44FE0}"/>
              </a:ext>
            </a:extLst>
          </p:cNvPr>
          <p:cNvSpPr>
            <a:spLocks xmlns:a="http://schemas.openxmlformats.org/drawingml/2006/main" noGrp="1"/>
          </p:cNvSpPr>
          <p:nvPr/>
        </p:nvSpPr>
        <p:spPr>
          <a:xfrm xmlns:a="http://schemas.openxmlformats.org/drawingml/2006/main">
            <a:off x="8534400" y="2857500"/>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A33D2E"/>
                </a:solidFill>
                <a:latin typeface="Arial"/>
                <a:ea typeface="Arial"/>
                <a:cs typeface="Arial"/>
              </a:defRPr>
            </a:pPr>
            <a:r>
              <a:rPr sz="1875" b="1" i="0">
                <a:solidFill>
                  <a:srgbClr val="A33D2E"/>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210FC86-FDED-4500-B717-E1B1013A005B}"/>
              </a:ext>
            </a:extLst>
          </p:cNvPr>
          <p:cNvSpPr>
            <a:spLocks xmlns:a="http://schemas.openxmlformats.org/drawingml/2006/main" noGrp="1"/>
          </p:cNvSpPr>
          <p:nvPr/>
        </p:nvSpPr>
        <p:spPr>
          <a:xfrm xmlns:a="http://schemas.openxmlformats.org/drawingml/2006/main">
            <a:off x="9048750" y="2828925"/>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A1A1A"/>
                </a:solidFill>
                <a:latin typeface="Arial"/>
                <a:ea typeface="Arial"/>
                <a:cs typeface="Arial"/>
              </a:defRPr>
            </a:pPr>
            <a:r>
              <a:rPr sz="1125" b="1" i="0">
                <a:solidFill>
                  <a:srgbClr val="1A1A1A"/>
                </a:solidFill>
                <a:latin typeface="Arial"/>
                <a:ea typeface="Arial"/>
                <a:cs typeface="Arial"/>
              </a:rPr>
              <a:t>Contracts grouped by event and overlapping targets purged</a:t>
            </a:r>
          </a:p>
        </p:txBody>
      </p:sp>
      <p:sp>
        <p:nvSpPr>
          <p:cNvPr id="14" name="">
            <a:extLst xmlns:a="http://schemas.openxmlformats.org/drawingml/2006/main">
              <a:ext uri="{FF2B5EF4-FFF2-40B4-BE49-F238E27FC236}">
                <a16:creationId xmlns:a16="http://schemas.microsoft.com/office/drawing/2014/main" id="{1F795771-7821-44DE-B42D-B05C611C1049}"/>
              </a:ext>
            </a:extLst>
          </p:cNvPr>
          <p:cNvSpPr>
            <a:spLocks xmlns:a="http://schemas.openxmlformats.org/drawingml/2006/main" noGrp="1"/>
          </p:cNvSpPr>
          <p:nvPr/>
        </p:nvSpPr>
        <p:spPr>
          <a:xfrm xmlns:a="http://schemas.openxmlformats.org/drawingml/2006/main">
            <a:off x="8382000" y="3590925"/>
            <a:ext cx="320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EC8BE"/>
            </a:solidFill>
            <a:prstDash val="solid"/>
          </a:ln>
        </p:spPr>
      </p:sp>
      <p:sp>
        <p:nvSpPr>
          <p:cNvPr id="15" name="">
            <a:extLst xmlns:a="http://schemas.openxmlformats.org/drawingml/2006/main">
              <a:ext uri="{FF2B5EF4-FFF2-40B4-BE49-F238E27FC236}">
                <a16:creationId xmlns:a16="http://schemas.microsoft.com/office/drawing/2014/main" id="{D94D401D-E14C-4811-B1CF-D509B809D8DB}"/>
              </a:ext>
            </a:extLst>
          </p:cNvPr>
          <p:cNvSpPr>
            <a:spLocks xmlns:a="http://schemas.openxmlformats.org/drawingml/2006/main" noGrp="1"/>
          </p:cNvSpPr>
          <p:nvPr/>
        </p:nvSpPr>
        <p:spPr>
          <a:xfrm xmlns:a="http://schemas.openxmlformats.org/drawingml/2006/main">
            <a:off x="8534400" y="3762375"/>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A33D2E"/>
                </a:solidFill>
                <a:latin typeface="Arial"/>
                <a:ea typeface="Arial"/>
                <a:cs typeface="Arial"/>
              </a:defRPr>
            </a:pPr>
            <a:r>
              <a:rPr sz="1875" b="1" i="0">
                <a:solidFill>
                  <a:srgbClr val="A33D2E"/>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E856EFDB-3617-4654-8E9A-3F507BF7288D}"/>
              </a:ext>
            </a:extLst>
          </p:cNvPr>
          <p:cNvSpPr>
            <a:spLocks xmlns:a="http://schemas.openxmlformats.org/drawingml/2006/main" noGrp="1"/>
          </p:cNvSpPr>
          <p:nvPr/>
        </p:nvSpPr>
        <p:spPr>
          <a:xfrm xmlns:a="http://schemas.openxmlformats.org/drawingml/2006/main">
            <a:off x="9048750" y="373380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A1A1A"/>
                </a:solidFill>
                <a:latin typeface="Arial"/>
                <a:ea typeface="Arial"/>
                <a:cs typeface="Arial"/>
              </a:defRPr>
            </a:pPr>
            <a:r>
              <a:rPr sz="1125" b="1" i="0">
                <a:solidFill>
                  <a:srgbClr val="1A1A1A"/>
                </a:solidFill>
                <a:latin typeface="Arial"/>
                <a:ea typeface="Arial"/>
                <a:cs typeface="Arial"/>
              </a:rPr>
              <a:t>Final test interval unopened until choices are fixed</a:t>
            </a:r>
          </a:p>
        </p:txBody>
      </p:sp>
      <p:sp>
        <p:nvSpPr>
          <p:cNvPr id="17" name="">
            <a:extLst xmlns:a="http://schemas.openxmlformats.org/drawingml/2006/main">
              <a:ext uri="{FF2B5EF4-FFF2-40B4-BE49-F238E27FC236}">
                <a16:creationId xmlns:a16="http://schemas.microsoft.com/office/drawing/2014/main" id="{1C6414A3-BB42-41E2-A28B-8213A02F901E}"/>
              </a:ext>
            </a:extLst>
          </p:cNvPr>
          <p:cNvSpPr>
            <a:spLocks xmlns:a="http://schemas.openxmlformats.org/drawingml/2006/main" noGrp="1"/>
          </p:cNvSpPr>
          <p:nvPr/>
        </p:nvSpPr>
        <p:spPr>
          <a:xfrm xmlns:a="http://schemas.openxmlformats.org/drawingml/2006/main">
            <a:off x="8382000" y="4495800"/>
            <a:ext cx="3200400" cy="742950"/>
          </a:xfrm>
          <a:prstGeom xmlns:a="http://schemas.openxmlformats.org/drawingml/2006/main" prst="rect">
            <a:avLst/>
          </a:prstGeom>
          <a:solidFill xmlns:a="http://schemas.openxmlformats.org/drawingml/2006/main">
            <a:srgbClr val="F3E6E1"/>
          </a:solidFill>
          <a:ln xmlns:a="http://schemas.openxmlformats.org/drawingml/2006/main" w="9525">
            <a:solidFill>
              <a:srgbClr val="A33D2E"/>
            </a:solidFill>
            <a:prstDash val="solid"/>
          </a:ln>
        </p:spPr>
      </p:sp>
      <p:sp>
        <p:nvSpPr>
          <p:cNvPr id="18" name="">
            <a:extLst xmlns:a="http://schemas.openxmlformats.org/drawingml/2006/main">
              <a:ext uri="{FF2B5EF4-FFF2-40B4-BE49-F238E27FC236}">
                <a16:creationId xmlns:a16="http://schemas.microsoft.com/office/drawing/2014/main" id="{B20A3BD2-F773-494E-A54F-E2FEA3E28D83}"/>
              </a:ext>
            </a:extLst>
          </p:cNvPr>
          <p:cNvSpPr>
            <a:spLocks xmlns:a="http://schemas.openxmlformats.org/drawingml/2006/main" noGrp="1"/>
          </p:cNvSpPr>
          <p:nvPr/>
        </p:nvSpPr>
        <p:spPr>
          <a:xfrm xmlns:a="http://schemas.openxmlformats.org/drawingml/2006/main">
            <a:off x="8534400" y="4667250"/>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i="0">
                <a:solidFill>
                  <a:srgbClr val="A33D2E"/>
                </a:solidFill>
                <a:latin typeface="Arial"/>
                <a:ea typeface="Arial"/>
                <a:cs typeface="Arial"/>
              </a:defRPr>
            </a:pPr>
            <a:r>
              <a:rPr sz="1875" b="1" i="0">
                <a:solidFill>
                  <a:srgbClr val="A33D2E"/>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4C9A44D7-F566-4C7F-A78A-436A639BE9FE}"/>
              </a:ext>
            </a:extLst>
          </p:cNvPr>
          <p:cNvSpPr>
            <a:spLocks xmlns:a="http://schemas.openxmlformats.org/drawingml/2006/main" noGrp="1"/>
          </p:cNvSpPr>
          <p:nvPr/>
        </p:nvSpPr>
        <p:spPr>
          <a:xfrm xmlns:a="http://schemas.openxmlformats.org/drawingml/2006/main">
            <a:off x="9048750" y="4638675"/>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1A1A1A"/>
                </a:solidFill>
                <a:latin typeface="Arial"/>
                <a:ea typeface="Arial"/>
                <a:cs typeface="Arial"/>
              </a:defRPr>
            </a:pPr>
            <a:r>
              <a:rPr sz="1125" b="1" i="0">
                <a:solidFill>
                  <a:srgbClr val="1A1A1A"/>
                </a:solidFill>
                <a:latin typeface="Arial"/>
                <a:ea typeface="Arial"/>
                <a:cs typeface="Arial"/>
              </a:rPr>
              <a:t>Confidence intervals plus negative or null findings</a:t>
            </a:r>
          </a:p>
        </p:txBody>
      </p:sp>
      <p:sp>
        <p:nvSpPr>
          <p:cNvPr id="20" name="">
            <a:extLst xmlns:a="http://schemas.openxmlformats.org/drawingml/2006/main">
              <a:ext uri="{FF2B5EF4-FFF2-40B4-BE49-F238E27FC236}">
                <a16:creationId xmlns:a16="http://schemas.microsoft.com/office/drawing/2014/main" id="{4C69E756-B1F0-46E7-B339-6F9FC872058C}"/>
              </a:ext>
            </a:extLst>
          </p:cNvPr>
          <p:cNvSpPr>
            <a:spLocks xmlns:a="http://schemas.openxmlformats.org/drawingml/2006/main" noGrp="1"/>
          </p:cNvSpPr>
          <p:nvPr/>
        </p:nvSpPr>
        <p:spPr>
          <a:xfrm xmlns:a="http://schemas.openxmlformats.org/drawingml/2006/main">
            <a:off x="8382000" y="5648325"/>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173A5E"/>
                </a:solidFill>
                <a:latin typeface="Arial"/>
                <a:ea typeface="Arial"/>
                <a:cs typeface="Arial"/>
              </a:defRPr>
            </a:pPr>
            <a:r>
              <a:rPr sz="1200" b="1" i="0">
                <a:solidFill>
                  <a:srgbClr val="173A5E"/>
                </a:solidFill>
                <a:latin typeface="Arial"/>
                <a:ea typeface="Arial"/>
                <a:cs typeface="Arial"/>
              </a:rPr>
              <a:t>Profitability is not a success criterion.</a:t>
            </a:r>
          </a:p>
        </p:txBody>
      </p:sp>
    </p:spTree>
    <p:extLst>
      <p:ext uri="{BB962C8B-B14F-4D97-AF65-F5344CB8AC3E}">
        <p14:creationId xmlns:p14="http://schemas.microsoft.com/office/powerpoint/2010/main" val="664390818"/>
      </p:ext>
    </p:extLst>
  </p:cSld>
</p:sld>
</file>

<file path=ppt/slides/slide10.xml><?xml version="1.0" encoding="utf-8"?>
<p:sld xmlns:p="http://schemas.openxmlformats.org/presentationml/2006/main">
  <p:cSld>
    <p:bg>
      <p:bgPr>
        <a:solidFill xmlns:a="http://schemas.openxmlformats.org/drawingml/2006/main">
          <a:srgbClr val="F3EEE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174C766-1F1F-4DC8-84CB-2F19194A44EF}"/>
              </a:ext>
            </a:extLst>
          </p:cNvPr>
          <p:cNvSpPr>
            <a:spLocks xmlns:a="http://schemas.openxmlformats.org/drawingml/2006/main" noGrp="1"/>
          </p:cNvSpPr>
          <p:nvPr/>
        </p:nvSpPr>
        <p:spPr>
          <a:xfrm xmlns:a="http://schemas.openxmlformats.org/drawingml/2006/main">
            <a:off x="609600" y="4000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A33D2E"/>
                </a:solidFill>
                <a:latin typeface="Arial"/>
                <a:ea typeface="Arial"/>
                <a:cs typeface="Arial"/>
              </a:defRPr>
            </a:pPr>
            <a:r>
              <a:rPr sz="975" b="1" i="0">
                <a:solidFill>
                  <a:srgbClr val="A33D2E"/>
                </a:solidFill>
                <a:latin typeface="Arial"/>
                <a:ea typeface="Arial"/>
                <a:cs typeface="Arial"/>
              </a:rPr>
              <a:t>24-WEEK DELIVERY PLAN</a:t>
            </a:r>
          </a:p>
        </p:txBody>
      </p:sp>
      <p:sp>
        <p:nvSpPr>
          <p:cNvPr id="2" name="">
            <a:extLst xmlns:a="http://schemas.openxmlformats.org/drawingml/2006/main">
              <a:ext uri="{FF2B5EF4-FFF2-40B4-BE49-F238E27FC236}">
                <a16:creationId xmlns:a16="http://schemas.microsoft.com/office/drawing/2014/main" id="{60EF6911-0166-44DA-944E-59EF0140D888}"/>
              </a:ext>
            </a:extLst>
          </p:cNvPr>
          <p:cNvSpPr>
            <a:spLocks xmlns:a="http://schemas.openxmlformats.org/drawingml/2006/main" noGrp="1"/>
          </p:cNvSpPr>
          <p:nvPr/>
        </p:nvSpPr>
        <p:spPr>
          <a:xfrm xmlns:a="http://schemas.openxmlformats.org/drawingml/2006/main">
            <a:off x="609600" y="666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525" b="1" i="0">
                <a:solidFill>
                  <a:srgbClr val="1A1A1A"/>
                </a:solidFill>
                <a:latin typeface="Arial"/>
                <a:ea typeface="Arial"/>
                <a:cs typeface="Arial"/>
              </a:defRPr>
            </a:pPr>
            <a:r>
              <a:rPr sz="3525" b="1" i="0">
                <a:solidFill>
                  <a:srgbClr val="1A1A1A"/>
                </a:solidFill>
                <a:latin typeface="Arial"/>
                <a:ea typeface="Arial"/>
                <a:cs typeface="Arial"/>
              </a:rPr>
              <a:t>Feasibility comes first</a:t>
            </a:r>
          </a:p>
        </p:txBody>
      </p:sp>
      <p:sp>
        <p:nvSpPr>
          <p:cNvPr id="3" name="">
            <a:extLst xmlns:a="http://schemas.openxmlformats.org/drawingml/2006/main">
              <a:ext uri="{FF2B5EF4-FFF2-40B4-BE49-F238E27FC236}">
                <a16:creationId xmlns:a16="http://schemas.microsoft.com/office/drawing/2014/main" id="{B8B5FDBB-02A3-465D-9127-E0A67F533A8A}"/>
              </a:ext>
            </a:extLst>
          </p:cNvPr>
          <p:cNvSpPr>
            <a:spLocks xmlns:a="http://schemas.openxmlformats.org/drawingml/2006/main" noGrp="1"/>
          </p:cNvSpPr>
          <p:nvPr/>
        </p:nvSpPr>
        <p:spPr>
          <a:xfrm xmlns:a="http://schemas.openxmlformats.org/drawingml/2006/main">
            <a:off x="609600" y="142875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4" name="">
            <a:extLst xmlns:a="http://schemas.openxmlformats.org/drawingml/2006/main">
              <a:ext uri="{FF2B5EF4-FFF2-40B4-BE49-F238E27FC236}">
                <a16:creationId xmlns:a16="http://schemas.microsoft.com/office/drawing/2014/main" id="{72CABFC8-6DE4-4066-8EE3-F27EAB304299}"/>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EC8BE"/>
            </a:solidFill>
            <a:prstDash val="solid"/>
          </a:ln>
        </p:spPr>
      </p:sp>
      <p:sp>
        <p:nvSpPr>
          <p:cNvPr id="5" name="">
            <a:extLst xmlns:a="http://schemas.openxmlformats.org/drawingml/2006/main">
              <a:ext uri="{FF2B5EF4-FFF2-40B4-BE49-F238E27FC236}">
                <a16:creationId xmlns:a16="http://schemas.microsoft.com/office/drawing/2014/main" id="{25EB09CF-15F6-4C88-9073-D7EEA0F5F3F7}"/>
              </a:ext>
            </a:extLst>
          </p:cNvPr>
          <p:cNvSpPr>
            <a:spLocks xmlns:a="http://schemas.openxmlformats.org/drawingml/2006/main" noGrp="1"/>
          </p:cNvSpPr>
          <p:nvPr/>
        </p:nvSpPr>
        <p:spPr>
          <a:xfrm xmlns:a="http://schemas.openxmlformats.org/drawingml/2006/main">
            <a:off x="609600" y="6543675"/>
            <a:ext cx="666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i="0">
                <a:solidFill>
                  <a:srgbClr val="8E887F"/>
                </a:solidFill>
                <a:latin typeface="Arial"/>
                <a:ea typeface="Arial"/>
                <a:cs typeface="Arial"/>
              </a:defRPr>
            </a:pPr>
            <a:r>
              <a:rPr sz="750" b="1" i="0">
                <a:solidFill>
                  <a:srgbClr val="8E887F"/>
                </a:solidFill>
                <a:latin typeface="Arial"/>
                <a:ea typeface="Arial"/>
                <a:cs typeface="Arial"/>
              </a:rPr>
              <a:t>EVENTLENS   FINAL YEAR PROJECT PROPOSAL</a:t>
            </a:r>
          </a:p>
        </p:txBody>
      </p:sp>
      <p:sp>
        <p:nvSpPr>
          <p:cNvPr id="6" name="">
            <a:extLst xmlns:a="http://schemas.openxmlformats.org/drawingml/2006/main">
              <a:ext uri="{FF2B5EF4-FFF2-40B4-BE49-F238E27FC236}">
                <a16:creationId xmlns:a16="http://schemas.microsoft.com/office/drawing/2014/main" id="{C35FAD4D-5F78-4B85-B79F-4831340F1601}"/>
              </a:ext>
            </a:extLst>
          </p:cNvPr>
          <p:cNvSpPr>
            <a:spLocks xmlns:a="http://schemas.openxmlformats.org/drawingml/2006/main" noGrp="1"/>
          </p:cNvSpPr>
          <p:nvPr/>
        </p:nvSpPr>
        <p:spPr>
          <a:xfrm xmlns:a="http://schemas.openxmlformats.org/drawingml/2006/main">
            <a:off x="10287000" y="6543675"/>
            <a:ext cx="12954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i="0">
                <a:solidFill>
                  <a:srgbClr val="8E887F"/>
                </a:solidFill>
                <a:latin typeface="Arial"/>
                <a:ea typeface="Arial"/>
                <a:cs typeface="Arial"/>
              </a:defRPr>
            </a:pPr>
            <a:r>
              <a:rPr sz="750" b="1" i="0">
                <a:solidFill>
                  <a:srgbClr val="8E887F"/>
                </a:solidFill>
                <a:latin typeface="Arial"/>
                <a:ea typeface="Arial"/>
                <a:cs typeface="Arial"/>
              </a:rPr>
              <a:t>10 / 10</a:t>
            </a:r>
          </a:p>
        </p:txBody>
      </p:sp>
      <p:sp>
        <p:nvSpPr>
          <p:cNvPr id="7" name="">
            <a:extLst xmlns:a="http://schemas.openxmlformats.org/drawingml/2006/main">
              <a:ext uri="{FF2B5EF4-FFF2-40B4-BE49-F238E27FC236}">
                <a16:creationId xmlns:a16="http://schemas.microsoft.com/office/drawing/2014/main" id="{6FD133B8-3155-4417-B980-C94A2E859067}"/>
              </a:ext>
            </a:extLst>
          </p:cNvPr>
          <p:cNvSpPr>
            <a:spLocks xmlns:a="http://schemas.openxmlformats.org/drawingml/2006/main" noGrp="1"/>
          </p:cNvSpPr>
          <p:nvPr/>
        </p:nvSpPr>
        <p:spPr>
          <a:xfrm xmlns:a="http://schemas.openxmlformats.org/drawingml/2006/main">
            <a:off x="914400" y="3038475"/>
            <a:ext cx="10363200" cy="0"/>
          </a:xfrm>
          <a:prstGeom xmlns:a="http://schemas.openxmlformats.org/drawingml/2006/main" prst="line">
            <a:avLst/>
          </a:prstGeom>
          <a:noFill xmlns:a="http://schemas.openxmlformats.org/drawingml/2006/main"/>
          <a:ln xmlns:a="http://schemas.openxmlformats.org/drawingml/2006/main" w="38100">
            <a:solidFill>
              <a:srgbClr val="1A1A1A"/>
            </a:solidFill>
            <a:prstDash val="solid"/>
          </a:ln>
        </p:spPr>
      </p:sp>
      <p:sp>
        <p:nvSpPr>
          <p:cNvPr id="8" name="">
            <a:extLst xmlns:a="http://schemas.openxmlformats.org/drawingml/2006/main">
              <a:ext uri="{FF2B5EF4-FFF2-40B4-BE49-F238E27FC236}">
                <a16:creationId xmlns:a16="http://schemas.microsoft.com/office/drawing/2014/main" id="{BD61C89E-79F1-45B4-8F07-94ED656AB3A0}"/>
              </a:ext>
            </a:extLst>
          </p:cNvPr>
          <p:cNvSpPr>
            <a:spLocks xmlns:a="http://schemas.openxmlformats.org/drawingml/2006/main" noGrp="1"/>
          </p:cNvSpPr>
          <p:nvPr/>
        </p:nvSpPr>
        <p:spPr>
          <a:xfrm xmlns:a="http://schemas.openxmlformats.org/drawingml/2006/main">
            <a:off x="647700" y="23431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A33D2E"/>
                </a:solidFill>
                <a:latin typeface="Arial"/>
                <a:ea typeface="Arial"/>
                <a:cs typeface="Arial"/>
              </a:defRPr>
            </a:pPr>
            <a:r>
              <a:rPr sz="1125" b="1" i="0">
                <a:solidFill>
                  <a:srgbClr val="A33D2E"/>
                </a:solidFill>
                <a:latin typeface="Arial"/>
                <a:ea typeface="Arial"/>
                <a:cs typeface="Arial"/>
              </a:rPr>
              <a:t>W2</a:t>
            </a:r>
          </a:p>
        </p:txBody>
      </p:sp>
      <p:sp>
        <p:nvSpPr>
          <p:cNvPr id="9" name="">
            <a:extLst xmlns:a="http://schemas.openxmlformats.org/drawingml/2006/main">
              <a:ext uri="{FF2B5EF4-FFF2-40B4-BE49-F238E27FC236}">
                <a16:creationId xmlns:a16="http://schemas.microsoft.com/office/drawing/2014/main" id="{5B73DDC0-D93A-4A02-BF4B-F4E01B766248}"/>
              </a:ext>
            </a:extLst>
          </p:cNvPr>
          <p:cNvSpPr>
            <a:spLocks xmlns:a="http://schemas.openxmlformats.org/drawingml/2006/main" noGrp="1"/>
          </p:cNvSpPr>
          <p:nvPr/>
        </p:nvSpPr>
        <p:spPr>
          <a:xfrm xmlns:a="http://schemas.openxmlformats.org/drawingml/2006/main">
            <a:off x="1019175" y="2905125"/>
            <a:ext cx="247650" cy="247650"/>
          </a:xfrm>
          <a:prstGeom xmlns:a="http://schemas.openxmlformats.org/drawingml/2006/main" prst="ellipse">
            <a:avLst/>
          </a:prstGeom>
          <a:solidFill xmlns:a="http://schemas.openxmlformats.org/drawingml/2006/main">
            <a:srgbClr val="F3EEE5"/>
          </a:solidFill>
          <a:ln xmlns:a="http://schemas.openxmlformats.org/drawingml/2006/main" w="28575">
            <a:solidFill>
              <a:srgbClr val="1A1A1A"/>
            </a:solidFill>
            <a:prstDash val="solid"/>
          </a:ln>
        </p:spPr>
      </p:sp>
      <p:sp>
        <p:nvSpPr>
          <p:cNvPr id="10" name="">
            <a:extLst xmlns:a="http://schemas.openxmlformats.org/drawingml/2006/main">
              <a:ext uri="{FF2B5EF4-FFF2-40B4-BE49-F238E27FC236}">
                <a16:creationId xmlns:a16="http://schemas.microsoft.com/office/drawing/2014/main" id="{EF1D2EAC-06F5-4862-9DD7-D1C05DB12A1B}"/>
              </a:ext>
            </a:extLst>
          </p:cNvPr>
          <p:cNvSpPr>
            <a:spLocks xmlns:a="http://schemas.openxmlformats.org/drawingml/2006/main" noGrp="1"/>
          </p:cNvSpPr>
          <p:nvPr/>
        </p:nvSpPr>
        <p:spPr>
          <a:xfrm xmlns:a="http://schemas.openxmlformats.org/drawingml/2006/main">
            <a:off x="438150" y="339090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Access and</a:t>
            </a:r>
          </a:p>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scope decision</a:t>
            </a:r>
          </a:p>
        </p:txBody>
      </p:sp>
      <p:sp>
        <p:nvSpPr>
          <p:cNvPr id="11" name="">
            <a:extLst xmlns:a="http://schemas.openxmlformats.org/drawingml/2006/main">
              <a:ext uri="{FF2B5EF4-FFF2-40B4-BE49-F238E27FC236}">
                <a16:creationId xmlns:a16="http://schemas.microsoft.com/office/drawing/2014/main" id="{39068A0C-E93F-4D07-BEAD-037711C8187B}"/>
              </a:ext>
            </a:extLst>
          </p:cNvPr>
          <p:cNvSpPr>
            <a:spLocks xmlns:a="http://schemas.openxmlformats.org/drawingml/2006/main" noGrp="1"/>
          </p:cNvSpPr>
          <p:nvPr/>
        </p:nvSpPr>
        <p:spPr>
          <a:xfrm xmlns:a="http://schemas.openxmlformats.org/drawingml/2006/main">
            <a:off x="2781300" y="23431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A33D2E"/>
                </a:solidFill>
                <a:latin typeface="Arial"/>
                <a:ea typeface="Arial"/>
                <a:cs typeface="Arial"/>
              </a:defRPr>
            </a:pPr>
            <a:r>
              <a:rPr sz="1125" b="1" i="0">
                <a:solidFill>
                  <a:srgbClr val="A33D2E"/>
                </a:solidFill>
                <a:latin typeface="Arial"/>
                <a:ea typeface="Arial"/>
                <a:cs typeface="Arial"/>
              </a:rPr>
              <a:t>W7</a:t>
            </a:r>
          </a:p>
        </p:txBody>
      </p:sp>
      <p:sp>
        <p:nvSpPr>
          <p:cNvPr id="12" name="">
            <a:extLst xmlns:a="http://schemas.openxmlformats.org/drawingml/2006/main">
              <a:ext uri="{FF2B5EF4-FFF2-40B4-BE49-F238E27FC236}">
                <a16:creationId xmlns:a16="http://schemas.microsoft.com/office/drawing/2014/main" id="{8378CF6F-8FFD-44C9-89C0-C9849E544108}"/>
              </a:ext>
            </a:extLst>
          </p:cNvPr>
          <p:cNvSpPr>
            <a:spLocks xmlns:a="http://schemas.openxmlformats.org/drawingml/2006/main" noGrp="1"/>
          </p:cNvSpPr>
          <p:nvPr/>
        </p:nvSpPr>
        <p:spPr>
          <a:xfrm xmlns:a="http://schemas.openxmlformats.org/drawingml/2006/main">
            <a:off x="3152775" y="2905125"/>
            <a:ext cx="247650" cy="247650"/>
          </a:xfrm>
          <a:prstGeom xmlns:a="http://schemas.openxmlformats.org/drawingml/2006/main" prst="ellipse">
            <a:avLst/>
          </a:prstGeom>
          <a:solidFill xmlns:a="http://schemas.openxmlformats.org/drawingml/2006/main">
            <a:srgbClr val="F3EEE5"/>
          </a:solidFill>
          <a:ln xmlns:a="http://schemas.openxmlformats.org/drawingml/2006/main" w="28575">
            <a:solidFill>
              <a:srgbClr val="1A1A1A"/>
            </a:solidFill>
            <a:prstDash val="solid"/>
          </a:ln>
        </p:spPr>
      </p:sp>
      <p:sp>
        <p:nvSpPr>
          <p:cNvPr id="13" name="">
            <a:extLst xmlns:a="http://schemas.openxmlformats.org/drawingml/2006/main">
              <a:ext uri="{FF2B5EF4-FFF2-40B4-BE49-F238E27FC236}">
                <a16:creationId xmlns:a16="http://schemas.microsoft.com/office/drawing/2014/main" id="{5D3F2C59-567A-4527-BCF4-97D6B4F98824}"/>
              </a:ext>
            </a:extLst>
          </p:cNvPr>
          <p:cNvSpPr>
            <a:spLocks xmlns:a="http://schemas.openxmlformats.org/drawingml/2006/main" noGrp="1"/>
          </p:cNvSpPr>
          <p:nvPr/>
        </p:nvSpPr>
        <p:spPr>
          <a:xfrm xmlns:a="http://schemas.openxmlformats.org/drawingml/2006/main">
            <a:off x="2571750" y="339090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Versioned</a:t>
            </a:r>
          </a:p>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dataset</a:t>
            </a:r>
          </a:p>
        </p:txBody>
      </p:sp>
      <p:sp>
        <p:nvSpPr>
          <p:cNvPr id="14" name="">
            <a:extLst xmlns:a="http://schemas.openxmlformats.org/drawingml/2006/main">
              <a:ext uri="{FF2B5EF4-FFF2-40B4-BE49-F238E27FC236}">
                <a16:creationId xmlns:a16="http://schemas.microsoft.com/office/drawing/2014/main" id="{C8AA494B-A38D-4352-B30F-3A3FBD568C6D}"/>
              </a:ext>
            </a:extLst>
          </p:cNvPr>
          <p:cNvSpPr>
            <a:spLocks xmlns:a="http://schemas.openxmlformats.org/drawingml/2006/main" noGrp="1"/>
          </p:cNvSpPr>
          <p:nvPr/>
        </p:nvSpPr>
        <p:spPr>
          <a:xfrm xmlns:a="http://schemas.openxmlformats.org/drawingml/2006/main">
            <a:off x="4924425" y="23431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A33D2E"/>
                </a:solidFill>
                <a:latin typeface="Arial"/>
                <a:ea typeface="Arial"/>
                <a:cs typeface="Arial"/>
              </a:defRPr>
            </a:pPr>
            <a:r>
              <a:rPr sz="1125" b="1" i="0">
                <a:solidFill>
                  <a:srgbClr val="A33D2E"/>
                </a:solidFill>
                <a:latin typeface="Arial"/>
                <a:ea typeface="Arial"/>
                <a:cs typeface="Arial"/>
              </a:rPr>
              <a:t>W12</a:t>
            </a:r>
          </a:p>
        </p:txBody>
      </p:sp>
      <p:sp>
        <p:nvSpPr>
          <p:cNvPr id="15" name="">
            <a:extLst xmlns:a="http://schemas.openxmlformats.org/drawingml/2006/main">
              <a:ext uri="{FF2B5EF4-FFF2-40B4-BE49-F238E27FC236}">
                <a16:creationId xmlns:a16="http://schemas.microsoft.com/office/drawing/2014/main" id="{CC0528B9-AE0B-4DB1-9009-C1BCE6063CC1}"/>
              </a:ext>
            </a:extLst>
          </p:cNvPr>
          <p:cNvSpPr>
            <a:spLocks xmlns:a="http://schemas.openxmlformats.org/drawingml/2006/main" noGrp="1"/>
          </p:cNvSpPr>
          <p:nvPr/>
        </p:nvSpPr>
        <p:spPr>
          <a:xfrm xmlns:a="http://schemas.openxmlformats.org/drawingml/2006/main">
            <a:off x="5295900" y="2905125"/>
            <a:ext cx="247650" cy="247650"/>
          </a:xfrm>
          <a:prstGeom xmlns:a="http://schemas.openxmlformats.org/drawingml/2006/main" prst="ellipse">
            <a:avLst/>
          </a:prstGeom>
          <a:solidFill xmlns:a="http://schemas.openxmlformats.org/drawingml/2006/main">
            <a:srgbClr val="F3EEE5"/>
          </a:solidFill>
          <a:ln xmlns:a="http://schemas.openxmlformats.org/drawingml/2006/main" w="28575">
            <a:solidFill>
              <a:srgbClr val="1A1A1A"/>
            </a:solidFill>
            <a:prstDash val="solid"/>
          </a:ln>
        </p:spPr>
      </p:sp>
      <p:sp>
        <p:nvSpPr>
          <p:cNvPr id="16" name="">
            <a:extLst xmlns:a="http://schemas.openxmlformats.org/drawingml/2006/main">
              <a:ext uri="{FF2B5EF4-FFF2-40B4-BE49-F238E27FC236}">
                <a16:creationId xmlns:a16="http://schemas.microsoft.com/office/drawing/2014/main" id="{070FEAB0-BA28-492D-8D75-29D6423F055B}"/>
              </a:ext>
            </a:extLst>
          </p:cNvPr>
          <p:cNvSpPr>
            <a:spLocks xmlns:a="http://schemas.openxmlformats.org/drawingml/2006/main" noGrp="1"/>
          </p:cNvSpPr>
          <p:nvPr/>
        </p:nvSpPr>
        <p:spPr>
          <a:xfrm xmlns:a="http://schemas.openxmlformats.org/drawingml/2006/main">
            <a:off x="4714875" y="339090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Probability</a:t>
            </a:r>
          </a:p>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comparison</a:t>
            </a:r>
          </a:p>
        </p:txBody>
      </p:sp>
      <p:sp>
        <p:nvSpPr>
          <p:cNvPr id="17" name="">
            <a:extLst xmlns:a="http://schemas.openxmlformats.org/drawingml/2006/main">
              <a:ext uri="{FF2B5EF4-FFF2-40B4-BE49-F238E27FC236}">
                <a16:creationId xmlns:a16="http://schemas.microsoft.com/office/drawing/2014/main" id="{41F6B538-B1B3-4A96-B4DC-97A9C4F033F4}"/>
              </a:ext>
            </a:extLst>
          </p:cNvPr>
          <p:cNvSpPr>
            <a:spLocks xmlns:a="http://schemas.openxmlformats.org/drawingml/2006/main" noGrp="1"/>
          </p:cNvSpPr>
          <p:nvPr/>
        </p:nvSpPr>
        <p:spPr>
          <a:xfrm xmlns:a="http://schemas.openxmlformats.org/drawingml/2006/main">
            <a:off x="7067550" y="23431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A33D2E"/>
                </a:solidFill>
                <a:latin typeface="Arial"/>
                <a:ea typeface="Arial"/>
                <a:cs typeface="Arial"/>
              </a:defRPr>
            </a:pPr>
            <a:r>
              <a:rPr sz="1125" b="1" i="0">
                <a:solidFill>
                  <a:srgbClr val="A33D2E"/>
                </a:solidFill>
                <a:latin typeface="Arial"/>
                <a:ea typeface="Arial"/>
                <a:cs typeface="Arial"/>
              </a:rPr>
              <a:t>W18</a:t>
            </a:r>
          </a:p>
        </p:txBody>
      </p:sp>
      <p:sp>
        <p:nvSpPr>
          <p:cNvPr id="18" name="">
            <a:extLst xmlns:a="http://schemas.openxmlformats.org/drawingml/2006/main">
              <a:ext uri="{FF2B5EF4-FFF2-40B4-BE49-F238E27FC236}">
                <a16:creationId xmlns:a16="http://schemas.microsoft.com/office/drawing/2014/main" id="{B096E35F-EE4B-44AD-83EE-71F2F3C005B3}"/>
              </a:ext>
            </a:extLst>
          </p:cNvPr>
          <p:cNvSpPr>
            <a:spLocks xmlns:a="http://schemas.openxmlformats.org/drawingml/2006/main" noGrp="1"/>
          </p:cNvSpPr>
          <p:nvPr/>
        </p:nvSpPr>
        <p:spPr>
          <a:xfrm xmlns:a="http://schemas.openxmlformats.org/drawingml/2006/main">
            <a:off x="7439025" y="2905125"/>
            <a:ext cx="247650" cy="247650"/>
          </a:xfrm>
          <a:prstGeom xmlns:a="http://schemas.openxmlformats.org/drawingml/2006/main" prst="ellipse">
            <a:avLst/>
          </a:prstGeom>
          <a:solidFill xmlns:a="http://schemas.openxmlformats.org/drawingml/2006/main">
            <a:srgbClr val="F3EEE5"/>
          </a:solidFill>
          <a:ln xmlns:a="http://schemas.openxmlformats.org/drawingml/2006/main" w="28575">
            <a:solidFill>
              <a:srgbClr val="1A1A1A"/>
            </a:solidFill>
            <a:prstDash val="solid"/>
          </a:ln>
        </p:spPr>
      </p:sp>
      <p:sp>
        <p:nvSpPr>
          <p:cNvPr id="19" name="">
            <a:extLst xmlns:a="http://schemas.openxmlformats.org/drawingml/2006/main">
              <a:ext uri="{FF2B5EF4-FFF2-40B4-BE49-F238E27FC236}">
                <a16:creationId xmlns:a16="http://schemas.microsoft.com/office/drawing/2014/main" id="{68B7935D-266D-43AC-B71F-7C66701E3F51}"/>
              </a:ext>
            </a:extLst>
          </p:cNvPr>
          <p:cNvSpPr>
            <a:spLocks xmlns:a="http://schemas.openxmlformats.org/drawingml/2006/main" noGrp="1"/>
          </p:cNvSpPr>
          <p:nvPr/>
        </p:nvSpPr>
        <p:spPr>
          <a:xfrm xmlns:a="http://schemas.openxmlformats.org/drawingml/2006/main">
            <a:off x="6858000" y="339090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Scenario</a:t>
            </a:r>
          </a:p>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engine</a:t>
            </a:r>
          </a:p>
        </p:txBody>
      </p:sp>
      <p:sp>
        <p:nvSpPr>
          <p:cNvPr id="20" name="">
            <a:extLst xmlns:a="http://schemas.openxmlformats.org/drawingml/2006/main">
              <a:ext uri="{FF2B5EF4-FFF2-40B4-BE49-F238E27FC236}">
                <a16:creationId xmlns:a16="http://schemas.microsoft.com/office/drawing/2014/main" id="{D7D1FE13-77E6-4DE2-BB73-61B3CE7673BE}"/>
              </a:ext>
            </a:extLst>
          </p:cNvPr>
          <p:cNvSpPr>
            <a:spLocks xmlns:a="http://schemas.openxmlformats.org/drawingml/2006/main" noGrp="1"/>
          </p:cNvSpPr>
          <p:nvPr/>
        </p:nvSpPr>
        <p:spPr>
          <a:xfrm xmlns:a="http://schemas.openxmlformats.org/drawingml/2006/main">
            <a:off x="9163050" y="23431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A33D2E"/>
                </a:solidFill>
                <a:latin typeface="Arial"/>
                <a:ea typeface="Arial"/>
                <a:cs typeface="Arial"/>
              </a:defRPr>
            </a:pPr>
            <a:r>
              <a:rPr sz="1125" b="1" i="0">
                <a:solidFill>
                  <a:srgbClr val="A33D2E"/>
                </a:solidFill>
                <a:latin typeface="Arial"/>
                <a:ea typeface="Arial"/>
                <a:cs typeface="Arial"/>
              </a:rPr>
              <a:t>W22</a:t>
            </a:r>
          </a:p>
        </p:txBody>
      </p:sp>
      <p:sp>
        <p:nvSpPr>
          <p:cNvPr id="21" name="">
            <a:extLst xmlns:a="http://schemas.openxmlformats.org/drawingml/2006/main">
              <a:ext uri="{FF2B5EF4-FFF2-40B4-BE49-F238E27FC236}">
                <a16:creationId xmlns:a16="http://schemas.microsoft.com/office/drawing/2014/main" id="{7FFDE48A-9898-461B-B565-84EBD51E0F22}"/>
              </a:ext>
            </a:extLst>
          </p:cNvPr>
          <p:cNvSpPr>
            <a:spLocks xmlns:a="http://schemas.openxmlformats.org/drawingml/2006/main" noGrp="1"/>
          </p:cNvSpPr>
          <p:nvPr/>
        </p:nvSpPr>
        <p:spPr>
          <a:xfrm xmlns:a="http://schemas.openxmlformats.org/drawingml/2006/main">
            <a:off x="9534525" y="2905125"/>
            <a:ext cx="247650" cy="247650"/>
          </a:xfrm>
          <a:prstGeom xmlns:a="http://schemas.openxmlformats.org/drawingml/2006/main" prst="ellipse">
            <a:avLst/>
          </a:prstGeom>
          <a:solidFill xmlns:a="http://schemas.openxmlformats.org/drawingml/2006/main">
            <a:srgbClr val="F3EEE5"/>
          </a:solidFill>
          <a:ln xmlns:a="http://schemas.openxmlformats.org/drawingml/2006/main" w="28575">
            <a:solidFill>
              <a:srgbClr val="1A1A1A"/>
            </a:solidFill>
            <a:prstDash val="solid"/>
          </a:ln>
        </p:spPr>
      </p:sp>
      <p:sp>
        <p:nvSpPr>
          <p:cNvPr id="22" name="">
            <a:extLst xmlns:a="http://schemas.openxmlformats.org/drawingml/2006/main">
              <a:ext uri="{FF2B5EF4-FFF2-40B4-BE49-F238E27FC236}">
                <a16:creationId xmlns:a16="http://schemas.microsoft.com/office/drawing/2014/main" id="{11CC3084-921F-4688-9A6F-06DD15153300}"/>
              </a:ext>
            </a:extLst>
          </p:cNvPr>
          <p:cNvSpPr>
            <a:spLocks xmlns:a="http://schemas.openxmlformats.org/drawingml/2006/main" noGrp="1"/>
          </p:cNvSpPr>
          <p:nvPr/>
        </p:nvSpPr>
        <p:spPr>
          <a:xfrm xmlns:a="http://schemas.openxmlformats.org/drawingml/2006/main">
            <a:off x="8953500" y="339090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Integrated</a:t>
            </a:r>
          </a:p>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evaluation</a:t>
            </a:r>
          </a:p>
        </p:txBody>
      </p:sp>
      <p:sp>
        <p:nvSpPr>
          <p:cNvPr id="23" name="">
            <a:extLst xmlns:a="http://schemas.openxmlformats.org/drawingml/2006/main">
              <a:ext uri="{FF2B5EF4-FFF2-40B4-BE49-F238E27FC236}">
                <a16:creationId xmlns:a16="http://schemas.microsoft.com/office/drawing/2014/main" id="{1D6F7280-287B-4095-BFAD-EA1ECFACDF82}"/>
              </a:ext>
            </a:extLst>
          </p:cNvPr>
          <p:cNvSpPr>
            <a:spLocks xmlns:a="http://schemas.openxmlformats.org/drawingml/2006/main" noGrp="1"/>
          </p:cNvSpPr>
          <p:nvPr/>
        </p:nvSpPr>
        <p:spPr>
          <a:xfrm xmlns:a="http://schemas.openxmlformats.org/drawingml/2006/main">
            <a:off x="10763250" y="23431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i="0">
                <a:solidFill>
                  <a:srgbClr val="A33D2E"/>
                </a:solidFill>
                <a:latin typeface="Arial"/>
                <a:ea typeface="Arial"/>
                <a:cs typeface="Arial"/>
              </a:defRPr>
            </a:pPr>
            <a:r>
              <a:rPr sz="1125" b="1" i="0">
                <a:solidFill>
                  <a:srgbClr val="A33D2E"/>
                </a:solidFill>
                <a:latin typeface="Arial"/>
                <a:ea typeface="Arial"/>
                <a:cs typeface="Arial"/>
              </a:rPr>
              <a:t>W24</a:t>
            </a:r>
          </a:p>
        </p:txBody>
      </p:sp>
      <p:sp>
        <p:nvSpPr>
          <p:cNvPr id="24" name="">
            <a:extLst xmlns:a="http://schemas.openxmlformats.org/drawingml/2006/main">
              <a:ext uri="{FF2B5EF4-FFF2-40B4-BE49-F238E27FC236}">
                <a16:creationId xmlns:a16="http://schemas.microsoft.com/office/drawing/2014/main" id="{68AEFA8F-BF17-47D1-BB71-EDA93FF57A82}"/>
              </a:ext>
            </a:extLst>
          </p:cNvPr>
          <p:cNvSpPr>
            <a:spLocks xmlns:a="http://schemas.openxmlformats.org/drawingml/2006/main" noGrp="1"/>
          </p:cNvSpPr>
          <p:nvPr/>
        </p:nvSpPr>
        <p:spPr>
          <a:xfrm xmlns:a="http://schemas.openxmlformats.org/drawingml/2006/main">
            <a:off x="11134725" y="2905125"/>
            <a:ext cx="247650" cy="247650"/>
          </a:xfrm>
          <a:prstGeom xmlns:a="http://schemas.openxmlformats.org/drawingml/2006/main" prst="ellipse">
            <a:avLst/>
          </a:prstGeom>
          <a:solidFill xmlns:a="http://schemas.openxmlformats.org/drawingml/2006/main">
            <a:srgbClr val="A33D2E"/>
          </a:solidFill>
          <a:ln xmlns:a="http://schemas.openxmlformats.org/drawingml/2006/main" w="28575">
            <a:solidFill>
              <a:srgbClr val="A33D2E"/>
            </a:solidFill>
            <a:prstDash val="solid"/>
          </a:ln>
        </p:spPr>
      </p:sp>
      <p:sp>
        <p:nvSpPr>
          <p:cNvPr id="25" name="">
            <a:extLst xmlns:a="http://schemas.openxmlformats.org/drawingml/2006/main">
              <a:ext uri="{FF2B5EF4-FFF2-40B4-BE49-F238E27FC236}">
                <a16:creationId xmlns:a16="http://schemas.microsoft.com/office/drawing/2014/main" id="{A019BEDF-A88D-46A1-BC1A-CE24E3CADD6B}"/>
              </a:ext>
            </a:extLst>
          </p:cNvPr>
          <p:cNvSpPr>
            <a:spLocks xmlns:a="http://schemas.openxmlformats.org/drawingml/2006/main" noGrp="1"/>
          </p:cNvSpPr>
          <p:nvPr/>
        </p:nvSpPr>
        <p:spPr>
          <a:xfrm xmlns:a="http://schemas.openxmlformats.org/drawingml/2006/main">
            <a:off x="10553700" y="339090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Report and</a:t>
            </a:r>
          </a:p>
          <a:p xmlns:a="http://schemas.openxmlformats.org/drawingml/2006/main">
            <a:pPr algn="ctr">
              <a:defRPr sz="1200" b="1" i="0">
                <a:solidFill>
                  <a:srgbClr val="1A1A1A"/>
                </a:solidFill>
                <a:latin typeface="Arial"/>
                <a:ea typeface="Arial"/>
                <a:cs typeface="Arial"/>
              </a:defRPr>
            </a:pPr>
            <a:r>
              <a:rPr sz="1200" b="1" i="0">
                <a:solidFill>
                  <a:srgbClr val="1A1A1A"/>
                </a:solidFill>
                <a:latin typeface="Arial"/>
                <a:ea typeface="Arial"/>
                <a:cs typeface="Arial"/>
              </a:rPr>
              <a:t>demonstration</a:t>
            </a:r>
          </a:p>
        </p:txBody>
      </p:sp>
      <p:sp>
        <p:nvSpPr>
          <p:cNvPr id="26" name="">
            <a:extLst xmlns:a="http://schemas.openxmlformats.org/drawingml/2006/main">
              <a:ext uri="{FF2B5EF4-FFF2-40B4-BE49-F238E27FC236}">
                <a16:creationId xmlns:a16="http://schemas.microsoft.com/office/drawing/2014/main" id="{6123F76C-8B1B-464B-B152-8D6DE974B033}"/>
              </a:ext>
            </a:extLst>
          </p:cNvPr>
          <p:cNvSpPr>
            <a:spLocks xmlns:a="http://schemas.openxmlformats.org/drawingml/2006/main" noGrp="1"/>
          </p:cNvSpPr>
          <p:nvPr/>
        </p:nvSpPr>
        <p:spPr>
          <a:xfrm xmlns:a="http://schemas.openxmlformats.org/drawingml/2006/main">
            <a:off x="609600" y="4505325"/>
            <a:ext cx="10972800" cy="0"/>
          </a:xfrm>
          <a:prstGeom xmlns:a="http://schemas.openxmlformats.org/drawingml/2006/main" prst="line">
            <a:avLst/>
          </a:prstGeom>
          <a:noFill xmlns:a="http://schemas.openxmlformats.org/drawingml/2006/main"/>
          <a:ln xmlns:a="http://schemas.openxmlformats.org/drawingml/2006/main" w="23813">
            <a:solidFill>
              <a:srgbClr val="A33D2E"/>
            </a:solidFill>
            <a:prstDash val="solid"/>
          </a:ln>
        </p:spPr>
      </p:sp>
      <p:sp>
        <p:nvSpPr>
          <p:cNvPr id="27" name="">
            <a:extLst xmlns:a="http://schemas.openxmlformats.org/drawingml/2006/main">
              <a:ext uri="{FF2B5EF4-FFF2-40B4-BE49-F238E27FC236}">
                <a16:creationId xmlns:a16="http://schemas.microsoft.com/office/drawing/2014/main" id="{5AE41ACF-83BE-4537-8DB7-111AD1B49F72}"/>
              </a:ext>
            </a:extLst>
          </p:cNvPr>
          <p:cNvSpPr>
            <a:spLocks xmlns:a="http://schemas.openxmlformats.org/drawingml/2006/main" noGrp="1"/>
          </p:cNvSpPr>
          <p:nvPr/>
        </p:nvSpPr>
        <p:spPr>
          <a:xfrm xmlns:a="http://schemas.openxmlformats.org/drawingml/2006/main">
            <a:off x="609600" y="469582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i="0">
                <a:solidFill>
                  <a:srgbClr val="A33D2E"/>
                </a:solidFill>
                <a:latin typeface="Arial"/>
                <a:ea typeface="Arial"/>
                <a:cs typeface="Arial"/>
              </a:defRPr>
            </a:pPr>
            <a:r>
              <a:rPr sz="825" b="1" i="0">
                <a:solidFill>
                  <a:srgbClr val="A33D2E"/>
                </a:solidFill>
                <a:latin typeface="Arial"/>
                <a:ea typeface="Arial"/>
                <a:cs typeface="Arial"/>
              </a:rPr>
              <a:t>PROPOSED CONTRIBUTION</a:t>
            </a:r>
          </a:p>
        </p:txBody>
      </p:sp>
      <p:sp>
        <p:nvSpPr>
          <p:cNvPr id="28" name="">
            <a:extLst xmlns:a="http://schemas.openxmlformats.org/drawingml/2006/main">
              <a:ext uri="{FF2B5EF4-FFF2-40B4-BE49-F238E27FC236}">
                <a16:creationId xmlns:a16="http://schemas.microsoft.com/office/drawing/2014/main" id="{833C35B8-D253-4FD5-8F1C-2644FE482CDB}"/>
              </a:ext>
            </a:extLst>
          </p:cNvPr>
          <p:cNvSpPr>
            <a:spLocks xmlns:a="http://schemas.openxmlformats.org/drawingml/2006/main" noGrp="1"/>
          </p:cNvSpPr>
          <p:nvPr/>
        </p:nvSpPr>
        <p:spPr>
          <a:xfrm xmlns:a="http://schemas.openxmlformats.org/drawingml/2006/main">
            <a:off x="2876550" y="4629150"/>
            <a:ext cx="8705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i="0">
                <a:solidFill>
                  <a:srgbClr val="1A1A1A"/>
                </a:solidFill>
                <a:latin typeface="Arial"/>
                <a:ea typeface="Arial"/>
                <a:cs typeface="Arial"/>
              </a:defRPr>
            </a:pPr>
            <a:r>
              <a:rPr sz="2325" b="1" i="0">
                <a:solidFill>
                  <a:srgbClr val="1A1A1A"/>
                </a:solidFill>
                <a:latin typeface="Arial"/>
                <a:ea typeface="Arial"/>
                <a:cs typeface="Arial"/>
              </a:rPr>
              <a:t>A controlled, evidence-linked test of whether prediction markets improve event-driven risk research.</a:t>
            </a:r>
          </a:p>
        </p:txBody>
      </p:sp>
      <p:sp>
        <p:nvSpPr>
          <p:cNvPr id="29" name="">
            <a:extLst xmlns:a="http://schemas.openxmlformats.org/drawingml/2006/main">
              <a:ext uri="{FF2B5EF4-FFF2-40B4-BE49-F238E27FC236}">
                <a16:creationId xmlns:a16="http://schemas.microsoft.com/office/drawing/2014/main" id="{529F2A80-020E-408F-B51D-51440BC7D55C}"/>
              </a:ext>
            </a:extLst>
          </p:cNvPr>
          <p:cNvSpPr>
            <a:spLocks xmlns:a="http://schemas.openxmlformats.org/drawingml/2006/main" noGrp="1"/>
          </p:cNvSpPr>
          <p:nvPr/>
        </p:nvSpPr>
        <p:spPr>
          <a:xfrm xmlns:a="http://schemas.openxmlformats.org/drawingml/2006/main">
            <a:off x="609600" y="59531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i="0">
                <a:solidFill>
                  <a:srgbClr val="555555"/>
                </a:solidFill>
                <a:latin typeface="Arial"/>
                <a:ea typeface="Arial"/>
                <a:cs typeface="Arial"/>
              </a:defRPr>
            </a:pPr>
            <a:r>
              <a:rPr sz="1125" b="1" i="0">
                <a:solidFill>
                  <a:srgbClr val="555555"/>
                </a:solidFill>
                <a:latin typeface="Arial"/>
                <a:ea typeface="Arial"/>
                <a:cs typeface="Arial"/>
              </a:rPr>
              <a:t>Franklin    Anthony    Owen    Sunny</a:t>
            </a:r>
          </a:p>
        </p:txBody>
      </p:sp>
    </p:spTree>
    <p:extLst>
      <p:ext uri="{BB962C8B-B14F-4D97-AF65-F5344CB8AC3E}">
        <p14:creationId xmlns:p14="http://schemas.microsoft.com/office/powerpoint/2010/main" val="605796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2026-09-09T12:48:20.9850000Z</dcterms:created>
  <dcterms:modified xsi:type="dcterms:W3CDTF">2026-09-09T12:48:20.9850000Z</dcterms:modified>
</coreProperties>
</file>